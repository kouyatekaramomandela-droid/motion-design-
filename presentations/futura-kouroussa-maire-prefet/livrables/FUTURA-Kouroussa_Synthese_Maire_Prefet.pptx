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roundedCorners val="0"/>
  <c:date1904 val="0"/>
  <c:chart>
    <c:autoTitleDeleted val="1"/>
    <c:plotArea>
      <c:layout>
        <c:manualLayout>
          <c:layoutTarget val="inner"/>
          <c:xMode val="edge"/>
          <c:yMode val="edge"/>
          <c:x val="0.0000"/>
          <c:y val="0.0000"/>
          <c:w val="1.0000"/>
          <c:h val="1.0000"/>
        </c:manualLayout>
      </c:layout>
      <c:barChart>
        <c:barDir val="bar"/>
        <c:grouping val="clustered"/>
        <c:varyColors val="0"/>
        <c:ser>
          <c:idx val="0"/>
          <c:order val="0"/>
          <c:tx>
            <c:strRef>
              <c:f>Sheet1!$B$1</c:f>
              <c:strCache>
                <c:ptCount val="1"/>
                <c:pt idx="0">
                  <c:v>Valeurs</c:v>
                </c:pt>
              </c:strCache>
            </c:strRef>
          </c:tx>
          <c:invertIfNegative val="0"/>
          <c:dPt>
            <c:idx val="0"/>
            <c:spPr>
              <a:solidFill>
                <a:srgbClr val="D3A04D"/>
              </a:solidFill>
              <a:ln>
                <a:noFill/>
              </a:ln>
            </c:spPr>
          </c:dPt>
          <c:dPt>
            <c:idx val="1"/>
            <c:spPr>
              <a:solidFill>
                <a:srgbClr val="1E7B67"/>
              </a:solidFill>
              <a:ln>
                <a:noFill/>
              </a:ln>
            </c:spPr>
          </c:dPt>
          <c:dPt>
            <c:idx val="2"/>
            <c:spPr>
              <a:solidFill>
                <a:srgbClr val="A9553E"/>
              </a:solidFill>
              <a:ln>
                <a:noFill/>
              </a:ln>
            </c:spPr>
          </c:dPt>
          <c:cat>
            <c:strRef>
              <c:f>Sheet1!$A$2:$A$4</c:f>
              <c:strCache>
                <c:ptCount val="3"/>
                <c:pt idx="0">
                  <c:v>Kouroussa Gold Mine</c:v>
                </c:pt>
                <c:pt idx="1">
                  <c:v>Kiniero</c:v>
                </c:pt>
                <c:pt idx="2">
                  <c:v>Bankan</c:v>
                </c:pt>
              </c:strCache>
            </c:strRef>
          </c:cat>
          <c:val>
            <c:numRef>
              <c:f>Sheet1!$B$2:$B$4</c:f>
              <c:numCache>
                <c:formatCode>0.0</c:formatCode>
                <c:ptCount val="3"/>
                <c:pt idx="0">
                  <c:v>528</c:v>
                </c:pt>
                <c:pt idx="1">
                  <c:v>721.6</c:v>
                </c:pt>
                <c:pt idx="2">
                  <c:v>1142</c:v>
                </c:pt>
              </c:numCache>
            </c:numRef>
          </c:val>
        </c:ser>
        <c:gapWidth val="250"/>
        <c:axId val="-2068027336"/>
        <c:axId val="-2113994440"/>
      </c:barChart>
      <c:catAx>
        <c:axId val="-2068027336"/>
        <c:scaling>
          <c:orientation val="maxMin"/>
        </c:scaling>
        <c:delete/>
        <c:axPos val="l"/>
        <c:majorTickMark val="none"/>
        <c:minorTickMark val="none"/>
        <c:tickLblPos val="nextTo"/>
        <c:crossAx val="-2113994440"/>
        <c:crosses val="autoZero"/>
        <c:auto val="1"/>
        <c:lblAlgn val="ctr"/>
        <c:lblOffset val="100"/>
        <c:noMultiLvlLbl val="0"/>
      </c:catAx>
      <c:valAx>
        <c:axId val="-2113994440"/>
        <c:scaling>
          <c:max val="2388.300205700852"/>
          <c:min val="0.0"/>
        </c:scaling>
        <c:delete/>
        <c:axPos val="b"/>
        <c:majorTickMark val="out"/>
        <c:minorTickMark val="none"/>
        <c:tickLblPos val="nextTo"/>
        <c:crossAx val="-2068027336"/>
        <c:crosses val="autoZero"/>
      </c:valAx>
      <c:spPr>
        <a:noFill/>
        <a:ln>
          <a:noFill/>
        </a:ln>
      </c:spPr>
    </c:plotArea>
    <c:dispBlanksAs val="gap"/>
  </c:chart>
  <c:spPr>
    <a:noFill/>
    <a:ln>
      <a:noFill/>
    </a:ln>
  </c:spPr>
  <c:txPr>
    <a:bodyPr/>
    <a:lstStyle/>
    <a:p>
      <a:pPr>
        <a:defRPr sz="2000">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roundedCorners val="0"/>
  <c:date1904 val="0"/>
  <c:chart>
    <c:autoTitleDeleted val="1"/>
    <c:plotArea>
      <c:layout>
        <c:manualLayout>
          <c:layoutTarget val="inner"/>
          <c:xMode val="edge"/>
          <c:yMode val="edge"/>
          <c:x val="0.0300"/>
          <c:y val="0.4000"/>
          <c:w val="0.9400"/>
          <c:h val="0.4000"/>
        </c:manualLayout>
      </c:layout>
      <c:lineChart>
        <c:grouping val="standard"/>
        <c:varyColors val="0"/>
        <c:ser>
          <c:idx val="0"/>
          <c:order val="0"/>
          <c:tx>
            <c:strRef>
              <c:f>Sheet1!$B$1</c:f>
              <c:strCache>
                <c:ptCount val="1"/>
                <c:pt idx="0">
                  <c:v>Contribution annuelle (M USD)</c:v>
                </c:pt>
              </c:strCache>
            </c:strRef>
          </c:tx>
          <c:spPr>
            <a:ln w="50800">
              <a:solidFill>
                <a:srgbClr val="1E7B67"/>
              </a:solidFill>
            </a:ln>
          </c:spPr>
          <c:marker>
            <c:symbol val="circle"/>
            <c:size val="14"/>
            <c:spPr>
              <a:solidFill>
                <a:srgbClr val="1E7B67"/>
              </a:solidFill>
              <a:ln w="31750">
                <a:solidFill>
                  <a:srgbClr val="FFFFFF"/>
                </a:solidFill>
              </a:ln>
            </c:spPr>
          </c:marker>
          <c:cat>
            <c:strRef>
              <c:f>Sheet1!$A$2:$A$6</c:f>
              <c:strCache>
                <c:ptCount val="5"/>
                <c:pt idx="0">
                  <c:v>2028</c:v>
                </c:pt>
                <c:pt idx="1">
                  <c:v>2029</c:v>
                </c:pt>
                <c:pt idx="2">
                  <c:v>2030</c:v>
                </c:pt>
                <c:pt idx="3">
                  <c:v>2031</c:v>
                </c:pt>
                <c:pt idx="4">
                  <c:v>2032</c:v>
                </c:pt>
              </c:strCache>
            </c:strRef>
          </c:cat>
          <c:val>
            <c:numRef>
              <c:f>Sheet1!$B$2:$B$6</c:f>
              <c:numCache>
                <c:formatCode>0.0</c:formatCode>
                <c:ptCount val="5"/>
                <c:pt idx="0">
                  <c:v>29.8</c:v>
                </c:pt>
                <c:pt idx="1">
                  <c:v>32.8</c:v>
                </c:pt>
                <c:pt idx="2">
                  <c:v>32.2</c:v>
                </c:pt>
                <c:pt idx="3">
                  <c:v>30.6</c:v>
                </c:pt>
                <c:pt idx="4">
                  <c:v>22.7</c:v>
                </c:pt>
              </c:numCache>
            </c:numRef>
          </c:val>
          <c:smooth val="0"/>
        </c:ser>
        <c:marker val="1"/>
        <c:smooth val="0"/>
        <c:axId val="2118791784"/>
        <c:axId val="2140495176"/>
      </c:lineChart>
      <c:catAx>
        <c:axId val="2118791784"/>
        <c:scaling>
          <c:orientation val="minMax"/>
        </c:scaling>
        <c:delete val="0"/>
        <c:axPos val="b"/>
        <c:majorTickMark val="none"/>
        <c:minorTickMark val="none"/>
        <c:tickLblPos val="nextTo"/>
        <c:spPr>
          <a:ln w="15875">
            <a:solidFill>
              <a:srgbClr val="CFC8BA"/>
            </a:solidFill>
          </a:ln>
        </c:spPr>
        <c:txPr>
          <a:bodyPr/>
          <a:lstStyle/>
          <a:p>
            <a:pPr>
              <a:defRPr sz="2000" b="1">
                <a:solidFill>
                  <a:srgbClr val="1B2A41"/>
                </a:solidFill>
              </a:defRPr>
            </a:pPr>
          </a:p>
        </c:txPr>
        <c:crossAx val="2140495176"/>
        <c:crosses val="autoZero"/>
        <c:auto val="1"/>
        <c:lblAlgn val="ctr"/>
        <c:lblOffset val="100"/>
        <c:noMultiLvlLbl val="0"/>
      </c:catAx>
      <c:valAx>
        <c:axId val="2140495176"/>
        <c:scaling>
          <c:max val="40.0"/>
          <c:min val="0.0"/>
        </c:scaling>
        <c:delete/>
        <c:axPos val="l"/>
        <c:majorTickMark val="out"/>
        <c:minorTickMark val="none"/>
        <c:tickLblPos val="nextTo"/>
        <c:crossAx val="2118791784"/>
        <c:crosses val="autoZero"/>
      </c:valAx>
      <c:spPr>
        <a:noFill/>
        <a:ln>
          <a:noFill/>
        </a:ln>
      </c:spPr>
    </c:plotArea>
    <c:plotVisOnly val="1"/>
    <c:dispBlanksAs val="gap"/>
    <c:showDLblsOverMax val="0"/>
  </c:chart>
  <c:spPr>
    <a:noFill/>
    <a:ln>
      <a:noFill/>
    </a:ln>
  </c:spPr>
  <c:txPr>
    <a:bodyPr/>
    <a:lstStyle/>
    <a:p>
      <a:pPr>
        <a:defRPr sz="2000">
          <a:solidFill>
            <a:srgbClr val="1B2A41"/>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roundedCorners val="0"/>
  <c:date1904 val="0"/>
  <c:chart>
    <c:autoTitleDeleted val="1"/>
    <c:plotArea>
      <c:layout>
        <c:manualLayout>
          <c:layoutTarget val="inner"/>
          <c:xMode val="edge"/>
          <c:yMode val="edge"/>
          <c:x val="0.0000"/>
          <c:y val="0.0000"/>
          <c:w val="1.0000"/>
          <c:h val="1.0000"/>
        </c:manualLayout>
      </c:layout>
      <c:barChart>
        <c:barDir val="bar"/>
        <c:grouping val="clustered"/>
        <c:varyColors val="0"/>
        <c:ser>
          <c:idx val="0"/>
          <c:order val="0"/>
          <c:tx>
            <c:strRef>
              <c:f>Sheet1!$B$1</c:f>
              <c:strCache>
                <c:ptCount val="1"/>
                <c:pt idx="0">
                  <c:v>Valeurs</c:v>
                </c:pt>
              </c:strCache>
            </c:strRef>
          </c:tx>
          <c:invertIfNegative val="0"/>
          <c:dPt>
            <c:idx val="0"/>
            <c:spPr>
              <a:solidFill>
                <a:srgbClr val="D3A04D"/>
              </a:solidFill>
              <a:ln>
                <a:noFill/>
              </a:ln>
            </c:spPr>
          </c:dPt>
          <c:dPt>
            <c:idx val="1"/>
            <c:spPr>
              <a:solidFill>
                <a:srgbClr val="1E7B67"/>
              </a:solidFill>
              <a:ln>
                <a:noFill/>
              </a:ln>
            </c:spPr>
          </c:dPt>
          <c:dPt>
            <c:idx val="2"/>
            <c:spPr>
              <a:solidFill>
                <a:srgbClr val="3A7CA5"/>
              </a:solidFill>
              <a:ln>
                <a:noFill/>
              </a:ln>
            </c:spPr>
          </c:dPt>
          <c:dPt>
            <c:idx val="3"/>
            <c:spPr>
              <a:solidFill>
                <a:srgbClr val="86A05A"/>
              </a:solidFill>
              <a:ln>
                <a:noFill/>
              </a:ln>
            </c:spPr>
          </c:dPt>
          <c:dPt>
            <c:idx val="4"/>
            <c:spPr>
              <a:solidFill>
                <a:srgbClr val="A9553E"/>
              </a:solidFill>
              <a:ln>
                <a:noFill/>
              </a:ln>
            </c:spPr>
          </c:dPt>
          <c:dPt>
            <c:idx val="5"/>
            <c:spPr>
              <a:solidFill>
                <a:srgbClr val="7A5C9E"/>
              </a:solidFill>
              <a:ln>
                <a:noFill/>
              </a:ln>
            </c:spPr>
          </c:dPt>
          <c:dPt>
            <c:idx val="6"/>
            <c:spPr>
              <a:solidFill>
                <a:srgbClr val="12264A"/>
              </a:solidFill>
              <a:ln>
                <a:noFill/>
              </a:ln>
            </c:spPr>
          </c:dPt>
          <c:dPt>
            <c:idx val="7"/>
            <c:spPr>
              <a:solidFill>
                <a:srgbClr val="8F98A3"/>
              </a:solidFill>
              <a:ln>
                <a:noFill/>
              </a:ln>
            </c:spPr>
          </c:dPt>
          <c:cat>
            <c:strRef>
              <c:f>Sheet1!$A$2:$A$9</c:f>
              <c:strCache>
                <c:ptCount val="8"/>
                <c:pt idx="0">
                  <c:v>Infrastructures, eau, électricité, routes</c:v>
                </c:pt>
                <c:pt idx="1">
                  <c:v>Santé et action sociale</c:v>
                </c:pt>
                <c:pt idx="2">
                  <c:v>Éducation et formation</c:v>
                </c:pt>
                <c:pt idx="3">
                  <c:v>Agriculture et sécurité alimentaire</c:v>
                </c:pt>
                <c:pt idx="4">
                  <c:v>Emploi et développement économique</c:v>
                </c:pt>
                <c:pt idx="5">
                  <c:v>Fonds Après-Mine</c:v>
                </c:pt>
                <c:pt idx="6">
                  <c:v>Obligations d’État, épargne des générations futures</c:v>
                </c:pt>
                <c:pt idx="7">
                  <c:v>Fonctionnement et réserve d’urgence</c:v>
                </c:pt>
              </c:strCache>
            </c:strRef>
          </c:cat>
          <c:val>
            <c:numRef>
              <c:f>Sheet1!$B$2:$B$9</c:f>
              <c:numCache>
                <c:formatCode>0.0</c:formatCode>
                <c:ptCount val="8"/>
                <c:pt idx="0">
                  <c:v>25</c:v>
                </c:pt>
                <c:pt idx="1">
                  <c:v>20</c:v>
                </c:pt>
                <c:pt idx="2">
                  <c:v>15</c:v>
                </c:pt>
                <c:pt idx="3">
                  <c:v>10</c:v>
                </c:pt>
                <c:pt idx="4">
                  <c:v>10</c:v>
                </c:pt>
                <c:pt idx="5">
                  <c:v>10</c:v>
                </c:pt>
                <c:pt idx="6">
                  <c:v>7</c:v>
                </c:pt>
                <c:pt idx="7">
                  <c:v>3</c:v>
                </c:pt>
              </c:numCache>
            </c:numRef>
          </c:val>
        </c:ser>
        <c:gapWidth val="233"/>
        <c:axId val="-2068027336"/>
        <c:axId val="-2113994440"/>
      </c:barChart>
      <c:catAx>
        <c:axId val="-2068027336"/>
        <c:scaling>
          <c:orientation val="maxMin"/>
        </c:scaling>
        <c:delete/>
        <c:axPos val="l"/>
        <c:majorTickMark val="none"/>
        <c:minorTickMark val="none"/>
        <c:tickLblPos val="nextTo"/>
        <c:crossAx val="-2113994440"/>
        <c:crosses val="autoZero"/>
        <c:auto val="1"/>
        <c:lblAlgn val="ctr"/>
        <c:lblOffset val="100"/>
        <c:noMultiLvlLbl val="0"/>
      </c:catAx>
      <c:valAx>
        <c:axId val="-2113994440"/>
        <c:scaling>
          <c:max val="27.0"/>
          <c:min val="0.0"/>
        </c:scaling>
        <c:delete/>
        <c:axPos val="b"/>
        <c:majorTickMark val="out"/>
        <c:minorTickMark val="none"/>
        <c:tickLblPos val="nextTo"/>
        <c:crossAx val="-2068027336"/>
        <c:crosses val="autoZero"/>
      </c:valAx>
      <c:spPr>
        <a:noFill/>
        <a:ln>
          <a:noFill/>
        </a:ln>
      </c:spPr>
    </c:plotArea>
    <c:dispBlanksAs val="gap"/>
  </c:chart>
  <c:spPr>
    <a:noFill/>
    <a:ln>
      <a:noFill/>
    </a:ln>
  </c:spPr>
  <c:txPr>
    <a:bodyPr/>
    <a:lstStyle/>
    <a:p>
      <a:pPr>
        <a:defRPr sz="2000">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Titre. Défilement automatique : 12 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Pourquoi FUTURA-Kouroussa. Défilement automatique : 25 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 porte le projet. Défilement automatique : 20 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mines, trois profils. Défilement automatique : 30 s. Transition Morphose.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que prévoit la loi. Défilement automatique : 30 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mécanisme à deux niveaux. Défilement automatique : 25 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Simulations 2028 et 2029. Défilement automatique : 25 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Horizon financier. Défilement automatique : 30 s. Transition Morphose.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À quoi serviraient les ressources. Défilement automatique : 30 s. Transition Morphose.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 décide, qui exécute, qui contrôle. Défilement automatique : 30 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sept verrous anti-corruption. Défilement automatique : 25 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Transparence sur notre propre position. Défilement automatique : 25 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Feuille de route. Défilement automatique : 25 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que nous proposons au Maire et au Préfet. Défilement automatique : 30 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Conclusion : environ 9 s d’animation puis image fixe (pas d’avancement automatique après la dernière diapositive).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chart" Target="../charts/char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chart" Target="../charts/char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chart" Target="../charts/chart3.xml"/><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image" Target="../media/image14.png"/><Relationship Id="rId11" Type="http://schemas.openxmlformats.org/officeDocument/2006/relationships/image" Target="../media/image15.png"/><Relationship Id="rId12" Type="http://schemas.openxmlformats.org/officeDocument/2006/relationships/image" Target="../media/image16.png"/><Relationship Id="rId13" Type="http://schemas.openxmlformats.org/officeDocument/2006/relationships/image" Target="../media/image17.png"/><Relationship Id="rId14" Type="http://schemas.openxmlformats.org/officeDocument/2006/relationships/image" Target="../media/image18.png"/><Relationship Id="rId15" Type="http://schemas.openxmlformats.org/officeDocument/2006/relationships/image" Target="../media/image19.png"/><Relationship Id="rId1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20.png"/><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21.png"/><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22.png"/><Relationship Id="rId8" Type="http://schemas.openxmlformats.org/officeDocument/2006/relationships/image" Target="../media/image23.png"/><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264A"/>
        </a:solidFill>
        <a:effectLst/>
      </p:bgPr>
    </p:bg>
    <p:spTree>
      <p:nvGrpSpPr>
        <p:cNvPr id="1" name=""/>
        <p:cNvGrpSpPr/>
        <p:nvPr/>
      </p:nvGrpSpPr>
      <p:grpSpPr/>
      <p:sp>
        <p:nvSpPr>
          <p:cNvPr id="2" name="Titre cercle 1"/>
          <p:cNvSpPr/>
          <p:nvPr/>
        </p:nvSpPr>
        <p:spPr>
          <a:xfrm>
            <a:off x="8318500" y="317500"/>
            <a:ext cx="3175000" cy="3175000"/>
          </a:xfrm>
          <a:prstGeom prst="ellipse">
            <a:avLst/>
          </a:prstGeom>
          <a:noFill/>
          <a:ln w="15875">
            <a:solidFill>
              <a:srgbClr val="D3A04D">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itre cercle 2"/>
          <p:cNvSpPr/>
          <p:nvPr/>
        </p:nvSpPr>
        <p:spPr>
          <a:xfrm>
            <a:off x="7366000" y="-635000"/>
            <a:ext cx="5080000" cy="5080000"/>
          </a:xfrm>
          <a:prstGeom prst="ellipse">
            <a:avLst/>
          </a:prstGeom>
          <a:noFill/>
          <a:ln w="15875">
            <a:solidFill>
              <a:srgbClr val="D3A04D">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itre cercle 3"/>
          <p:cNvSpPr/>
          <p:nvPr/>
        </p:nvSpPr>
        <p:spPr>
          <a:xfrm>
            <a:off x="6286500" y="-1714500"/>
            <a:ext cx="7239000" cy="7239000"/>
          </a:xfrm>
          <a:prstGeom prst="ellipse">
            <a:avLst/>
          </a:prstGeom>
          <a:noFill/>
          <a:ln w="15875">
            <a:solidFill>
              <a:srgbClr val="D3A04D">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rait or"/>
          <p:cNvSpPr/>
          <p:nvPr/>
        </p:nvSpPr>
        <p:spPr>
          <a:xfrm>
            <a:off x="762000" y="1066800"/>
            <a:ext cx="457200" cy="38100"/>
          </a:xfrm>
          <a:prstGeom prst="rect">
            <a:avLst/>
          </a:prstGeom>
          <a:solidFill>
            <a:srgbClr val="D3A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itre"/>
          <p:cNvSpPr txBox="1"/>
          <p:nvPr/>
        </p:nvSpPr>
        <p:spPr>
          <a:xfrm>
            <a:off x="762000" y="1181100"/>
            <a:ext cx="10160000" cy="1016000"/>
          </a:xfrm>
          <a:prstGeom prst="rect">
            <a:avLst/>
          </a:prstGeom>
          <a:noFill/>
        </p:spPr>
        <p:txBody>
          <a:bodyPr wrap="square" lIns="0" tIns="0" rIns="0" bIns="0" anchor="ctr">
            <a:noAutofit/>
          </a:bodyPr>
          <a:lstStyle/>
          <a:p>
            <a:pPr algn="l">
              <a:lnSpc>
                <a:spcPct val="100000"/>
              </a:lnSpc>
              <a:spcBef>
                <a:spcPts val="0"/>
              </a:spcBef>
              <a:spcAft>
                <a:spcPts val="0"/>
              </a:spcAft>
            </a:pPr>
            <a:r>
              <a:rPr sz="7200" b="1" i="0" lang="fr-FR" spc="100">
                <a:solidFill>
                  <a:srgbClr val="FFFFFF"/>
                </a:solidFill>
                <a:latin typeface="Calibri"/>
              </a:rPr>
              <a:t>FUTURA KOUROUSSA</a:t>
            </a:r>
          </a:p>
        </p:txBody>
      </p:sp>
      <p:sp>
        <p:nvSpPr>
          <p:cNvPr id="7" name="Sous-titre"/>
          <p:cNvSpPr txBox="1"/>
          <p:nvPr/>
        </p:nvSpPr>
        <p:spPr>
          <a:xfrm>
            <a:off x="762000" y="2222500"/>
            <a:ext cx="7874000" cy="952500"/>
          </a:xfrm>
          <a:prstGeom prst="rect">
            <a:avLst/>
          </a:prstGeom>
          <a:noFill/>
        </p:spPr>
        <p:txBody>
          <a:bodyPr wrap="square" lIns="0" tIns="0" rIns="0" bIns="0" anchor="t">
            <a:noAutofit/>
          </a:bodyPr>
          <a:lstStyle/>
          <a:p>
            <a:pPr algn="l">
              <a:lnSpc>
                <a:spcPct val="100000"/>
              </a:lnSpc>
              <a:spcBef>
                <a:spcPts val="0"/>
              </a:spcBef>
              <a:spcAft>
                <a:spcPts val="0"/>
              </a:spcAft>
            </a:pPr>
            <a:r>
              <a:rPr sz="3000" b="0" i="0" lang="fr-FR">
                <a:solidFill>
                  <a:srgbClr val="FAF8F3"/>
                </a:solidFill>
                <a:latin typeface="Calibri"/>
              </a:rPr>
              <a:t>Fonds d’Utilisation Transparente des Ressources Aurifères pour l’Avenir de Kouroussa</a:t>
            </a:r>
          </a:p>
        </p:txBody>
      </p:sp>
      <p:sp>
        <p:nvSpPr>
          <p:cNvPr id="8" name="Mention"/>
          <p:cNvSpPr txBox="1"/>
          <p:nvPr/>
        </p:nvSpPr>
        <p:spPr>
          <a:xfrm>
            <a:off x="762000" y="3213100"/>
            <a:ext cx="10795000" cy="381000"/>
          </a:xfrm>
          <a:prstGeom prst="rect">
            <a:avLst/>
          </a:prstGeom>
          <a:noFill/>
        </p:spPr>
        <p:txBody>
          <a:bodyPr wrap="square" lIns="0" tIns="0" rIns="0" bIns="0" anchor="ctr">
            <a:noAutofit/>
          </a:bodyPr>
          <a:lstStyle/>
          <a:p>
            <a:pPr algn="l">
              <a:lnSpc>
                <a:spcPct val="100000"/>
              </a:lnSpc>
              <a:spcBef>
                <a:spcPts val="0"/>
              </a:spcBef>
              <a:spcAft>
                <a:spcPts val="0"/>
              </a:spcAft>
            </a:pPr>
            <a:r>
              <a:rPr sz="2400" b="1" i="0" lang="fr-FR">
                <a:solidFill>
                  <a:srgbClr val="D3A04D"/>
                </a:solidFill>
                <a:latin typeface="Calibri"/>
              </a:rPr>
              <a:t>Synthèse stratégique, présentée au Maire et au Préfet de Kouroussa, octobre 2026</a:t>
            </a:r>
          </a:p>
        </p:txBody>
      </p:sp>
      <p:sp>
        <p:nvSpPr>
          <p:cNvPr id="9" name="Titre bandeau"/>
          <p:cNvSpPr/>
          <p:nvPr/>
        </p:nvSpPr>
        <p:spPr>
          <a:xfrm>
            <a:off x="1195962" y="3848100"/>
            <a:ext cx="9800076" cy="1244600"/>
          </a:xfrm>
          <a:prstGeom prst="roundRect">
            <a:avLst>
              <a:gd name="adj" fmla="val 12244"/>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Titre logo futura-kouroussa" descr="futura-kouroussa.png"/>
          <p:cNvPicPr>
            <a:picLocks noChangeAspect="1"/>
          </p:cNvPicPr>
          <p:nvPr/>
        </p:nvPicPr>
        <p:blipFill>
          <a:blip r:embed="rId2"/>
          <a:stretch>
            <a:fillRect/>
          </a:stretch>
        </p:blipFill>
        <p:spPr>
          <a:xfrm>
            <a:off x="1551562" y="4064000"/>
            <a:ext cx="1475652" cy="812800"/>
          </a:xfrm>
          <a:prstGeom prst="rect">
            <a:avLst/>
          </a:prstGeom>
        </p:spPr>
      </p:pic>
      <p:pic>
        <p:nvPicPr>
          <p:cNvPr id="11" name="Titre logo republique-de-guinee-armoiries" descr="republique-de-guinee-armoiries.png"/>
          <p:cNvPicPr>
            <a:picLocks noChangeAspect="1"/>
          </p:cNvPicPr>
          <p:nvPr/>
        </p:nvPicPr>
        <p:blipFill>
          <a:blip r:embed="rId3"/>
          <a:stretch>
            <a:fillRect/>
          </a:stretch>
        </p:blipFill>
        <p:spPr>
          <a:xfrm>
            <a:off x="3484415" y="4064000"/>
            <a:ext cx="676946" cy="812800"/>
          </a:xfrm>
          <a:prstGeom prst="rect">
            <a:avLst/>
          </a:prstGeom>
        </p:spPr>
      </p:pic>
      <p:pic>
        <p:nvPicPr>
          <p:cNvPr id="12" name="Titre logo assemblee-nationale" descr="assemblee-nationale.png"/>
          <p:cNvPicPr>
            <a:picLocks noChangeAspect="1"/>
          </p:cNvPicPr>
          <p:nvPr/>
        </p:nvPicPr>
        <p:blipFill>
          <a:blip r:embed="rId4"/>
          <a:stretch>
            <a:fillRect/>
          </a:stretch>
        </p:blipFill>
        <p:spPr>
          <a:xfrm>
            <a:off x="4618561" y="4064000"/>
            <a:ext cx="818606" cy="812800"/>
          </a:xfrm>
          <a:prstGeom prst="rect">
            <a:avLst/>
          </a:prstGeom>
        </p:spPr>
      </p:pic>
      <p:pic>
        <p:nvPicPr>
          <p:cNvPr id="13" name="Titre logo simandou-2040" descr="simandou-2040.png"/>
          <p:cNvPicPr>
            <a:picLocks noChangeAspect="1"/>
          </p:cNvPicPr>
          <p:nvPr/>
        </p:nvPicPr>
        <p:blipFill>
          <a:blip r:embed="rId5"/>
          <a:stretch>
            <a:fillRect/>
          </a:stretch>
        </p:blipFill>
        <p:spPr>
          <a:xfrm>
            <a:off x="5894367" y="4064000"/>
            <a:ext cx="2540327" cy="812800"/>
          </a:xfrm>
          <a:prstGeom prst="rect">
            <a:avLst/>
          </a:prstGeom>
        </p:spPr>
      </p:pic>
      <p:pic>
        <p:nvPicPr>
          <p:cNvPr id="14" name="Titre logo guinee" descr="guinee.png"/>
          <p:cNvPicPr>
            <a:picLocks noChangeAspect="1"/>
          </p:cNvPicPr>
          <p:nvPr/>
        </p:nvPicPr>
        <p:blipFill>
          <a:blip r:embed="rId6"/>
          <a:stretch>
            <a:fillRect/>
          </a:stretch>
        </p:blipFill>
        <p:spPr>
          <a:xfrm>
            <a:off x="8891893" y="4064000"/>
            <a:ext cx="1748545" cy="812800"/>
          </a:xfrm>
          <a:prstGeom prst="rect">
            <a:avLst/>
          </a:prstGeom>
        </p:spPr>
      </p:pic>
      <p:sp>
        <p:nvSpPr>
          <p:cNvPr id="15" name="Porté par"/>
          <p:cNvSpPr txBox="1"/>
          <p:nvPr/>
        </p:nvSpPr>
        <p:spPr>
          <a:xfrm>
            <a:off x="762000" y="5346700"/>
            <a:ext cx="10668000" cy="381000"/>
          </a:xfrm>
          <a:prstGeom prst="rect">
            <a:avLst/>
          </a:prstGeom>
          <a:noFill/>
        </p:spPr>
        <p:txBody>
          <a:bodyPr wrap="square" lIns="0" tIns="0" rIns="0" bIns="0" anchor="ctr">
            <a:noAutofit/>
          </a:bodyPr>
          <a:lstStyle/>
          <a:p>
            <a:pPr algn="ctr">
              <a:lnSpc>
                <a:spcPct val="100000"/>
              </a:lnSpc>
              <a:spcBef>
                <a:spcPts val="0"/>
              </a:spcBef>
              <a:spcAft>
                <a:spcPts val="0"/>
              </a:spcAft>
            </a:pPr>
            <a:r>
              <a:rPr sz="2400" b="0" i="0" lang="fr-FR">
                <a:solidFill>
                  <a:srgbClr val="FAF8F3"/>
                </a:solidFill>
                <a:latin typeface="Calibri"/>
              </a:rPr>
              <a:t>Porté par les Députés de Kouroussa, en partenariat avec Visham SARL et l’APEDK</a:t>
            </a:r>
          </a:p>
        </p:txBody>
      </p:sp>
    </p:spTree>
  </p:cSld>
  <p:clrMapOvr>
    <a:masterClrMapping/>
  </p:clrMapOvr>
  <mc:AlternateContent xmlns:mc="http://schemas.openxmlformats.org/markup-compatibility/2006">
    <mc:Choice xmlns:p14="http://schemas.microsoft.com/office/powerpoint/2010/main" Requires="p14">
      <p:transition spd="med" p14:dur="700" advTm="12000">
        <p:fade/>
      </p:transition>
    </mc:Choice>
    <mc:Fallback>
      <p:transition spd="med" advTm="1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right)">
                                      <p:cBhvr>
                                        <p:cTn id="7" dur="800"/>
                                        <p:tgtEl>
                                          <p:spTgt spid="2"/>
                                        </p:tgtEl>
                                      </p:cBhvr>
                                    </p:animEffect>
                                  </p:childTnLst>
                                </p:cTn>
                              </p:par>
                              <p:par>
                                <p:cTn id="8" presetID="22" presetClass="entr" presetSubtype="8" fill="hold" grpId="0" nodeType="withEffect">
                                  <p:stCondLst>
                                    <p:cond delay="250"/>
                                  </p:stCondLst>
                                  <p:childTnLst>
                                    <p:set>
                                      <p:cBhvr>
                                        <p:cTn id="9" dur="1" fill="hold">
                                          <p:stCondLst>
                                            <p:cond delay="0"/>
                                          </p:stCondLst>
                                        </p:cTn>
                                        <p:tgtEl>
                                          <p:spTgt spid="3"/>
                                        </p:tgtEl>
                                        <p:attrNameLst>
                                          <p:attrName>style.visibility</p:attrName>
                                        </p:attrNameLst>
                                      </p:cBhvr>
                                      <p:to>
                                        <p:strVal val="visible"/>
                                      </p:to>
                                    </p:set>
                                    <p:animEffect transition="in" filter="wipe(right)">
                                      <p:cBhvr>
                                        <p:cTn id="10" dur="800"/>
                                        <p:tgtEl>
                                          <p:spTgt spid="3"/>
                                        </p:tgtEl>
                                      </p:cBhvr>
                                    </p:animEffect>
                                  </p:childTnLst>
                                </p:cTn>
                              </p:par>
                              <p:par>
                                <p:cTn id="11" presetID="22" presetClass="entr" presetSubtype="8" fill="hold" grpId="0" nodeType="withEffect">
                                  <p:stCondLst>
                                    <p:cond delay="500"/>
                                  </p:stCondLst>
                                  <p:childTnLst>
                                    <p:set>
                                      <p:cBhvr>
                                        <p:cTn id="12" dur="1" fill="hold">
                                          <p:stCondLst>
                                            <p:cond delay="0"/>
                                          </p:stCondLst>
                                        </p:cTn>
                                        <p:tgtEl>
                                          <p:spTgt spid="4"/>
                                        </p:tgtEl>
                                        <p:attrNameLst>
                                          <p:attrName>style.visibility</p:attrName>
                                        </p:attrNameLst>
                                      </p:cBhvr>
                                      <p:to>
                                        <p:strVal val="visible"/>
                                      </p:to>
                                    </p:set>
                                    <p:animEffect transition="in" filter="wipe(right)">
                                      <p:cBhvr>
                                        <p:cTn id="13" dur="800"/>
                                        <p:tgtEl>
                                          <p:spTgt spid="4"/>
                                        </p:tgtEl>
                                      </p:cBhvr>
                                    </p:animEffect>
                                  </p:childTnLst>
                                </p:cTn>
                              </p:par>
                              <p:par>
                                <p:cTn id="14" presetID="22" presetClass="entr" presetSubtype="8" fill="hold" grpId="0" nodeType="withEffect">
                                  <p:stCondLst>
                                    <p:cond delay="300"/>
                                  </p:stCondLst>
                                  <p:childTnLst>
                                    <p:set>
                                      <p:cBhvr>
                                        <p:cTn id="15" dur="1" fill="hold">
                                          <p:stCondLst>
                                            <p:cond delay="0"/>
                                          </p:stCondLst>
                                        </p:cTn>
                                        <p:tgtEl>
                                          <p:spTgt spid="5"/>
                                        </p:tgtEl>
                                        <p:attrNameLst>
                                          <p:attrName>style.visibility</p:attrName>
                                        </p:attrNameLst>
                                      </p:cBhvr>
                                      <p:to>
                                        <p:strVal val="visible"/>
                                      </p:to>
                                    </p:set>
                                    <p:animEffect transition="in" filter="wipe(right)">
                                      <p:cBhvr>
                                        <p:cTn id="16" dur="500"/>
                                        <p:tgtEl>
                                          <p:spTgt spid="5"/>
                                        </p:tgtEl>
                                      </p:cBhvr>
                                    </p:animEffect>
                                  </p:childTnLst>
                                </p:cTn>
                              </p:par>
                              <p:par>
                                <p:cTn id="17" presetID="10" presetClass="entr" presetSubtype="0" fill="hold" grpId="0" nodeType="withEffect">
                                  <p:stCondLst>
                                    <p:cond delay="3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700"/>
                                        <p:tgtEl>
                                          <p:spTgt spid="6"/>
                                        </p:tgtEl>
                                      </p:cBhvr>
                                    </p:animEffect>
                                  </p:childTnLst>
                                </p:cTn>
                              </p:par>
                            </p:childTnLst>
                          </p:cTn>
                        </p:par>
                        <p:par>
                          <p:cTn id="20" fill="hold">
                            <p:stCondLst>
                              <p:cond delay="1300"/>
                            </p:stCondLst>
                            <p:childTnLst>
                              <p:par>
                                <p:cTn id="21" presetID="10" presetClass="entr" presetSubtype="0"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600"/>
                                        <p:tgtEl>
                                          <p:spTgt spid="7"/>
                                        </p:tgtEl>
                                      </p:cBhvr>
                                    </p:animEffect>
                                  </p:childTnLst>
                                </p:cTn>
                              </p:par>
                            </p:childTnLst>
                          </p:cTn>
                        </p:par>
                        <p:par>
                          <p:cTn id="24" fill="hold">
                            <p:stCondLst>
                              <p:cond delay="1900"/>
                            </p:stCondLst>
                            <p:childTnLst>
                              <p:par>
                                <p:cTn id="25" presetID="10" presetClass="entr" presetSubtype="0" fill="hold" grpId="0" nodeType="after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600"/>
                                        <p:tgtEl>
                                          <p:spTgt spid="8"/>
                                        </p:tgtEl>
                                      </p:cBhvr>
                                    </p:animEffect>
                                  </p:childTnLst>
                                </p:cTn>
                              </p:par>
                            </p:childTnLst>
                          </p:cTn>
                        </p:par>
                        <p:par>
                          <p:cTn id="28" fill="hold">
                            <p:stCondLst>
                              <p:cond delay="2500"/>
                            </p:stCondLst>
                            <p:childTnLst>
                              <p:par>
                                <p:cTn id="29" presetID="10" presetClass="entr" presetSubtype="0" fill="hold" grpId="0" nodeType="after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700"/>
                                        <p:tgtEl>
                                          <p:spTgt spid="9"/>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700"/>
                                        <p:tgtEl>
                                          <p:spTgt spid="10"/>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700"/>
                                        <p:tgtEl>
                                          <p:spTgt spid="11"/>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700"/>
                                        <p:tgtEl>
                                          <p:spTgt spid="1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700"/>
                                        <p:tgtEl>
                                          <p:spTgt spid="1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4"/>
                                        </p:tgtEl>
                                        <p:attrNameLst>
                                          <p:attrName>style.visibility</p:attrName>
                                        </p:attrNameLst>
                                      </p:cBhvr>
                                      <p:to>
                                        <p:strVal val="visible"/>
                                      </p:to>
                                    </p:set>
                                    <p:animEffect transition="in" filter="fade">
                                      <p:cBhvr>
                                        <p:cTn id="46" dur="700"/>
                                        <p:tgtEl>
                                          <p:spTgt spid="14"/>
                                        </p:tgtEl>
                                      </p:cBhvr>
                                    </p:animEffect>
                                  </p:childTnLst>
                                </p:cTn>
                              </p:par>
                            </p:childTnLst>
                          </p:cTn>
                        </p:par>
                        <p:par>
                          <p:cTn id="47" fill="hold">
                            <p:stCondLst>
                              <p:cond delay="3200"/>
                            </p:stCondLst>
                            <p:childTnLst>
                              <p:par>
                                <p:cTn id="48" presetID="10" presetClass="entr" presetSubtype="0" fill="hold" grpId="0" nodeType="after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6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5" grpId="0" animBg="1"/>
      <p:bldP spid="6" grpId="0"/>
      <p:bldP spid="7" grpId="0"/>
      <p:bldP spid="8" grpId="0"/>
      <p:bldP spid="9" grpId="0" animBg="1"/>
      <p:bldP spid="15" grpId="0"/>
    </p:bld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8F3"/>
        </a:solidFill>
        <a:effectLst/>
      </p:bgPr>
    </p:bg>
    <p:spTree>
      <p:nvGrpSpPr>
        <p:cNvPr id="1" name=""/>
        <p:cNvGrpSpPr/>
        <p:nvPr/>
      </p:nvGrpSpPr>
      <p:grpSpPr/>
      <p:sp>
        <p:nvSpPr>
          <p:cNvPr id="2" name="Trait or"/>
          <p:cNvSpPr/>
          <p:nvPr/>
        </p:nvSpPr>
        <p:spPr>
          <a:xfrm>
            <a:off x="609600" y="444500"/>
            <a:ext cx="406400" cy="38100"/>
          </a:xfrm>
          <a:prstGeom prst="rect">
            <a:avLst/>
          </a:prstGeom>
          <a:solidFill>
            <a:srgbClr val="D3A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brique"/>
          <p:cNvSpPr txBox="1"/>
          <p:nvPr/>
        </p:nvSpPr>
        <p:spPr>
          <a:xfrm>
            <a:off x="609600" y="508000"/>
            <a:ext cx="10160000" cy="304800"/>
          </a:xfrm>
          <a:prstGeom prst="rect">
            <a:avLst/>
          </a:prstGeom>
          <a:noFill/>
        </p:spPr>
        <p:txBody>
          <a:bodyPr wrap="square" lIns="0" tIns="0" rIns="0" bIns="0" anchor="ctr">
            <a:noAutofit/>
          </a:bodyPr>
          <a:lstStyle/>
          <a:p>
            <a:pPr algn="l">
              <a:lnSpc>
                <a:spcPct val="100000"/>
              </a:lnSpc>
              <a:spcBef>
                <a:spcPts val="0"/>
              </a:spcBef>
              <a:spcAft>
                <a:spcPts val="0"/>
              </a:spcAft>
            </a:pPr>
            <a:r>
              <a:rPr sz="2000" b="1" i="0" lang="fr-FR" spc="150">
                <a:solidFill>
                  <a:srgbClr val="1E7B67"/>
                </a:solidFill>
                <a:latin typeface="Calibri"/>
              </a:rPr>
              <a:t>01 / L’ESSENTIEL</a:t>
            </a:r>
          </a:p>
        </p:txBody>
      </p:sp>
      <p:sp>
        <p:nvSpPr>
          <p:cNvPr id="4" name="Titre"/>
          <p:cNvSpPr txBox="1"/>
          <p:nvPr/>
        </p:nvSpPr>
        <p:spPr>
          <a:xfrm>
            <a:off x="609600" y="774700"/>
            <a:ext cx="10972800" cy="609600"/>
          </a:xfrm>
          <a:prstGeom prst="rect">
            <a:avLst/>
          </a:prstGeom>
          <a:noFill/>
        </p:spPr>
        <p:txBody>
          <a:bodyPr wrap="square" lIns="0" tIns="0" rIns="0" bIns="0" anchor="ctr">
            <a:noAutofit/>
          </a:bodyPr>
          <a:lstStyle/>
          <a:p>
            <a:pPr algn="l">
              <a:lnSpc>
                <a:spcPct val="100000"/>
              </a:lnSpc>
              <a:spcBef>
                <a:spcPts val="0"/>
              </a:spcBef>
              <a:spcAft>
                <a:spcPts val="0"/>
              </a:spcAft>
            </a:pPr>
            <a:r>
              <a:rPr sz="4000" b="1" i="0" lang="fr-FR">
                <a:solidFill>
                  <a:srgbClr val="12264A"/>
                </a:solidFill>
                <a:latin typeface="Calibri"/>
              </a:rPr>
              <a:t>Pourquoi FUTURA-Kouroussa ?</a:t>
            </a:r>
          </a:p>
        </p:txBody>
      </p:sp>
      <p:sp>
        <p:nvSpPr>
          <p:cNvPr id="5" name="Accroche"/>
          <p:cNvSpPr txBox="1"/>
          <p:nvPr/>
        </p:nvSpPr>
        <p:spPr>
          <a:xfrm>
            <a:off x="609600" y="1358900"/>
            <a:ext cx="10972800" cy="711200"/>
          </a:xfrm>
          <a:prstGeom prst="rect">
            <a:avLst/>
          </a:prstGeom>
          <a:noFill/>
        </p:spPr>
        <p:txBody>
          <a:bodyPr wrap="square" lIns="0" tIns="0" rIns="0" bIns="0" anchor="t">
            <a:noAutofit/>
          </a:bodyPr>
          <a:lstStyle/>
          <a:p>
            <a:pPr algn="l">
              <a:lnSpc>
                <a:spcPct val="100000"/>
              </a:lnSpc>
              <a:spcBef>
                <a:spcPts val="0"/>
              </a:spcBef>
              <a:spcAft>
                <a:spcPts val="0"/>
              </a:spcAft>
            </a:pPr>
            <a:r>
              <a:rPr sz="2200" b="0" i="0" lang="fr-FR">
                <a:solidFill>
                  <a:srgbClr val="1B2A41"/>
                </a:solidFill>
                <a:latin typeface="Calibri"/>
              </a:rPr>
              <a:t>Transformer une richesse minière temporaire en services publics, activités économiques et perspectives durables pour les habitants.</a:t>
            </a:r>
          </a:p>
        </p:txBody>
      </p:sp>
      <p:sp>
        <p:nvSpPr>
          <p:cNvPr id="6" name="Pied de page"/>
          <p:cNvSpPr txBox="1"/>
          <p:nvPr/>
        </p:nvSpPr>
        <p:spPr>
          <a:xfrm>
            <a:off x="609600" y="6413500"/>
            <a:ext cx="4826000" cy="241300"/>
          </a:xfrm>
          <a:prstGeom prst="rect">
            <a:avLst/>
          </a:prstGeom>
          <a:noFill/>
        </p:spPr>
        <p:txBody>
          <a:bodyPr wrap="square" lIns="0" tIns="0" rIns="0" bIns="0" anchor="ctr">
            <a:noAutofit/>
          </a:bodyPr>
          <a:lstStyle/>
          <a:p>
            <a:pPr algn="l">
              <a:lnSpc>
                <a:spcPct val="100000"/>
              </a:lnSpc>
              <a:spcBef>
                <a:spcPts val="0"/>
              </a:spcBef>
              <a:spcAft>
                <a:spcPts val="0"/>
              </a:spcAft>
            </a:pPr>
            <a:r>
              <a:rPr sz="1400" b="1" i="0" lang="fr-FR" spc="50">
                <a:solidFill>
                  <a:srgbClr val="1B2A41"/>
                </a:solidFill>
                <a:latin typeface="Calibri"/>
              </a:rPr>
              <a:t>FUTURA - KOUROUSSA | Octobre 2026</a:t>
            </a:r>
          </a:p>
        </p:txBody>
      </p:sp>
      <p:sp>
        <p:nvSpPr>
          <p:cNvPr id="7" name="Pied bandeau"/>
          <p:cNvSpPr/>
          <p:nvPr/>
        </p:nvSpPr>
        <p:spPr>
          <a:xfrm>
            <a:off x="9069742" y="6350000"/>
            <a:ext cx="2512658" cy="355600"/>
          </a:xfrm>
          <a:prstGeom prst="roundRect">
            <a:avLst>
              <a:gd name="adj" fmla="val 42857"/>
            </a:avLst>
          </a:prstGeom>
          <a:solidFill>
            <a:srgbClr val="FFFFFF"/>
          </a:solidFill>
          <a:ln w="9525">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ed logo futura-kouroussa" descr="futura-kouroussa.png"/>
          <p:cNvPicPr>
            <a:picLocks noChangeAspect="1"/>
          </p:cNvPicPr>
          <p:nvPr/>
        </p:nvPicPr>
        <p:blipFill>
          <a:blip r:embed="rId2"/>
          <a:stretch>
            <a:fillRect/>
          </a:stretch>
        </p:blipFill>
        <p:spPr>
          <a:xfrm>
            <a:off x="9184042" y="6419850"/>
            <a:ext cx="391970" cy="215900"/>
          </a:xfrm>
          <a:prstGeom prst="rect">
            <a:avLst/>
          </a:prstGeom>
        </p:spPr>
      </p:pic>
      <p:pic>
        <p:nvPicPr>
          <p:cNvPr id="9" name="Pied logo republique-de-guinee-armoiries" descr="republique-de-guinee-armoiries.png"/>
          <p:cNvPicPr>
            <a:picLocks noChangeAspect="1"/>
          </p:cNvPicPr>
          <p:nvPr/>
        </p:nvPicPr>
        <p:blipFill>
          <a:blip r:embed="rId3"/>
          <a:stretch>
            <a:fillRect/>
          </a:stretch>
        </p:blipFill>
        <p:spPr>
          <a:xfrm>
            <a:off x="9664912" y="6419850"/>
            <a:ext cx="179814" cy="215900"/>
          </a:xfrm>
          <a:prstGeom prst="rect">
            <a:avLst/>
          </a:prstGeom>
        </p:spPr>
      </p:pic>
      <p:pic>
        <p:nvPicPr>
          <p:cNvPr id="10" name="Pied logo assemblee-nationale" descr="assemblee-nationale.png"/>
          <p:cNvPicPr>
            <a:picLocks noChangeAspect="1"/>
          </p:cNvPicPr>
          <p:nvPr/>
        </p:nvPicPr>
        <p:blipFill>
          <a:blip r:embed="rId4"/>
          <a:stretch>
            <a:fillRect/>
          </a:stretch>
        </p:blipFill>
        <p:spPr>
          <a:xfrm>
            <a:off x="9933626" y="6419850"/>
            <a:ext cx="217442" cy="215900"/>
          </a:xfrm>
          <a:prstGeom prst="rect">
            <a:avLst/>
          </a:prstGeom>
        </p:spPr>
      </p:pic>
      <p:pic>
        <p:nvPicPr>
          <p:cNvPr id="11" name="Pied logo simandou-2040" descr="simandou-2040.png"/>
          <p:cNvPicPr>
            <a:picLocks noChangeAspect="1"/>
          </p:cNvPicPr>
          <p:nvPr/>
        </p:nvPicPr>
        <p:blipFill>
          <a:blip r:embed="rId5"/>
          <a:stretch>
            <a:fillRect/>
          </a:stretch>
        </p:blipFill>
        <p:spPr>
          <a:xfrm>
            <a:off x="10239968" y="6419850"/>
            <a:ext cx="674774" cy="215900"/>
          </a:xfrm>
          <a:prstGeom prst="rect">
            <a:avLst/>
          </a:prstGeom>
        </p:spPr>
      </p:pic>
      <p:pic>
        <p:nvPicPr>
          <p:cNvPr id="12" name="Pied logo guinee" descr="guinee.png"/>
          <p:cNvPicPr>
            <a:picLocks noChangeAspect="1"/>
          </p:cNvPicPr>
          <p:nvPr/>
        </p:nvPicPr>
        <p:blipFill>
          <a:blip r:embed="rId6"/>
          <a:stretch>
            <a:fillRect/>
          </a:stretch>
        </p:blipFill>
        <p:spPr>
          <a:xfrm>
            <a:off x="11003643" y="6419850"/>
            <a:ext cx="464457" cy="215900"/>
          </a:xfrm>
          <a:prstGeom prst="rect">
            <a:avLst/>
          </a:prstGeom>
        </p:spPr>
      </p:pic>
      <p:sp>
        <p:nvSpPr>
          <p:cNvPr id="13" name="Numéro"/>
          <p:cNvSpPr txBox="1"/>
          <p:nvPr/>
        </p:nvSpPr>
        <p:spPr>
          <a:xfrm>
            <a:off x="7990242" y="6413500"/>
            <a:ext cx="952500" cy="241300"/>
          </a:xfrm>
          <a:prstGeom prst="rect">
            <a:avLst/>
          </a:prstGeom>
          <a:noFill/>
        </p:spPr>
        <p:txBody>
          <a:bodyPr wrap="square" lIns="0" tIns="0" rIns="0" bIns="0" anchor="ctr">
            <a:noAutofit/>
          </a:bodyPr>
          <a:lstStyle/>
          <a:p>
            <a:pPr algn="r">
              <a:lnSpc>
                <a:spcPct val="100000"/>
              </a:lnSpc>
              <a:spcBef>
                <a:spcPts val="0"/>
              </a:spcBef>
              <a:spcAft>
                <a:spcPts val="0"/>
              </a:spcAft>
            </a:pPr>
            <a:r>
              <a:rPr sz="1400" b="1" i="0" lang="fr-FR">
                <a:solidFill>
                  <a:srgbClr val="12264A"/>
                </a:solidFill>
                <a:latin typeface="Calibri"/>
              </a:rPr>
              <a:t>02 / 15</a:t>
            </a:r>
          </a:p>
        </p:txBody>
      </p:sp>
      <p:sp>
        <p:nvSpPr>
          <p:cNvPr id="14" name="s02 constat"/>
          <p:cNvSpPr/>
          <p:nvPr/>
        </p:nvSpPr>
        <p:spPr>
          <a:xfrm>
            <a:off x="609600" y="2171700"/>
            <a:ext cx="10972800" cy="1498600"/>
          </a:xfrm>
          <a:prstGeom prst="roundRect">
            <a:avLst>
              <a:gd name="adj" fmla="val 6779"/>
            </a:avLst>
          </a:prstGeom>
          <a:solidFill>
            <a:srgbClr val="F5EC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9400" tIns="101600" rIns="254000" bIns="101600">
            <a:noAutofit/>
          </a:bodyPr>
          <a:lstStyle/>
          <a:p>
            <a:pPr algn="l">
              <a:lnSpc>
                <a:spcPct val="100000"/>
              </a:lnSpc>
              <a:spcBef>
                <a:spcPts val="0"/>
              </a:spcBef>
              <a:spcAft>
                <a:spcPts val="600"/>
              </a:spcAft>
            </a:pPr>
            <a:r>
              <a:rPr sz="2000" b="1" i="0" lang="fr-FR" spc="150">
                <a:solidFill>
                  <a:srgbClr val="12264A"/>
                </a:solidFill>
                <a:latin typeface="Calibri"/>
              </a:rPr>
              <a:t>LE CONSTAT CENTRAL</a:t>
            </a:r>
          </a:p>
          <a:p>
            <a:pPr algn="l">
              <a:lnSpc>
                <a:spcPct val="100000"/>
              </a:lnSpc>
              <a:spcBef>
                <a:spcPts val="0"/>
              </a:spcBef>
              <a:spcAft>
                <a:spcPts val="0"/>
              </a:spcAft>
            </a:pPr>
            <a:r>
              <a:rPr sz="2200" b="0" i="0" lang="fr-FR">
                <a:solidFill>
                  <a:srgbClr val="1B2A41"/>
                </a:solidFill>
                <a:latin typeface="Calibri"/>
              </a:rPr>
              <a:t>Kouroussa accueille trois grands projets aurifères, alors que de nombreux villages manquent d’eau, de soins de santé, de routes, d’écoles et d’emplois. Le défi n’est pas seulement de produire de l’or : c’est d’en partager les retombées.</a:t>
            </a:r>
          </a:p>
        </p:txBody>
      </p:sp>
      <p:sp>
        <p:nvSpPr>
          <p:cNvPr id="15" name="s02 constat filet"/>
          <p:cNvSpPr/>
          <p:nvPr/>
        </p:nvSpPr>
        <p:spPr>
          <a:xfrm>
            <a:off x="609600" y="2273300"/>
            <a:ext cx="50800" cy="1295400"/>
          </a:xfrm>
          <a:prstGeom prst="rect">
            <a:avLst/>
          </a:prstGeom>
          <a:solidFill>
            <a:srgbClr val="D3A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02 carte CAPTER"/>
          <p:cNvSpPr/>
          <p:nvPr/>
        </p:nvSpPr>
        <p:spPr>
          <a:xfrm>
            <a:off x="609600" y="3835400"/>
            <a:ext cx="3505200" cy="2260600"/>
          </a:xfrm>
          <a:prstGeom prst="roundRect">
            <a:avLst>
              <a:gd name="adj" fmla="val 4494"/>
            </a:avLst>
          </a:prstGeom>
          <a:solidFill>
            <a:srgbClr val="FFFFFF"/>
          </a:solidFill>
          <a:ln w="9525">
            <a:solidFill>
              <a:srgbClr val="E3DED3"/>
            </a:solidFill>
          </a:ln>
          <a:effectLst>
            <a:outerShdw blurRad="165100" dist="38100" dir="5400000" algn="t" rotWithShape="0">
              <a:srgbClr val="12264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02 carte CAPTER filet"/>
          <p:cNvSpPr/>
          <p:nvPr/>
        </p:nvSpPr>
        <p:spPr>
          <a:xfrm>
            <a:off x="609600" y="3937000"/>
            <a:ext cx="50800" cy="2057400"/>
          </a:xfrm>
          <a:prstGeom prst="rect">
            <a:avLst/>
          </a:prstGeom>
          <a:solidFill>
            <a:srgbClr val="1E7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02 numéro 1"/>
          <p:cNvSpPr/>
          <p:nvPr/>
        </p:nvSpPr>
        <p:spPr>
          <a:xfrm>
            <a:off x="863600" y="4064000"/>
            <a:ext cx="381000" cy="381000"/>
          </a:xfrm>
          <a:prstGeom prst="ellipse">
            <a:avLst/>
          </a:prstGeom>
          <a:solidFill>
            <a:srgbClr val="1E7B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00000"/>
              </a:lnSpc>
              <a:spcBef>
                <a:spcPts val="0"/>
              </a:spcBef>
              <a:spcAft>
                <a:spcPts val="0"/>
              </a:spcAft>
            </a:pPr>
            <a:r>
              <a:rPr sz="2600" b="1" i="0" lang="fr-FR">
                <a:solidFill>
                  <a:srgbClr val="FFFFFF"/>
                </a:solidFill>
                <a:latin typeface="Calibri"/>
              </a:rPr>
              <a:t>1</a:t>
            </a:r>
          </a:p>
        </p:txBody>
      </p:sp>
      <p:sp>
        <p:nvSpPr>
          <p:cNvPr id="19" name="s02 titre CAPTER"/>
          <p:cNvSpPr txBox="1"/>
          <p:nvPr/>
        </p:nvSpPr>
        <p:spPr>
          <a:xfrm>
            <a:off x="1333500" y="4102100"/>
            <a:ext cx="2235200" cy="304800"/>
          </a:xfrm>
          <a:prstGeom prst="rect">
            <a:avLst/>
          </a:prstGeom>
          <a:noFill/>
        </p:spPr>
        <p:txBody>
          <a:bodyPr wrap="square" lIns="0" tIns="0" rIns="0" bIns="0" anchor="ctr">
            <a:noAutofit/>
          </a:bodyPr>
          <a:lstStyle/>
          <a:p>
            <a:pPr algn="l">
              <a:lnSpc>
                <a:spcPct val="100000"/>
              </a:lnSpc>
              <a:spcBef>
                <a:spcPts val="0"/>
              </a:spcBef>
              <a:spcAft>
                <a:spcPts val="0"/>
              </a:spcAft>
            </a:pPr>
            <a:r>
              <a:rPr sz="2600" b="1" i="0" lang="fr-FR" spc="100">
                <a:solidFill>
                  <a:srgbClr val="12264A"/>
                </a:solidFill>
                <a:latin typeface="Calibri"/>
              </a:rPr>
              <a:t>CAPTER</a:t>
            </a:r>
          </a:p>
        </p:txBody>
      </p:sp>
      <p:sp>
        <p:nvSpPr>
          <p:cNvPr id="20" name="s02 icône CAPTER"/>
          <p:cNvSpPr/>
          <p:nvPr/>
        </p:nvSpPr>
        <p:spPr>
          <a:xfrm>
            <a:off x="3505200" y="4064000"/>
            <a:ext cx="381000" cy="381000"/>
          </a:xfrm>
          <a:prstGeom prst="ellipse">
            <a:avLst/>
          </a:prstGeom>
          <a:solidFill>
            <a:srgbClr val="F5E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s02 icône CAPTER picto" descr="capter-nuit.png"/>
          <p:cNvPicPr>
            <a:picLocks noChangeAspect="1"/>
          </p:cNvPicPr>
          <p:nvPr/>
        </p:nvPicPr>
        <p:blipFill>
          <a:blip r:embed="rId7"/>
          <a:stretch>
            <a:fillRect/>
          </a:stretch>
        </p:blipFill>
        <p:spPr>
          <a:xfrm>
            <a:off x="3596640" y="4155440"/>
            <a:ext cx="198120" cy="198120"/>
          </a:xfrm>
          <a:prstGeom prst="rect">
            <a:avLst/>
          </a:prstGeom>
        </p:spPr>
      </p:pic>
      <p:sp>
        <p:nvSpPr>
          <p:cNvPr id="22" name="s02 texte CAPTER"/>
          <p:cNvSpPr txBox="1"/>
          <p:nvPr/>
        </p:nvSpPr>
        <p:spPr>
          <a:xfrm>
            <a:off x="863600" y="4622800"/>
            <a:ext cx="3048000" cy="1346200"/>
          </a:xfrm>
          <a:prstGeom prst="rect">
            <a:avLst/>
          </a:prstGeom>
          <a:noFill/>
        </p:spPr>
        <p:txBody>
          <a:bodyPr wrap="square" lIns="0" tIns="0" rIns="0" bIns="0" anchor="t">
            <a:noAutofit/>
          </a:bodyPr>
          <a:lstStyle/>
          <a:p>
            <a:pPr algn="l">
              <a:lnSpc>
                <a:spcPct val="100000"/>
              </a:lnSpc>
              <a:spcBef>
                <a:spcPts val="0"/>
              </a:spcBef>
              <a:spcAft>
                <a:spcPts val="0"/>
              </a:spcAft>
            </a:pPr>
            <a:r>
              <a:rPr sz="2200" b="0" i="0" lang="fr-FR">
                <a:solidFill>
                  <a:srgbClr val="1B2A41"/>
                </a:solidFill>
                <a:latin typeface="Calibri"/>
              </a:rPr>
              <a:t>Identifier les contributions existantes, négocier, suivre les versements.</a:t>
            </a:r>
          </a:p>
        </p:txBody>
      </p:sp>
      <p:sp>
        <p:nvSpPr>
          <p:cNvPr id="23" name="s02 carte GÉRER"/>
          <p:cNvSpPr/>
          <p:nvPr/>
        </p:nvSpPr>
        <p:spPr>
          <a:xfrm>
            <a:off x="4343400" y="3835400"/>
            <a:ext cx="3505200" cy="2260600"/>
          </a:xfrm>
          <a:prstGeom prst="roundRect">
            <a:avLst>
              <a:gd name="adj" fmla="val 4494"/>
            </a:avLst>
          </a:prstGeom>
          <a:solidFill>
            <a:srgbClr val="FFFFFF"/>
          </a:solidFill>
          <a:ln w="9525">
            <a:solidFill>
              <a:srgbClr val="E3DED3"/>
            </a:solidFill>
          </a:ln>
          <a:effectLst>
            <a:outerShdw blurRad="165100" dist="38100" dir="5400000" algn="t" rotWithShape="0">
              <a:srgbClr val="12264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02 carte GÉRER filet"/>
          <p:cNvSpPr/>
          <p:nvPr/>
        </p:nvSpPr>
        <p:spPr>
          <a:xfrm>
            <a:off x="4343400" y="3937000"/>
            <a:ext cx="50800" cy="2057400"/>
          </a:xfrm>
          <a:prstGeom prst="rect">
            <a:avLst/>
          </a:prstGeom>
          <a:solidFill>
            <a:srgbClr val="D3A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02 numéro 2"/>
          <p:cNvSpPr/>
          <p:nvPr/>
        </p:nvSpPr>
        <p:spPr>
          <a:xfrm>
            <a:off x="4597400" y="4064000"/>
            <a:ext cx="381000" cy="381000"/>
          </a:xfrm>
          <a:prstGeom prst="ellipse">
            <a:avLst/>
          </a:prstGeom>
          <a:solidFill>
            <a:srgbClr val="D3A0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00000"/>
              </a:lnSpc>
              <a:spcBef>
                <a:spcPts val="0"/>
              </a:spcBef>
              <a:spcAft>
                <a:spcPts val="0"/>
              </a:spcAft>
            </a:pPr>
            <a:r>
              <a:rPr sz="2600" b="1" i="0" lang="fr-FR">
                <a:solidFill>
                  <a:srgbClr val="12264A"/>
                </a:solidFill>
                <a:latin typeface="Calibri"/>
              </a:rPr>
              <a:t>2</a:t>
            </a:r>
          </a:p>
        </p:txBody>
      </p:sp>
      <p:sp>
        <p:nvSpPr>
          <p:cNvPr id="26" name="s02 titre GÉRER"/>
          <p:cNvSpPr txBox="1"/>
          <p:nvPr/>
        </p:nvSpPr>
        <p:spPr>
          <a:xfrm>
            <a:off x="5067300" y="4102100"/>
            <a:ext cx="2235200" cy="304800"/>
          </a:xfrm>
          <a:prstGeom prst="rect">
            <a:avLst/>
          </a:prstGeom>
          <a:noFill/>
        </p:spPr>
        <p:txBody>
          <a:bodyPr wrap="square" lIns="0" tIns="0" rIns="0" bIns="0" anchor="ctr">
            <a:noAutofit/>
          </a:bodyPr>
          <a:lstStyle/>
          <a:p>
            <a:pPr algn="l">
              <a:lnSpc>
                <a:spcPct val="100000"/>
              </a:lnSpc>
              <a:spcBef>
                <a:spcPts val="0"/>
              </a:spcBef>
              <a:spcAft>
                <a:spcPts val="0"/>
              </a:spcAft>
            </a:pPr>
            <a:r>
              <a:rPr sz="2600" b="1" i="0" lang="fr-FR" spc="100">
                <a:solidFill>
                  <a:srgbClr val="12264A"/>
                </a:solidFill>
                <a:latin typeface="Calibri"/>
              </a:rPr>
              <a:t>GÉRER</a:t>
            </a:r>
          </a:p>
        </p:txBody>
      </p:sp>
      <p:sp>
        <p:nvSpPr>
          <p:cNvPr id="27" name="s02 icône GÉRER"/>
          <p:cNvSpPr/>
          <p:nvPr/>
        </p:nvSpPr>
        <p:spPr>
          <a:xfrm>
            <a:off x="7239000" y="4064000"/>
            <a:ext cx="381000" cy="381000"/>
          </a:xfrm>
          <a:prstGeom prst="ellipse">
            <a:avLst/>
          </a:prstGeom>
          <a:solidFill>
            <a:srgbClr val="F5E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s02 icône GÉRER picto" descr="gerer-nuit.png"/>
          <p:cNvPicPr>
            <a:picLocks noChangeAspect="1"/>
          </p:cNvPicPr>
          <p:nvPr/>
        </p:nvPicPr>
        <p:blipFill>
          <a:blip r:embed="rId8"/>
          <a:stretch>
            <a:fillRect/>
          </a:stretch>
        </p:blipFill>
        <p:spPr>
          <a:xfrm>
            <a:off x="7330440" y="4155440"/>
            <a:ext cx="198120" cy="198120"/>
          </a:xfrm>
          <a:prstGeom prst="rect">
            <a:avLst/>
          </a:prstGeom>
        </p:spPr>
      </p:pic>
      <p:sp>
        <p:nvSpPr>
          <p:cNvPr id="29" name="s02 texte GÉRER"/>
          <p:cNvSpPr txBox="1"/>
          <p:nvPr/>
        </p:nvSpPr>
        <p:spPr>
          <a:xfrm>
            <a:off x="4597400" y="4622800"/>
            <a:ext cx="3048000" cy="1346200"/>
          </a:xfrm>
          <a:prstGeom prst="rect">
            <a:avLst/>
          </a:prstGeom>
          <a:noFill/>
        </p:spPr>
        <p:txBody>
          <a:bodyPr wrap="square" lIns="0" tIns="0" rIns="0" bIns="0" anchor="t">
            <a:noAutofit/>
          </a:bodyPr>
          <a:lstStyle/>
          <a:p>
            <a:pPr algn="l">
              <a:lnSpc>
                <a:spcPct val="100000"/>
              </a:lnSpc>
              <a:spcBef>
                <a:spcPts val="0"/>
              </a:spcBef>
              <a:spcAft>
                <a:spcPts val="0"/>
              </a:spcAft>
            </a:pPr>
            <a:r>
              <a:rPr sz="2200" b="0" i="0" lang="fr-FR">
                <a:solidFill>
                  <a:srgbClr val="1B2A41"/>
                </a:solidFill>
                <a:latin typeface="Calibri"/>
              </a:rPr>
              <a:t>Sécuriser les fonds, tenir des comptes fiables, contrôler et publier chaque dépense.</a:t>
            </a:r>
          </a:p>
        </p:txBody>
      </p:sp>
      <p:sp>
        <p:nvSpPr>
          <p:cNvPr id="30" name="s02 carte REDISTRIBUER"/>
          <p:cNvSpPr/>
          <p:nvPr/>
        </p:nvSpPr>
        <p:spPr>
          <a:xfrm>
            <a:off x="8077200" y="3835400"/>
            <a:ext cx="3505200" cy="2260600"/>
          </a:xfrm>
          <a:prstGeom prst="roundRect">
            <a:avLst>
              <a:gd name="adj" fmla="val 4494"/>
            </a:avLst>
          </a:prstGeom>
          <a:solidFill>
            <a:srgbClr val="FFFFFF"/>
          </a:solidFill>
          <a:ln w="9525">
            <a:solidFill>
              <a:srgbClr val="E3DED3"/>
            </a:solidFill>
          </a:ln>
          <a:effectLst>
            <a:outerShdw blurRad="165100" dist="38100" dir="5400000" algn="t" rotWithShape="0">
              <a:srgbClr val="12264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s02 carte REDISTRIBUER filet"/>
          <p:cNvSpPr/>
          <p:nvPr/>
        </p:nvSpPr>
        <p:spPr>
          <a:xfrm>
            <a:off x="8077200" y="3937000"/>
            <a:ext cx="50800" cy="2057400"/>
          </a:xfrm>
          <a:prstGeom prst="rect">
            <a:avLst/>
          </a:prstGeom>
          <a:solidFill>
            <a:srgbClr val="3A7C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s02 numéro 3"/>
          <p:cNvSpPr/>
          <p:nvPr/>
        </p:nvSpPr>
        <p:spPr>
          <a:xfrm>
            <a:off x="8331200" y="4064000"/>
            <a:ext cx="381000" cy="381000"/>
          </a:xfrm>
          <a:prstGeom prst="ellipse">
            <a:avLst/>
          </a:prstGeom>
          <a:solidFill>
            <a:srgbClr val="3A7C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00000"/>
              </a:lnSpc>
              <a:spcBef>
                <a:spcPts val="0"/>
              </a:spcBef>
              <a:spcAft>
                <a:spcPts val="0"/>
              </a:spcAft>
            </a:pPr>
            <a:r>
              <a:rPr sz="2600" b="1" i="0" lang="fr-FR">
                <a:solidFill>
                  <a:srgbClr val="FFFFFF"/>
                </a:solidFill>
                <a:latin typeface="Calibri"/>
              </a:rPr>
              <a:t>3</a:t>
            </a:r>
          </a:p>
        </p:txBody>
      </p:sp>
      <p:sp>
        <p:nvSpPr>
          <p:cNvPr id="33" name="s02 titre REDISTRIBUER"/>
          <p:cNvSpPr txBox="1"/>
          <p:nvPr/>
        </p:nvSpPr>
        <p:spPr>
          <a:xfrm>
            <a:off x="8801100" y="4102100"/>
            <a:ext cx="2235200" cy="304800"/>
          </a:xfrm>
          <a:prstGeom prst="rect">
            <a:avLst/>
          </a:prstGeom>
          <a:noFill/>
        </p:spPr>
        <p:txBody>
          <a:bodyPr wrap="square" lIns="0" tIns="0" rIns="0" bIns="0" anchor="ctr">
            <a:noAutofit/>
          </a:bodyPr>
          <a:lstStyle/>
          <a:p>
            <a:pPr algn="l">
              <a:lnSpc>
                <a:spcPct val="100000"/>
              </a:lnSpc>
              <a:spcBef>
                <a:spcPts val="0"/>
              </a:spcBef>
              <a:spcAft>
                <a:spcPts val="0"/>
              </a:spcAft>
            </a:pPr>
            <a:r>
              <a:rPr sz="2600" b="1" i="0" lang="fr-FR" spc="100">
                <a:solidFill>
                  <a:srgbClr val="12264A"/>
                </a:solidFill>
                <a:latin typeface="Calibri"/>
              </a:rPr>
              <a:t>REDISTRIBUER</a:t>
            </a:r>
          </a:p>
        </p:txBody>
      </p:sp>
      <p:sp>
        <p:nvSpPr>
          <p:cNvPr id="34" name="s02 icône REDISTRIBUER"/>
          <p:cNvSpPr/>
          <p:nvPr/>
        </p:nvSpPr>
        <p:spPr>
          <a:xfrm>
            <a:off x="10972800" y="4064000"/>
            <a:ext cx="381000" cy="381000"/>
          </a:xfrm>
          <a:prstGeom prst="ellipse">
            <a:avLst/>
          </a:prstGeom>
          <a:solidFill>
            <a:srgbClr val="F5E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s02 icône REDISTRIBUER picto" descr="redistribuer-nuit.png"/>
          <p:cNvPicPr>
            <a:picLocks noChangeAspect="1"/>
          </p:cNvPicPr>
          <p:nvPr/>
        </p:nvPicPr>
        <p:blipFill>
          <a:blip r:embed="rId9"/>
          <a:stretch>
            <a:fillRect/>
          </a:stretch>
        </p:blipFill>
        <p:spPr>
          <a:xfrm>
            <a:off x="11064240" y="4155440"/>
            <a:ext cx="198120" cy="198120"/>
          </a:xfrm>
          <a:prstGeom prst="rect">
            <a:avLst/>
          </a:prstGeom>
        </p:spPr>
      </p:pic>
      <p:sp>
        <p:nvSpPr>
          <p:cNvPr id="36" name="s02 texte REDISTRIBUER"/>
          <p:cNvSpPr txBox="1"/>
          <p:nvPr/>
        </p:nvSpPr>
        <p:spPr>
          <a:xfrm>
            <a:off x="8331200" y="4622800"/>
            <a:ext cx="3048000" cy="1346200"/>
          </a:xfrm>
          <a:prstGeom prst="rect">
            <a:avLst/>
          </a:prstGeom>
          <a:noFill/>
        </p:spPr>
        <p:txBody>
          <a:bodyPr wrap="square" lIns="0" tIns="0" rIns="0" bIns="0" anchor="t">
            <a:noAutofit/>
          </a:bodyPr>
          <a:lstStyle/>
          <a:p>
            <a:pPr algn="l">
              <a:lnSpc>
                <a:spcPct val="100000"/>
              </a:lnSpc>
              <a:spcBef>
                <a:spcPts val="0"/>
              </a:spcBef>
              <a:spcAft>
                <a:spcPts val="0"/>
              </a:spcAft>
            </a:pPr>
            <a:r>
              <a:rPr sz="2200" b="0" i="0" lang="fr-FR">
                <a:solidFill>
                  <a:srgbClr val="1B2A41"/>
                </a:solidFill>
                <a:latin typeface="Calibri"/>
              </a:rPr>
              <a:t>Financer des projets prioritaires choisis avec les communes et les populations.</a:t>
            </a:r>
          </a:p>
        </p:txBody>
      </p:sp>
    </p:spTree>
  </p:cSld>
  <p:clrMapOvr>
    <a:masterClrMapping/>
  </p:clrMapOvr>
  <mc:AlternateContent xmlns:mc="http://schemas.openxmlformats.org/markup-compatibility/2006">
    <mc:Choice xmlns:p14="http://schemas.microsoft.com/office/powerpoint/2010/main" Requires="p14">
      <p:transition spd="med" p14:dur="700" advTm="25000">
        <p:fade/>
      </p:transition>
    </mc:Choice>
    <mc:Fallback>
      <p:transition spd="med" advTm="2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childTnLst>
                          </p:cTn>
                        </p:par>
                        <p:par>
                          <p:cTn id="8" fill="hold">
                            <p:stCondLst>
                              <p:cond delay="600"/>
                            </p:stCondLst>
                            <p:childTnLst>
                              <p:par>
                                <p:cTn id="9" presetID="42" presetClass="entr" presetSubtype="0"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700"/>
                                        <p:tgtEl>
                                          <p:spTgt spid="14"/>
                                        </p:tgtEl>
                                      </p:cBhvr>
                                    </p:animEffect>
                                    <p:anim calcmode="lin" valueType="num">
                                      <p:cBhvr>
                                        <p:cTn id="12" dur="700" fill="hold" decel="100000"/>
                                        <p:tgtEl>
                                          <p:spTgt spid="14"/>
                                        </p:tgtEl>
                                        <p:attrNameLst>
                                          <p:attrName>ppt_x</p:attrName>
                                        </p:attrNameLst>
                                      </p:cBhvr>
                                      <p:tavLst>
                                        <p:tav tm="0">
                                          <p:val>
                                            <p:strVal val="#ppt_x"/>
                                          </p:val>
                                        </p:tav>
                                        <p:tav tm="100000">
                                          <p:val>
                                            <p:strVal val="#ppt_x"/>
                                          </p:val>
                                        </p:tav>
                                      </p:tavLst>
                                    </p:anim>
                                    <p:anim calcmode="lin" valueType="num">
                                      <p:cBhvr>
                                        <p:cTn id="13" dur="700" fill="hold" decel="100000"/>
                                        <p:tgtEl>
                                          <p:spTgt spid="14"/>
                                        </p:tgtEl>
                                        <p:attrNameLst>
                                          <p:attrName>ppt_y</p:attrName>
                                        </p:attrNameLst>
                                      </p:cBhvr>
                                      <p:tavLst>
                                        <p:tav tm="0">
                                          <p:val>
                                            <p:strVal val="#ppt_y+.04"/>
                                          </p:val>
                                        </p:tav>
                                        <p:tav tm="100000">
                                          <p:val>
                                            <p:strVal val="#ppt_y"/>
                                          </p:val>
                                        </p:tav>
                                      </p:tavLst>
                                    </p:anim>
                                  </p:childTnLst>
                                </p:cTn>
                              </p:par>
                              <p:par>
                                <p:cTn id="14" presetID="42"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700"/>
                                        <p:tgtEl>
                                          <p:spTgt spid="15"/>
                                        </p:tgtEl>
                                      </p:cBhvr>
                                    </p:animEffect>
                                    <p:anim calcmode="lin" valueType="num">
                                      <p:cBhvr>
                                        <p:cTn id="17" dur="700" fill="hold" decel="100000"/>
                                        <p:tgtEl>
                                          <p:spTgt spid="15"/>
                                        </p:tgtEl>
                                        <p:attrNameLst>
                                          <p:attrName>ppt_x</p:attrName>
                                        </p:attrNameLst>
                                      </p:cBhvr>
                                      <p:tavLst>
                                        <p:tav tm="0">
                                          <p:val>
                                            <p:strVal val="#ppt_x"/>
                                          </p:val>
                                        </p:tav>
                                        <p:tav tm="100000">
                                          <p:val>
                                            <p:strVal val="#ppt_x"/>
                                          </p:val>
                                        </p:tav>
                                      </p:tavLst>
                                    </p:anim>
                                    <p:anim calcmode="lin" valueType="num">
                                      <p:cBhvr>
                                        <p:cTn id="18" dur="700" fill="hold" decel="100000"/>
                                        <p:tgtEl>
                                          <p:spTgt spid="15"/>
                                        </p:tgtEl>
                                        <p:attrNameLst>
                                          <p:attrName>ppt_y</p:attrName>
                                        </p:attrNameLst>
                                      </p:cBhvr>
                                      <p:tavLst>
                                        <p:tav tm="0">
                                          <p:val>
                                            <p:strVal val="#ppt_y+.04"/>
                                          </p:val>
                                        </p:tav>
                                        <p:tav tm="100000">
                                          <p:val>
                                            <p:strVal val="#ppt_y"/>
                                          </p:val>
                                        </p:tav>
                                      </p:tavLst>
                                    </p:anim>
                                  </p:childTnLst>
                                </p:cTn>
                              </p:par>
                            </p:childTnLst>
                          </p:cTn>
                        </p:par>
                        <p:par>
                          <p:cTn id="19" fill="hold">
                            <p:stCondLst>
                              <p:cond delay="1300"/>
                            </p:stCondLst>
                            <p:childTnLst>
                              <p:par>
                                <p:cTn id="20" presetID="42" presetClass="entr" presetSubtype="0" fill="hold" grpId="0" nodeType="afterEffect">
                                  <p:stCondLst>
                                    <p:cond delay="15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700"/>
                                        <p:tgtEl>
                                          <p:spTgt spid="16"/>
                                        </p:tgtEl>
                                      </p:cBhvr>
                                    </p:animEffect>
                                    <p:anim calcmode="lin" valueType="num">
                                      <p:cBhvr>
                                        <p:cTn id="23" dur="700" fill="hold" decel="100000"/>
                                        <p:tgtEl>
                                          <p:spTgt spid="16"/>
                                        </p:tgtEl>
                                        <p:attrNameLst>
                                          <p:attrName>ppt_x</p:attrName>
                                        </p:attrNameLst>
                                      </p:cBhvr>
                                      <p:tavLst>
                                        <p:tav tm="0">
                                          <p:val>
                                            <p:strVal val="#ppt_x"/>
                                          </p:val>
                                        </p:tav>
                                        <p:tav tm="100000">
                                          <p:val>
                                            <p:strVal val="#ppt_x"/>
                                          </p:val>
                                        </p:tav>
                                      </p:tavLst>
                                    </p:anim>
                                    <p:anim calcmode="lin" valueType="num">
                                      <p:cBhvr>
                                        <p:cTn id="24" dur="700" fill="hold" decel="100000"/>
                                        <p:tgtEl>
                                          <p:spTgt spid="16"/>
                                        </p:tgtEl>
                                        <p:attrNameLst>
                                          <p:attrName>ppt_y</p:attrName>
                                        </p:attrNameLst>
                                      </p:cBhvr>
                                      <p:tavLst>
                                        <p:tav tm="0">
                                          <p:val>
                                            <p:strVal val="#ppt_y+.04"/>
                                          </p:val>
                                        </p:tav>
                                        <p:tav tm="100000">
                                          <p:val>
                                            <p:strVal val="#ppt_y"/>
                                          </p:val>
                                        </p:tav>
                                      </p:tavLst>
                                    </p:anim>
                                  </p:childTnLst>
                                </p:cTn>
                              </p:par>
                              <p:par>
                                <p:cTn id="25" presetID="42" presetClass="entr" presetSubtype="0" fill="hold" grpId="0" nodeType="withEffect">
                                  <p:stCondLst>
                                    <p:cond delay="15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700"/>
                                        <p:tgtEl>
                                          <p:spTgt spid="17"/>
                                        </p:tgtEl>
                                      </p:cBhvr>
                                    </p:animEffect>
                                    <p:anim calcmode="lin" valueType="num">
                                      <p:cBhvr>
                                        <p:cTn id="28" dur="700" fill="hold" decel="100000"/>
                                        <p:tgtEl>
                                          <p:spTgt spid="17"/>
                                        </p:tgtEl>
                                        <p:attrNameLst>
                                          <p:attrName>ppt_x</p:attrName>
                                        </p:attrNameLst>
                                      </p:cBhvr>
                                      <p:tavLst>
                                        <p:tav tm="0">
                                          <p:val>
                                            <p:strVal val="#ppt_x"/>
                                          </p:val>
                                        </p:tav>
                                        <p:tav tm="100000">
                                          <p:val>
                                            <p:strVal val="#ppt_x"/>
                                          </p:val>
                                        </p:tav>
                                      </p:tavLst>
                                    </p:anim>
                                    <p:anim calcmode="lin" valueType="num">
                                      <p:cBhvr>
                                        <p:cTn id="29" dur="700" fill="hold" decel="100000"/>
                                        <p:tgtEl>
                                          <p:spTgt spid="17"/>
                                        </p:tgtEl>
                                        <p:attrNameLst>
                                          <p:attrName>ppt_y</p:attrName>
                                        </p:attrNameLst>
                                      </p:cBhvr>
                                      <p:tavLst>
                                        <p:tav tm="0">
                                          <p:val>
                                            <p:strVal val="#ppt_y+.04"/>
                                          </p:val>
                                        </p:tav>
                                        <p:tav tm="100000">
                                          <p:val>
                                            <p:strVal val="#ppt_y"/>
                                          </p:val>
                                        </p:tav>
                                      </p:tavLst>
                                    </p:anim>
                                  </p:childTnLst>
                                </p:cTn>
                              </p:par>
                              <p:par>
                                <p:cTn id="30" presetID="42" presetClass="entr" presetSubtype="0" fill="hold" grpId="0" nodeType="withEffect">
                                  <p:stCondLst>
                                    <p:cond delay="15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700"/>
                                        <p:tgtEl>
                                          <p:spTgt spid="18"/>
                                        </p:tgtEl>
                                      </p:cBhvr>
                                    </p:animEffect>
                                    <p:anim calcmode="lin" valueType="num">
                                      <p:cBhvr>
                                        <p:cTn id="33" dur="700" fill="hold" decel="100000"/>
                                        <p:tgtEl>
                                          <p:spTgt spid="18"/>
                                        </p:tgtEl>
                                        <p:attrNameLst>
                                          <p:attrName>ppt_x</p:attrName>
                                        </p:attrNameLst>
                                      </p:cBhvr>
                                      <p:tavLst>
                                        <p:tav tm="0">
                                          <p:val>
                                            <p:strVal val="#ppt_x"/>
                                          </p:val>
                                        </p:tav>
                                        <p:tav tm="100000">
                                          <p:val>
                                            <p:strVal val="#ppt_x"/>
                                          </p:val>
                                        </p:tav>
                                      </p:tavLst>
                                    </p:anim>
                                    <p:anim calcmode="lin" valueType="num">
                                      <p:cBhvr>
                                        <p:cTn id="34" dur="700" fill="hold" decel="100000"/>
                                        <p:tgtEl>
                                          <p:spTgt spid="18"/>
                                        </p:tgtEl>
                                        <p:attrNameLst>
                                          <p:attrName>ppt_y</p:attrName>
                                        </p:attrNameLst>
                                      </p:cBhvr>
                                      <p:tavLst>
                                        <p:tav tm="0">
                                          <p:val>
                                            <p:strVal val="#ppt_y+.04"/>
                                          </p:val>
                                        </p:tav>
                                        <p:tav tm="100000">
                                          <p:val>
                                            <p:strVal val="#ppt_y"/>
                                          </p:val>
                                        </p:tav>
                                      </p:tavLst>
                                    </p:anim>
                                  </p:childTnLst>
                                </p:cTn>
                              </p:par>
                              <p:par>
                                <p:cTn id="35" presetID="42" presetClass="entr" presetSubtype="0" fill="hold" grpId="0" nodeType="withEffect">
                                  <p:stCondLst>
                                    <p:cond delay="15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700"/>
                                        <p:tgtEl>
                                          <p:spTgt spid="19"/>
                                        </p:tgtEl>
                                      </p:cBhvr>
                                    </p:animEffect>
                                    <p:anim calcmode="lin" valueType="num">
                                      <p:cBhvr>
                                        <p:cTn id="38" dur="700" fill="hold" decel="100000"/>
                                        <p:tgtEl>
                                          <p:spTgt spid="19"/>
                                        </p:tgtEl>
                                        <p:attrNameLst>
                                          <p:attrName>ppt_x</p:attrName>
                                        </p:attrNameLst>
                                      </p:cBhvr>
                                      <p:tavLst>
                                        <p:tav tm="0">
                                          <p:val>
                                            <p:strVal val="#ppt_x"/>
                                          </p:val>
                                        </p:tav>
                                        <p:tav tm="100000">
                                          <p:val>
                                            <p:strVal val="#ppt_x"/>
                                          </p:val>
                                        </p:tav>
                                      </p:tavLst>
                                    </p:anim>
                                    <p:anim calcmode="lin" valueType="num">
                                      <p:cBhvr>
                                        <p:cTn id="39" dur="700" fill="hold" decel="100000"/>
                                        <p:tgtEl>
                                          <p:spTgt spid="19"/>
                                        </p:tgtEl>
                                        <p:attrNameLst>
                                          <p:attrName>ppt_y</p:attrName>
                                        </p:attrNameLst>
                                      </p:cBhvr>
                                      <p:tavLst>
                                        <p:tav tm="0">
                                          <p:val>
                                            <p:strVal val="#ppt_y+.04"/>
                                          </p:val>
                                        </p:tav>
                                        <p:tav tm="100000">
                                          <p:val>
                                            <p:strVal val="#ppt_y"/>
                                          </p:val>
                                        </p:tav>
                                      </p:tavLst>
                                    </p:anim>
                                  </p:childTnLst>
                                </p:cTn>
                              </p:par>
                              <p:par>
                                <p:cTn id="40" presetID="42" presetClass="entr" presetSubtype="0" fill="hold" grpId="0" nodeType="withEffect">
                                  <p:stCondLst>
                                    <p:cond delay="15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700"/>
                                        <p:tgtEl>
                                          <p:spTgt spid="20"/>
                                        </p:tgtEl>
                                      </p:cBhvr>
                                    </p:animEffect>
                                    <p:anim calcmode="lin" valueType="num">
                                      <p:cBhvr>
                                        <p:cTn id="43" dur="700" fill="hold" decel="100000"/>
                                        <p:tgtEl>
                                          <p:spTgt spid="20"/>
                                        </p:tgtEl>
                                        <p:attrNameLst>
                                          <p:attrName>ppt_x</p:attrName>
                                        </p:attrNameLst>
                                      </p:cBhvr>
                                      <p:tavLst>
                                        <p:tav tm="0">
                                          <p:val>
                                            <p:strVal val="#ppt_x"/>
                                          </p:val>
                                        </p:tav>
                                        <p:tav tm="100000">
                                          <p:val>
                                            <p:strVal val="#ppt_x"/>
                                          </p:val>
                                        </p:tav>
                                      </p:tavLst>
                                    </p:anim>
                                    <p:anim calcmode="lin" valueType="num">
                                      <p:cBhvr>
                                        <p:cTn id="44" dur="700" fill="hold" decel="100000"/>
                                        <p:tgtEl>
                                          <p:spTgt spid="20"/>
                                        </p:tgtEl>
                                        <p:attrNameLst>
                                          <p:attrName>ppt_y</p:attrName>
                                        </p:attrNameLst>
                                      </p:cBhvr>
                                      <p:tavLst>
                                        <p:tav tm="0">
                                          <p:val>
                                            <p:strVal val="#ppt_y+.04"/>
                                          </p:val>
                                        </p:tav>
                                        <p:tav tm="100000">
                                          <p:val>
                                            <p:strVal val="#ppt_y"/>
                                          </p:val>
                                        </p:tav>
                                      </p:tavLst>
                                    </p:anim>
                                  </p:childTnLst>
                                </p:cTn>
                              </p:par>
                              <p:par>
                                <p:cTn id="45" presetID="42" presetClass="entr" presetSubtype="0" fill="hold" grpId="0" nodeType="withEffect">
                                  <p:stCondLst>
                                    <p:cond delay="15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700"/>
                                        <p:tgtEl>
                                          <p:spTgt spid="21"/>
                                        </p:tgtEl>
                                      </p:cBhvr>
                                    </p:animEffect>
                                    <p:anim calcmode="lin" valueType="num">
                                      <p:cBhvr>
                                        <p:cTn id="48" dur="700" fill="hold" decel="100000"/>
                                        <p:tgtEl>
                                          <p:spTgt spid="21"/>
                                        </p:tgtEl>
                                        <p:attrNameLst>
                                          <p:attrName>ppt_x</p:attrName>
                                        </p:attrNameLst>
                                      </p:cBhvr>
                                      <p:tavLst>
                                        <p:tav tm="0">
                                          <p:val>
                                            <p:strVal val="#ppt_x"/>
                                          </p:val>
                                        </p:tav>
                                        <p:tav tm="100000">
                                          <p:val>
                                            <p:strVal val="#ppt_x"/>
                                          </p:val>
                                        </p:tav>
                                      </p:tavLst>
                                    </p:anim>
                                    <p:anim calcmode="lin" valueType="num">
                                      <p:cBhvr>
                                        <p:cTn id="49" dur="700" fill="hold" decel="100000"/>
                                        <p:tgtEl>
                                          <p:spTgt spid="21"/>
                                        </p:tgtEl>
                                        <p:attrNameLst>
                                          <p:attrName>ppt_y</p:attrName>
                                        </p:attrNameLst>
                                      </p:cBhvr>
                                      <p:tavLst>
                                        <p:tav tm="0">
                                          <p:val>
                                            <p:strVal val="#ppt_y+.04"/>
                                          </p:val>
                                        </p:tav>
                                        <p:tav tm="100000">
                                          <p:val>
                                            <p:strVal val="#ppt_y"/>
                                          </p:val>
                                        </p:tav>
                                      </p:tavLst>
                                    </p:anim>
                                  </p:childTnLst>
                                </p:cTn>
                              </p:par>
                              <p:par>
                                <p:cTn id="50" presetID="42" presetClass="entr" presetSubtype="0" fill="hold" grpId="0" nodeType="withEffect">
                                  <p:stCondLst>
                                    <p:cond delay="15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700"/>
                                        <p:tgtEl>
                                          <p:spTgt spid="22"/>
                                        </p:tgtEl>
                                      </p:cBhvr>
                                    </p:animEffect>
                                    <p:anim calcmode="lin" valueType="num">
                                      <p:cBhvr>
                                        <p:cTn id="53" dur="700" fill="hold" decel="100000"/>
                                        <p:tgtEl>
                                          <p:spTgt spid="22"/>
                                        </p:tgtEl>
                                        <p:attrNameLst>
                                          <p:attrName>ppt_x</p:attrName>
                                        </p:attrNameLst>
                                      </p:cBhvr>
                                      <p:tavLst>
                                        <p:tav tm="0">
                                          <p:val>
                                            <p:strVal val="#ppt_x"/>
                                          </p:val>
                                        </p:tav>
                                        <p:tav tm="100000">
                                          <p:val>
                                            <p:strVal val="#ppt_x"/>
                                          </p:val>
                                        </p:tav>
                                      </p:tavLst>
                                    </p:anim>
                                    <p:anim calcmode="lin" valueType="num">
                                      <p:cBhvr>
                                        <p:cTn id="54" dur="700" fill="hold" decel="100000"/>
                                        <p:tgtEl>
                                          <p:spTgt spid="22"/>
                                        </p:tgtEl>
                                        <p:attrNameLst>
                                          <p:attrName>ppt_y</p:attrName>
                                        </p:attrNameLst>
                                      </p:cBhvr>
                                      <p:tavLst>
                                        <p:tav tm="0">
                                          <p:val>
                                            <p:strVal val="#ppt_y+.04"/>
                                          </p:val>
                                        </p:tav>
                                        <p:tav tm="100000">
                                          <p:val>
                                            <p:strVal val="#ppt_y"/>
                                          </p:val>
                                        </p:tav>
                                      </p:tavLst>
                                    </p:anim>
                                  </p:childTnLst>
                                </p:cTn>
                              </p:par>
                            </p:childTnLst>
                          </p:cTn>
                        </p:par>
                        <p:par>
                          <p:cTn id="55" fill="hold">
                            <p:stCondLst>
                              <p:cond delay="2150"/>
                            </p:stCondLst>
                            <p:childTnLst>
                              <p:par>
                                <p:cTn id="56" presetID="42" presetClass="entr" presetSubtype="0" fill="hold" grpId="0" nodeType="afterEffect">
                                  <p:stCondLst>
                                    <p:cond delay="15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700"/>
                                        <p:tgtEl>
                                          <p:spTgt spid="23"/>
                                        </p:tgtEl>
                                      </p:cBhvr>
                                    </p:animEffect>
                                    <p:anim calcmode="lin" valueType="num">
                                      <p:cBhvr>
                                        <p:cTn id="59" dur="700" fill="hold" decel="100000"/>
                                        <p:tgtEl>
                                          <p:spTgt spid="23"/>
                                        </p:tgtEl>
                                        <p:attrNameLst>
                                          <p:attrName>ppt_x</p:attrName>
                                        </p:attrNameLst>
                                      </p:cBhvr>
                                      <p:tavLst>
                                        <p:tav tm="0">
                                          <p:val>
                                            <p:strVal val="#ppt_x"/>
                                          </p:val>
                                        </p:tav>
                                        <p:tav tm="100000">
                                          <p:val>
                                            <p:strVal val="#ppt_x"/>
                                          </p:val>
                                        </p:tav>
                                      </p:tavLst>
                                    </p:anim>
                                    <p:anim calcmode="lin" valueType="num">
                                      <p:cBhvr>
                                        <p:cTn id="60" dur="700" fill="hold" decel="100000"/>
                                        <p:tgtEl>
                                          <p:spTgt spid="23"/>
                                        </p:tgtEl>
                                        <p:attrNameLst>
                                          <p:attrName>ppt_y</p:attrName>
                                        </p:attrNameLst>
                                      </p:cBhvr>
                                      <p:tavLst>
                                        <p:tav tm="0">
                                          <p:val>
                                            <p:strVal val="#ppt_y+.04"/>
                                          </p:val>
                                        </p:tav>
                                        <p:tav tm="100000">
                                          <p:val>
                                            <p:strVal val="#ppt_y"/>
                                          </p:val>
                                        </p:tav>
                                      </p:tavLst>
                                    </p:anim>
                                  </p:childTnLst>
                                </p:cTn>
                              </p:par>
                              <p:par>
                                <p:cTn id="61" presetID="42" presetClass="entr" presetSubtype="0" fill="hold" grpId="0" nodeType="withEffect">
                                  <p:stCondLst>
                                    <p:cond delay="15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700"/>
                                        <p:tgtEl>
                                          <p:spTgt spid="24"/>
                                        </p:tgtEl>
                                      </p:cBhvr>
                                    </p:animEffect>
                                    <p:anim calcmode="lin" valueType="num">
                                      <p:cBhvr>
                                        <p:cTn id="64" dur="700" fill="hold" decel="100000"/>
                                        <p:tgtEl>
                                          <p:spTgt spid="24"/>
                                        </p:tgtEl>
                                        <p:attrNameLst>
                                          <p:attrName>ppt_x</p:attrName>
                                        </p:attrNameLst>
                                      </p:cBhvr>
                                      <p:tavLst>
                                        <p:tav tm="0">
                                          <p:val>
                                            <p:strVal val="#ppt_x"/>
                                          </p:val>
                                        </p:tav>
                                        <p:tav tm="100000">
                                          <p:val>
                                            <p:strVal val="#ppt_x"/>
                                          </p:val>
                                        </p:tav>
                                      </p:tavLst>
                                    </p:anim>
                                    <p:anim calcmode="lin" valueType="num">
                                      <p:cBhvr>
                                        <p:cTn id="65" dur="700" fill="hold" decel="100000"/>
                                        <p:tgtEl>
                                          <p:spTgt spid="24"/>
                                        </p:tgtEl>
                                        <p:attrNameLst>
                                          <p:attrName>ppt_y</p:attrName>
                                        </p:attrNameLst>
                                      </p:cBhvr>
                                      <p:tavLst>
                                        <p:tav tm="0">
                                          <p:val>
                                            <p:strVal val="#ppt_y+.04"/>
                                          </p:val>
                                        </p:tav>
                                        <p:tav tm="100000">
                                          <p:val>
                                            <p:strVal val="#ppt_y"/>
                                          </p:val>
                                        </p:tav>
                                      </p:tavLst>
                                    </p:anim>
                                  </p:childTnLst>
                                </p:cTn>
                              </p:par>
                              <p:par>
                                <p:cTn id="66" presetID="42" presetClass="entr" presetSubtype="0" fill="hold" grpId="0" nodeType="withEffect">
                                  <p:stCondLst>
                                    <p:cond delay="15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700"/>
                                        <p:tgtEl>
                                          <p:spTgt spid="25"/>
                                        </p:tgtEl>
                                      </p:cBhvr>
                                    </p:animEffect>
                                    <p:anim calcmode="lin" valueType="num">
                                      <p:cBhvr>
                                        <p:cTn id="69" dur="700" fill="hold" decel="100000"/>
                                        <p:tgtEl>
                                          <p:spTgt spid="25"/>
                                        </p:tgtEl>
                                        <p:attrNameLst>
                                          <p:attrName>ppt_x</p:attrName>
                                        </p:attrNameLst>
                                      </p:cBhvr>
                                      <p:tavLst>
                                        <p:tav tm="0">
                                          <p:val>
                                            <p:strVal val="#ppt_x"/>
                                          </p:val>
                                        </p:tav>
                                        <p:tav tm="100000">
                                          <p:val>
                                            <p:strVal val="#ppt_x"/>
                                          </p:val>
                                        </p:tav>
                                      </p:tavLst>
                                    </p:anim>
                                    <p:anim calcmode="lin" valueType="num">
                                      <p:cBhvr>
                                        <p:cTn id="70" dur="700" fill="hold" decel="100000"/>
                                        <p:tgtEl>
                                          <p:spTgt spid="25"/>
                                        </p:tgtEl>
                                        <p:attrNameLst>
                                          <p:attrName>ppt_y</p:attrName>
                                        </p:attrNameLst>
                                      </p:cBhvr>
                                      <p:tavLst>
                                        <p:tav tm="0">
                                          <p:val>
                                            <p:strVal val="#ppt_y+.04"/>
                                          </p:val>
                                        </p:tav>
                                        <p:tav tm="100000">
                                          <p:val>
                                            <p:strVal val="#ppt_y"/>
                                          </p:val>
                                        </p:tav>
                                      </p:tavLst>
                                    </p:anim>
                                  </p:childTnLst>
                                </p:cTn>
                              </p:par>
                              <p:par>
                                <p:cTn id="71" presetID="42" presetClass="entr" presetSubtype="0" fill="hold" grpId="0" nodeType="withEffect">
                                  <p:stCondLst>
                                    <p:cond delay="15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700"/>
                                        <p:tgtEl>
                                          <p:spTgt spid="26"/>
                                        </p:tgtEl>
                                      </p:cBhvr>
                                    </p:animEffect>
                                    <p:anim calcmode="lin" valueType="num">
                                      <p:cBhvr>
                                        <p:cTn id="74" dur="700" fill="hold" decel="100000"/>
                                        <p:tgtEl>
                                          <p:spTgt spid="26"/>
                                        </p:tgtEl>
                                        <p:attrNameLst>
                                          <p:attrName>ppt_x</p:attrName>
                                        </p:attrNameLst>
                                      </p:cBhvr>
                                      <p:tavLst>
                                        <p:tav tm="0">
                                          <p:val>
                                            <p:strVal val="#ppt_x"/>
                                          </p:val>
                                        </p:tav>
                                        <p:tav tm="100000">
                                          <p:val>
                                            <p:strVal val="#ppt_x"/>
                                          </p:val>
                                        </p:tav>
                                      </p:tavLst>
                                    </p:anim>
                                    <p:anim calcmode="lin" valueType="num">
                                      <p:cBhvr>
                                        <p:cTn id="75" dur="700" fill="hold" decel="100000"/>
                                        <p:tgtEl>
                                          <p:spTgt spid="26"/>
                                        </p:tgtEl>
                                        <p:attrNameLst>
                                          <p:attrName>ppt_y</p:attrName>
                                        </p:attrNameLst>
                                      </p:cBhvr>
                                      <p:tavLst>
                                        <p:tav tm="0">
                                          <p:val>
                                            <p:strVal val="#ppt_y+.04"/>
                                          </p:val>
                                        </p:tav>
                                        <p:tav tm="100000">
                                          <p:val>
                                            <p:strVal val="#ppt_y"/>
                                          </p:val>
                                        </p:tav>
                                      </p:tavLst>
                                    </p:anim>
                                  </p:childTnLst>
                                </p:cTn>
                              </p:par>
                              <p:par>
                                <p:cTn id="76" presetID="42" presetClass="entr" presetSubtype="0" fill="hold" grpId="0" nodeType="withEffect">
                                  <p:stCondLst>
                                    <p:cond delay="15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700"/>
                                        <p:tgtEl>
                                          <p:spTgt spid="27"/>
                                        </p:tgtEl>
                                      </p:cBhvr>
                                    </p:animEffect>
                                    <p:anim calcmode="lin" valueType="num">
                                      <p:cBhvr>
                                        <p:cTn id="79" dur="700" fill="hold" decel="100000"/>
                                        <p:tgtEl>
                                          <p:spTgt spid="27"/>
                                        </p:tgtEl>
                                        <p:attrNameLst>
                                          <p:attrName>ppt_x</p:attrName>
                                        </p:attrNameLst>
                                      </p:cBhvr>
                                      <p:tavLst>
                                        <p:tav tm="0">
                                          <p:val>
                                            <p:strVal val="#ppt_x"/>
                                          </p:val>
                                        </p:tav>
                                        <p:tav tm="100000">
                                          <p:val>
                                            <p:strVal val="#ppt_x"/>
                                          </p:val>
                                        </p:tav>
                                      </p:tavLst>
                                    </p:anim>
                                    <p:anim calcmode="lin" valueType="num">
                                      <p:cBhvr>
                                        <p:cTn id="80" dur="700" fill="hold" decel="100000"/>
                                        <p:tgtEl>
                                          <p:spTgt spid="27"/>
                                        </p:tgtEl>
                                        <p:attrNameLst>
                                          <p:attrName>ppt_y</p:attrName>
                                        </p:attrNameLst>
                                      </p:cBhvr>
                                      <p:tavLst>
                                        <p:tav tm="0">
                                          <p:val>
                                            <p:strVal val="#ppt_y+.04"/>
                                          </p:val>
                                        </p:tav>
                                        <p:tav tm="100000">
                                          <p:val>
                                            <p:strVal val="#ppt_y"/>
                                          </p:val>
                                        </p:tav>
                                      </p:tavLst>
                                    </p:anim>
                                  </p:childTnLst>
                                </p:cTn>
                              </p:par>
                              <p:par>
                                <p:cTn id="81" presetID="42" presetClass="entr" presetSubtype="0" fill="hold" grpId="0" nodeType="withEffect">
                                  <p:stCondLst>
                                    <p:cond delay="150"/>
                                  </p:stCondLst>
                                  <p:childTnLst>
                                    <p:set>
                                      <p:cBhvr>
                                        <p:cTn id="82" dur="1" fill="hold">
                                          <p:stCondLst>
                                            <p:cond delay="0"/>
                                          </p:stCondLst>
                                        </p:cTn>
                                        <p:tgtEl>
                                          <p:spTgt spid="28"/>
                                        </p:tgtEl>
                                        <p:attrNameLst>
                                          <p:attrName>style.visibility</p:attrName>
                                        </p:attrNameLst>
                                      </p:cBhvr>
                                      <p:to>
                                        <p:strVal val="visible"/>
                                      </p:to>
                                    </p:set>
                                    <p:animEffect transition="in" filter="fade">
                                      <p:cBhvr>
                                        <p:cTn id="83" dur="700"/>
                                        <p:tgtEl>
                                          <p:spTgt spid="28"/>
                                        </p:tgtEl>
                                      </p:cBhvr>
                                    </p:animEffect>
                                    <p:anim calcmode="lin" valueType="num">
                                      <p:cBhvr>
                                        <p:cTn id="84" dur="700" fill="hold" decel="100000"/>
                                        <p:tgtEl>
                                          <p:spTgt spid="28"/>
                                        </p:tgtEl>
                                        <p:attrNameLst>
                                          <p:attrName>ppt_x</p:attrName>
                                        </p:attrNameLst>
                                      </p:cBhvr>
                                      <p:tavLst>
                                        <p:tav tm="0">
                                          <p:val>
                                            <p:strVal val="#ppt_x"/>
                                          </p:val>
                                        </p:tav>
                                        <p:tav tm="100000">
                                          <p:val>
                                            <p:strVal val="#ppt_x"/>
                                          </p:val>
                                        </p:tav>
                                      </p:tavLst>
                                    </p:anim>
                                    <p:anim calcmode="lin" valueType="num">
                                      <p:cBhvr>
                                        <p:cTn id="85" dur="700" fill="hold" decel="100000"/>
                                        <p:tgtEl>
                                          <p:spTgt spid="28"/>
                                        </p:tgtEl>
                                        <p:attrNameLst>
                                          <p:attrName>ppt_y</p:attrName>
                                        </p:attrNameLst>
                                      </p:cBhvr>
                                      <p:tavLst>
                                        <p:tav tm="0">
                                          <p:val>
                                            <p:strVal val="#ppt_y+.04"/>
                                          </p:val>
                                        </p:tav>
                                        <p:tav tm="100000">
                                          <p:val>
                                            <p:strVal val="#ppt_y"/>
                                          </p:val>
                                        </p:tav>
                                      </p:tavLst>
                                    </p:anim>
                                  </p:childTnLst>
                                </p:cTn>
                              </p:par>
                              <p:par>
                                <p:cTn id="86" presetID="42" presetClass="entr" presetSubtype="0" fill="hold" grpId="0" nodeType="withEffect">
                                  <p:stCondLst>
                                    <p:cond delay="150"/>
                                  </p:stCondLst>
                                  <p:childTnLst>
                                    <p:set>
                                      <p:cBhvr>
                                        <p:cTn id="87" dur="1" fill="hold">
                                          <p:stCondLst>
                                            <p:cond delay="0"/>
                                          </p:stCondLst>
                                        </p:cTn>
                                        <p:tgtEl>
                                          <p:spTgt spid="29"/>
                                        </p:tgtEl>
                                        <p:attrNameLst>
                                          <p:attrName>style.visibility</p:attrName>
                                        </p:attrNameLst>
                                      </p:cBhvr>
                                      <p:to>
                                        <p:strVal val="visible"/>
                                      </p:to>
                                    </p:set>
                                    <p:animEffect transition="in" filter="fade">
                                      <p:cBhvr>
                                        <p:cTn id="88" dur="700"/>
                                        <p:tgtEl>
                                          <p:spTgt spid="29"/>
                                        </p:tgtEl>
                                      </p:cBhvr>
                                    </p:animEffect>
                                    <p:anim calcmode="lin" valueType="num">
                                      <p:cBhvr>
                                        <p:cTn id="89" dur="700" fill="hold" decel="100000"/>
                                        <p:tgtEl>
                                          <p:spTgt spid="29"/>
                                        </p:tgtEl>
                                        <p:attrNameLst>
                                          <p:attrName>ppt_x</p:attrName>
                                        </p:attrNameLst>
                                      </p:cBhvr>
                                      <p:tavLst>
                                        <p:tav tm="0">
                                          <p:val>
                                            <p:strVal val="#ppt_x"/>
                                          </p:val>
                                        </p:tav>
                                        <p:tav tm="100000">
                                          <p:val>
                                            <p:strVal val="#ppt_x"/>
                                          </p:val>
                                        </p:tav>
                                      </p:tavLst>
                                    </p:anim>
                                    <p:anim calcmode="lin" valueType="num">
                                      <p:cBhvr>
                                        <p:cTn id="90" dur="700" fill="hold" decel="100000"/>
                                        <p:tgtEl>
                                          <p:spTgt spid="29"/>
                                        </p:tgtEl>
                                        <p:attrNameLst>
                                          <p:attrName>ppt_y</p:attrName>
                                        </p:attrNameLst>
                                      </p:cBhvr>
                                      <p:tavLst>
                                        <p:tav tm="0">
                                          <p:val>
                                            <p:strVal val="#ppt_y+.04"/>
                                          </p:val>
                                        </p:tav>
                                        <p:tav tm="100000">
                                          <p:val>
                                            <p:strVal val="#ppt_y"/>
                                          </p:val>
                                        </p:tav>
                                      </p:tavLst>
                                    </p:anim>
                                  </p:childTnLst>
                                </p:cTn>
                              </p:par>
                            </p:childTnLst>
                          </p:cTn>
                        </p:par>
                        <p:par>
                          <p:cTn id="91" fill="hold">
                            <p:stCondLst>
                              <p:cond delay="3000"/>
                            </p:stCondLst>
                            <p:childTnLst>
                              <p:par>
                                <p:cTn id="92" presetID="42" presetClass="entr" presetSubtype="0" fill="hold" grpId="0" nodeType="afterEffect">
                                  <p:stCondLst>
                                    <p:cond delay="150"/>
                                  </p:stCondLst>
                                  <p:childTnLst>
                                    <p:set>
                                      <p:cBhvr>
                                        <p:cTn id="93" dur="1" fill="hold">
                                          <p:stCondLst>
                                            <p:cond delay="0"/>
                                          </p:stCondLst>
                                        </p:cTn>
                                        <p:tgtEl>
                                          <p:spTgt spid="30"/>
                                        </p:tgtEl>
                                        <p:attrNameLst>
                                          <p:attrName>style.visibility</p:attrName>
                                        </p:attrNameLst>
                                      </p:cBhvr>
                                      <p:to>
                                        <p:strVal val="visible"/>
                                      </p:to>
                                    </p:set>
                                    <p:animEffect transition="in" filter="fade">
                                      <p:cBhvr>
                                        <p:cTn id="94" dur="700"/>
                                        <p:tgtEl>
                                          <p:spTgt spid="30"/>
                                        </p:tgtEl>
                                      </p:cBhvr>
                                    </p:animEffect>
                                    <p:anim calcmode="lin" valueType="num">
                                      <p:cBhvr>
                                        <p:cTn id="95" dur="700" fill="hold" decel="100000"/>
                                        <p:tgtEl>
                                          <p:spTgt spid="30"/>
                                        </p:tgtEl>
                                        <p:attrNameLst>
                                          <p:attrName>ppt_x</p:attrName>
                                        </p:attrNameLst>
                                      </p:cBhvr>
                                      <p:tavLst>
                                        <p:tav tm="0">
                                          <p:val>
                                            <p:strVal val="#ppt_x"/>
                                          </p:val>
                                        </p:tav>
                                        <p:tav tm="100000">
                                          <p:val>
                                            <p:strVal val="#ppt_x"/>
                                          </p:val>
                                        </p:tav>
                                      </p:tavLst>
                                    </p:anim>
                                    <p:anim calcmode="lin" valueType="num">
                                      <p:cBhvr>
                                        <p:cTn id="96" dur="700" fill="hold" decel="100000"/>
                                        <p:tgtEl>
                                          <p:spTgt spid="30"/>
                                        </p:tgtEl>
                                        <p:attrNameLst>
                                          <p:attrName>ppt_y</p:attrName>
                                        </p:attrNameLst>
                                      </p:cBhvr>
                                      <p:tavLst>
                                        <p:tav tm="0">
                                          <p:val>
                                            <p:strVal val="#ppt_y+.04"/>
                                          </p:val>
                                        </p:tav>
                                        <p:tav tm="100000">
                                          <p:val>
                                            <p:strVal val="#ppt_y"/>
                                          </p:val>
                                        </p:tav>
                                      </p:tavLst>
                                    </p:anim>
                                  </p:childTnLst>
                                </p:cTn>
                              </p:par>
                              <p:par>
                                <p:cTn id="97" presetID="42" presetClass="entr" presetSubtype="0" fill="hold" grpId="0" nodeType="withEffect">
                                  <p:stCondLst>
                                    <p:cond delay="150"/>
                                  </p:stCondLst>
                                  <p:childTnLst>
                                    <p:set>
                                      <p:cBhvr>
                                        <p:cTn id="98" dur="1" fill="hold">
                                          <p:stCondLst>
                                            <p:cond delay="0"/>
                                          </p:stCondLst>
                                        </p:cTn>
                                        <p:tgtEl>
                                          <p:spTgt spid="31"/>
                                        </p:tgtEl>
                                        <p:attrNameLst>
                                          <p:attrName>style.visibility</p:attrName>
                                        </p:attrNameLst>
                                      </p:cBhvr>
                                      <p:to>
                                        <p:strVal val="visible"/>
                                      </p:to>
                                    </p:set>
                                    <p:animEffect transition="in" filter="fade">
                                      <p:cBhvr>
                                        <p:cTn id="99" dur="700"/>
                                        <p:tgtEl>
                                          <p:spTgt spid="31"/>
                                        </p:tgtEl>
                                      </p:cBhvr>
                                    </p:animEffect>
                                    <p:anim calcmode="lin" valueType="num">
                                      <p:cBhvr>
                                        <p:cTn id="100" dur="700" fill="hold" decel="100000"/>
                                        <p:tgtEl>
                                          <p:spTgt spid="31"/>
                                        </p:tgtEl>
                                        <p:attrNameLst>
                                          <p:attrName>ppt_x</p:attrName>
                                        </p:attrNameLst>
                                      </p:cBhvr>
                                      <p:tavLst>
                                        <p:tav tm="0">
                                          <p:val>
                                            <p:strVal val="#ppt_x"/>
                                          </p:val>
                                        </p:tav>
                                        <p:tav tm="100000">
                                          <p:val>
                                            <p:strVal val="#ppt_x"/>
                                          </p:val>
                                        </p:tav>
                                      </p:tavLst>
                                    </p:anim>
                                    <p:anim calcmode="lin" valueType="num">
                                      <p:cBhvr>
                                        <p:cTn id="101" dur="700" fill="hold" decel="100000"/>
                                        <p:tgtEl>
                                          <p:spTgt spid="31"/>
                                        </p:tgtEl>
                                        <p:attrNameLst>
                                          <p:attrName>ppt_y</p:attrName>
                                        </p:attrNameLst>
                                      </p:cBhvr>
                                      <p:tavLst>
                                        <p:tav tm="0">
                                          <p:val>
                                            <p:strVal val="#ppt_y+.04"/>
                                          </p:val>
                                        </p:tav>
                                        <p:tav tm="100000">
                                          <p:val>
                                            <p:strVal val="#ppt_y"/>
                                          </p:val>
                                        </p:tav>
                                      </p:tavLst>
                                    </p:anim>
                                  </p:childTnLst>
                                </p:cTn>
                              </p:par>
                              <p:par>
                                <p:cTn id="102" presetID="42" presetClass="entr" presetSubtype="0" fill="hold" grpId="0" nodeType="withEffect">
                                  <p:stCondLst>
                                    <p:cond delay="150"/>
                                  </p:stCondLst>
                                  <p:childTnLst>
                                    <p:set>
                                      <p:cBhvr>
                                        <p:cTn id="103" dur="1" fill="hold">
                                          <p:stCondLst>
                                            <p:cond delay="0"/>
                                          </p:stCondLst>
                                        </p:cTn>
                                        <p:tgtEl>
                                          <p:spTgt spid="32"/>
                                        </p:tgtEl>
                                        <p:attrNameLst>
                                          <p:attrName>style.visibility</p:attrName>
                                        </p:attrNameLst>
                                      </p:cBhvr>
                                      <p:to>
                                        <p:strVal val="visible"/>
                                      </p:to>
                                    </p:set>
                                    <p:animEffect transition="in" filter="fade">
                                      <p:cBhvr>
                                        <p:cTn id="104" dur="700"/>
                                        <p:tgtEl>
                                          <p:spTgt spid="32"/>
                                        </p:tgtEl>
                                      </p:cBhvr>
                                    </p:animEffect>
                                    <p:anim calcmode="lin" valueType="num">
                                      <p:cBhvr>
                                        <p:cTn id="105" dur="700" fill="hold" decel="100000"/>
                                        <p:tgtEl>
                                          <p:spTgt spid="32"/>
                                        </p:tgtEl>
                                        <p:attrNameLst>
                                          <p:attrName>ppt_x</p:attrName>
                                        </p:attrNameLst>
                                      </p:cBhvr>
                                      <p:tavLst>
                                        <p:tav tm="0">
                                          <p:val>
                                            <p:strVal val="#ppt_x"/>
                                          </p:val>
                                        </p:tav>
                                        <p:tav tm="100000">
                                          <p:val>
                                            <p:strVal val="#ppt_x"/>
                                          </p:val>
                                        </p:tav>
                                      </p:tavLst>
                                    </p:anim>
                                    <p:anim calcmode="lin" valueType="num">
                                      <p:cBhvr>
                                        <p:cTn id="106" dur="700" fill="hold" decel="100000"/>
                                        <p:tgtEl>
                                          <p:spTgt spid="32"/>
                                        </p:tgtEl>
                                        <p:attrNameLst>
                                          <p:attrName>ppt_y</p:attrName>
                                        </p:attrNameLst>
                                      </p:cBhvr>
                                      <p:tavLst>
                                        <p:tav tm="0">
                                          <p:val>
                                            <p:strVal val="#ppt_y+.04"/>
                                          </p:val>
                                        </p:tav>
                                        <p:tav tm="100000">
                                          <p:val>
                                            <p:strVal val="#ppt_y"/>
                                          </p:val>
                                        </p:tav>
                                      </p:tavLst>
                                    </p:anim>
                                  </p:childTnLst>
                                </p:cTn>
                              </p:par>
                              <p:par>
                                <p:cTn id="107" presetID="42" presetClass="entr" presetSubtype="0" fill="hold" grpId="0" nodeType="withEffect">
                                  <p:stCondLst>
                                    <p:cond delay="150"/>
                                  </p:stCondLst>
                                  <p:childTnLst>
                                    <p:set>
                                      <p:cBhvr>
                                        <p:cTn id="108" dur="1" fill="hold">
                                          <p:stCondLst>
                                            <p:cond delay="0"/>
                                          </p:stCondLst>
                                        </p:cTn>
                                        <p:tgtEl>
                                          <p:spTgt spid="33"/>
                                        </p:tgtEl>
                                        <p:attrNameLst>
                                          <p:attrName>style.visibility</p:attrName>
                                        </p:attrNameLst>
                                      </p:cBhvr>
                                      <p:to>
                                        <p:strVal val="visible"/>
                                      </p:to>
                                    </p:set>
                                    <p:animEffect transition="in" filter="fade">
                                      <p:cBhvr>
                                        <p:cTn id="109" dur="700"/>
                                        <p:tgtEl>
                                          <p:spTgt spid="33"/>
                                        </p:tgtEl>
                                      </p:cBhvr>
                                    </p:animEffect>
                                    <p:anim calcmode="lin" valueType="num">
                                      <p:cBhvr>
                                        <p:cTn id="110" dur="700" fill="hold" decel="100000"/>
                                        <p:tgtEl>
                                          <p:spTgt spid="33"/>
                                        </p:tgtEl>
                                        <p:attrNameLst>
                                          <p:attrName>ppt_x</p:attrName>
                                        </p:attrNameLst>
                                      </p:cBhvr>
                                      <p:tavLst>
                                        <p:tav tm="0">
                                          <p:val>
                                            <p:strVal val="#ppt_x"/>
                                          </p:val>
                                        </p:tav>
                                        <p:tav tm="100000">
                                          <p:val>
                                            <p:strVal val="#ppt_x"/>
                                          </p:val>
                                        </p:tav>
                                      </p:tavLst>
                                    </p:anim>
                                    <p:anim calcmode="lin" valueType="num">
                                      <p:cBhvr>
                                        <p:cTn id="111" dur="700" fill="hold" decel="100000"/>
                                        <p:tgtEl>
                                          <p:spTgt spid="33"/>
                                        </p:tgtEl>
                                        <p:attrNameLst>
                                          <p:attrName>ppt_y</p:attrName>
                                        </p:attrNameLst>
                                      </p:cBhvr>
                                      <p:tavLst>
                                        <p:tav tm="0">
                                          <p:val>
                                            <p:strVal val="#ppt_y+.04"/>
                                          </p:val>
                                        </p:tav>
                                        <p:tav tm="100000">
                                          <p:val>
                                            <p:strVal val="#ppt_y"/>
                                          </p:val>
                                        </p:tav>
                                      </p:tavLst>
                                    </p:anim>
                                  </p:childTnLst>
                                </p:cTn>
                              </p:par>
                              <p:par>
                                <p:cTn id="112" presetID="42" presetClass="entr" presetSubtype="0" fill="hold" grpId="0" nodeType="withEffect">
                                  <p:stCondLst>
                                    <p:cond delay="150"/>
                                  </p:stCondLst>
                                  <p:childTnLst>
                                    <p:set>
                                      <p:cBhvr>
                                        <p:cTn id="113" dur="1" fill="hold">
                                          <p:stCondLst>
                                            <p:cond delay="0"/>
                                          </p:stCondLst>
                                        </p:cTn>
                                        <p:tgtEl>
                                          <p:spTgt spid="34"/>
                                        </p:tgtEl>
                                        <p:attrNameLst>
                                          <p:attrName>style.visibility</p:attrName>
                                        </p:attrNameLst>
                                      </p:cBhvr>
                                      <p:to>
                                        <p:strVal val="visible"/>
                                      </p:to>
                                    </p:set>
                                    <p:animEffect transition="in" filter="fade">
                                      <p:cBhvr>
                                        <p:cTn id="114" dur="700"/>
                                        <p:tgtEl>
                                          <p:spTgt spid="34"/>
                                        </p:tgtEl>
                                      </p:cBhvr>
                                    </p:animEffect>
                                    <p:anim calcmode="lin" valueType="num">
                                      <p:cBhvr>
                                        <p:cTn id="115" dur="700" fill="hold" decel="100000"/>
                                        <p:tgtEl>
                                          <p:spTgt spid="34"/>
                                        </p:tgtEl>
                                        <p:attrNameLst>
                                          <p:attrName>ppt_x</p:attrName>
                                        </p:attrNameLst>
                                      </p:cBhvr>
                                      <p:tavLst>
                                        <p:tav tm="0">
                                          <p:val>
                                            <p:strVal val="#ppt_x"/>
                                          </p:val>
                                        </p:tav>
                                        <p:tav tm="100000">
                                          <p:val>
                                            <p:strVal val="#ppt_x"/>
                                          </p:val>
                                        </p:tav>
                                      </p:tavLst>
                                    </p:anim>
                                    <p:anim calcmode="lin" valueType="num">
                                      <p:cBhvr>
                                        <p:cTn id="116" dur="700" fill="hold" decel="100000"/>
                                        <p:tgtEl>
                                          <p:spTgt spid="34"/>
                                        </p:tgtEl>
                                        <p:attrNameLst>
                                          <p:attrName>ppt_y</p:attrName>
                                        </p:attrNameLst>
                                      </p:cBhvr>
                                      <p:tavLst>
                                        <p:tav tm="0">
                                          <p:val>
                                            <p:strVal val="#ppt_y+.04"/>
                                          </p:val>
                                        </p:tav>
                                        <p:tav tm="100000">
                                          <p:val>
                                            <p:strVal val="#ppt_y"/>
                                          </p:val>
                                        </p:tav>
                                      </p:tavLst>
                                    </p:anim>
                                  </p:childTnLst>
                                </p:cTn>
                              </p:par>
                              <p:par>
                                <p:cTn id="117" presetID="42" presetClass="entr" presetSubtype="0" fill="hold" grpId="0" nodeType="withEffect">
                                  <p:stCondLst>
                                    <p:cond delay="150"/>
                                  </p:stCondLst>
                                  <p:childTnLst>
                                    <p:set>
                                      <p:cBhvr>
                                        <p:cTn id="118" dur="1" fill="hold">
                                          <p:stCondLst>
                                            <p:cond delay="0"/>
                                          </p:stCondLst>
                                        </p:cTn>
                                        <p:tgtEl>
                                          <p:spTgt spid="35"/>
                                        </p:tgtEl>
                                        <p:attrNameLst>
                                          <p:attrName>style.visibility</p:attrName>
                                        </p:attrNameLst>
                                      </p:cBhvr>
                                      <p:to>
                                        <p:strVal val="visible"/>
                                      </p:to>
                                    </p:set>
                                    <p:animEffect transition="in" filter="fade">
                                      <p:cBhvr>
                                        <p:cTn id="119" dur="700"/>
                                        <p:tgtEl>
                                          <p:spTgt spid="35"/>
                                        </p:tgtEl>
                                      </p:cBhvr>
                                    </p:animEffect>
                                    <p:anim calcmode="lin" valueType="num">
                                      <p:cBhvr>
                                        <p:cTn id="120" dur="700" fill="hold" decel="100000"/>
                                        <p:tgtEl>
                                          <p:spTgt spid="35"/>
                                        </p:tgtEl>
                                        <p:attrNameLst>
                                          <p:attrName>ppt_x</p:attrName>
                                        </p:attrNameLst>
                                      </p:cBhvr>
                                      <p:tavLst>
                                        <p:tav tm="0">
                                          <p:val>
                                            <p:strVal val="#ppt_x"/>
                                          </p:val>
                                        </p:tav>
                                        <p:tav tm="100000">
                                          <p:val>
                                            <p:strVal val="#ppt_x"/>
                                          </p:val>
                                        </p:tav>
                                      </p:tavLst>
                                    </p:anim>
                                    <p:anim calcmode="lin" valueType="num">
                                      <p:cBhvr>
                                        <p:cTn id="121" dur="700" fill="hold" decel="100000"/>
                                        <p:tgtEl>
                                          <p:spTgt spid="35"/>
                                        </p:tgtEl>
                                        <p:attrNameLst>
                                          <p:attrName>ppt_y</p:attrName>
                                        </p:attrNameLst>
                                      </p:cBhvr>
                                      <p:tavLst>
                                        <p:tav tm="0">
                                          <p:val>
                                            <p:strVal val="#ppt_y+.04"/>
                                          </p:val>
                                        </p:tav>
                                        <p:tav tm="100000">
                                          <p:val>
                                            <p:strVal val="#ppt_y"/>
                                          </p:val>
                                        </p:tav>
                                      </p:tavLst>
                                    </p:anim>
                                  </p:childTnLst>
                                </p:cTn>
                              </p:par>
                              <p:par>
                                <p:cTn id="122" presetID="42" presetClass="entr" presetSubtype="0" fill="hold" grpId="0" nodeType="withEffect">
                                  <p:stCondLst>
                                    <p:cond delay="150"/>
                                  </p:stCondLst>
                                  <p:childTnLst>
                                    <p:set>
                                      <p:cBhvr>
                                        <p:cTn id="123" dur="1" fill="hold">
                                          <p:stCondLst>
                                            <p:cond delay="0"/>
                                          </p:stCondLst>
                                        </p:cTn>
                                        <p:tgtEl>
                                          <p:spTgt spid="36"/>
                                        </p:tgtEl>
                                        <p:attrNameLst>
                                          <p:attrName>style.visibility</p:attrName>
                                        </p:attrNameLst>
                                      </p:cBhvr>
                                      <p:to>
                                        <p:strVal val="visible"/>
                                      </p:to>
                                    </p:set>
                                    <p:animEffect transition="in" filter="fade">
                                      <p:cBhvr>
                                        <p:cTn id="124" dur="700"/>
                                        <p:tgtEl>
                                          <p:spTgt spid="36"/>
                                        </p:tgtEl>
                                      </p:cBhvr>
                                    </p:animEffect>
                                    <p:anim calcmode="lin" valueType="num">
                                      <p:cBhvr>
                                        <p:cTn id="125" dur="700" fill="hold" decel="100000"/>
                                        <p:tgtEl>
                                          <p:spTgt spid="36"/>
                                        </p:tgtEl>
                                        <p:attrNameLst>
                                          <p:attrName>ppt_x</p:attrName>
                                        </p:attrNameLst>
                                      </p:cBhvr>
                                      <p:tavLst>
                                        <p:tav tm="0">
                                          <p:val>
                                            <p:strVal val="#ppt_x"/>
                                          </p:val>
                                        </p:tav>
                                        <p:tav tm="100000">
                                          <p:val>
                                            <p:strVal val="#ppt_x"/>
                                          </p:val>
                                        </p:tav>
                                      </p:tavLst>
                                    </p:anim>
                                    <p:anim calcmode="lin" valueType="num">
                                      <p:cBhvr>
                                        <p:cTn id="126" dur="700" fill="hold" decel="100000"/>
                                        <p:tgtEl>
                                          <p:spTgt spid="36"/>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4" grpId="0" animBg="1"/>
      <p:bldP spid="15" grpId="0" animBg="1"/>
      <p:bldP spid="16" grpId="0" animBg="1"/>
      <p:bldP spid="17" grpId="0" animBg="1"/>
      <p:bldP spid="18" grpId="0" animBg="1"/>
      <p:bldP spid="19" grpId="0"/>
      <p:bldP spid="20" grpId="0" animBg="1"/>
      <p:bldP spid="22" grpId="0"/>
      <p:bldP spid="23" grpId="0" animBg="1"/>
      <p:bldP spid="24" grpId="0" animBg="1"/>
      <p:bldP spid="25" grpId="0" animBg="1"/>
      <p:bldP spid="26" grpId="0"/>
      <p:bldP spid="27" grpId="0" animBg="1"/>
      <p:bldP spid="29" grpId="0"/>
      <p:bldP spid="30" grpId="0" animBg="1"/>
      <p:bldP spid="31" grpId="0" animBg="1"/>
      <p:bldP spid="32" grpId="0" animBg="1"/>
      <p:bldP spid="33" grpId="0"/>
      <p:bldP spid="34" grpId="0" animBg="1"/>
      <p:bldP spid="36" grpId="0"/>
    </p:bld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8F3"/>
        </a:solidFill>
        <a:effectLst/>
      </p:bgPr>
    </p:bg>
    <p:spTree>
      <p:nvGrpSpPr>
        <p:cNvPr id="1" name=""/>
        <p:cNvGrpSpPr/>
        <p:nvPr/>
      </p:nvGrpSpPr>
      <p:grpSpPr/>
      <p:sp>
        <p:nvSpPr>
          <p:cNvPr id="2" name="Trait or"/>
          <p:cNvSpPr/>
          <p:nvPr/>
        </p:nvSpPr>
        <p:spPr>
          <a:xfrm>
            <a:off x="609600" y="444500"/>
            <a:ext cx="406400" cy="38100"/>
          </a:xfrm>
          <a:prstGeom prst="rect">
            <a:avLst/>
          </a:prstGeom>
          <a:solidFill>
            <a:srgbClr val="D3A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brique"/>
          <p:cNvSpPr txBox="1"/>
          <p:nvPr/>
        </p:nvSpPr>
        <p:spPr>
          <a:xfrm>
            <a:off x="609600" y="508000"/>
            <a:ext cx="10160000" cy="304800"/>
          </a:xfrm>
          <a:prstGeom prst="rect">
            <a:avLst/>
          </a:prstGeom>
          <a:noFill/>
        </p:spPr>
        <p:txBody>
          <a:bodyPr wrap="square" lIns="0" tIns="0" rIns="0" bIns="0" anchor="ctr">
            <a:noAutofit/>
          </a:bodyPr>
          <a:lstStyle/>
          <a:p>
            <a:pPr algn="l">
              <a:lnSpc>
                <a:spcPct val="100000"/>
              </a:lnSpc>
              <a:spcBef>
                <a:spcPts val="0"/>
              </a:spcBef>
              <a:spcAft>
                <a:spcPts val="0"/>
              </a:spcAft>
            </a:pPr>
            <a:r>
              <a:rPr sz="2000" b="1" i="0" lang="fr-FR" spc="150">
                <a:solidFill>
                  <a:srgbClr val="1E7B67"/>
                </a:solidFill>
                <a:latin typeface="Calibri"/>
              </a:rPr>
              <a:t>02 / LES PORTEURS</a:t>
            </a:r>
          </a:p>
        </p:txBody>
      </p:sp>
      <p:sp>
        <p:nvSpPr>
          <p:cNvPr id="4" name="Titre"/>
          <p:cNvSpPr txBox="1"/>
          <p:nvPr/>
        </p:nvSpPr>
        <p:spPr>
          <a:xfrm>
            <a:off x="609600" y="774700"/>
            <a:ext cx="10972800" cy="609600"/>
          </a:xfrm>
          <a:prstGeom prst="rect">
            <a:avLst/>
          </a:prstGeom>
          <a:noFill/>
        </p:spPr>
        <p:txBody>
          <a:bodyPr wrap="square" lIns="0" tIns="0" rIns="0" bIns="0" anchor="ctr">
            <a:noAutofit/>
          </a:bodyPr>
          <a:lstStyle/>
          <a:p>
            <a:pPr algn="l">
              <a:lnSpc>
                <a:spcPct val="100000"/>
              </a:lnSpc>
              <a:spcBef>
                <a:spcPts val="0"/>
              </a:spcBef>
              <a:spcAft>
                <a:spcPts val="0"/>
              </a:spcAft>
            </a:pPr>
            <a:r>
              <a:rPr sz="4000" b="1" i="0" lang="fr-FR">
                <a:solidFill>
                  <a:srgbClr val="12264A"/>
                </a:solidFill>
                <a:latin typeface="Calibri"/>
              </a:rPr>
              <a:t>Qui porte le projet</a:t>
            </a:r>
          </a:p>
        </p:txBody>
      </p:sp>
      <p:sp>
        <p:nvSpPr>
          <p:cNvPr id="5" name="Accroche"/>
          <p:cNvSpPr txBox="1"/>
          <p:nvPr/>
        </p:nvSpPr>
        <p:spPr>
          <a:xfrm>
            <a:off x="609600" y="1358900"/>
            <a:ext cx="10972800" cy="355600"/>
          </a:xfrm>
          <a:prstGeom prst="rect">
            <a:avLst/>
          </a:prstGeom>
          <a:noFill/>
        </p:spPr>
        <p:txBody>
          <a:bodyPr wrap="square" lIns="0" tIns="0" rIns="0" bIns="0" anchor="t">
            <a:noAutofit/>
          </a:bodyPr>
          <a:lstStyle/>
          <a:p>
            <a:pPr algn="l">
              <a:lnSpc>
                <a:spcPct val="100000"/>
              </a:lnSpc>
              <a:spcBef>
                <a:spcPts val="0"/>
              </a:spcBef>
              <a:spcAft>
                <a:spcPts val="0"/>
              </a:spcAft>
            </a:pPr>
            <a:r>
              <a:rPr sz="2200" b="0" i="0" lang="fr-FR">
                <a:solidFill>
                  <a:srgbClr val="1B2A41"/>
                </a:solidFill>
                <a:latin typeface="Calibri"/>
              </a:rPr>
              <a:t>Trois partenaires, trois rôles complémentaires.</a:t>
            </a:r>
          </a:p>
        </p:txBody>
      </p:sp>
      <p:sp>
        <p:nvSpPr>
          <p:cNvPr id="6" name="Pied de page"/>
          <p:cNvSpPr txBox="1"/>
          <p:nvPr/>
        </p:nvSpPr>
        <p:spPr>
          <a:xfrm>
            <a:off x="609600" y="6413500"/>
            <a:ext cx="4826000" cy="241300"/>
          </a:xfrm>
          <a:prstGeom prst="rect">
            <a:avLst/>
          </a:prstGeom>
          <a:noFill/>
        </p:spPr>
        <p:txBody>
          <a:bodyPr wrap="square" lIns="0" tIns="0" rIns="0" bIns="0" anchor="ctr">
            <a:noAutofit/>
          </a:bodyPr>
          <a:lstStyle/>
          <a:p>
            <a:pPr algn="l">
              <a:lnSpc>
                <a:spcPct val="100000"/>
              </a:lnSpc>
              <a:spcBef>
                <a:spcPts val="0"/>
              </a:spcBef>
              <a:spcAft>
                <a:spcPts val="0"/>
              </a:spcAft>
            </a:pPr>
            <a:r>
              <a:rPr sz="1400" b="1" i="0" lang="fr-FR" spc="50">
                <a:solidFill>
                  <a:srgbClr val="1B2A41"/>
                </a:solidFill>
                <a:latin typeface="Calibri"/>
              </a:rPr>
              <a:t>FUTURA - KOUROUSSA | Octobre 2026</a:t>
            </a:r>
          </a:p>
        </p:txBody>
      </p:sp>
      <p:sp>
        <p:nvSpPr>
          <p:cNvPr id="7" name="Pied bandeau"/>
          <p:cNvSpPr/>
          <p:nvPr/>
        </p:nvSpPr>
        <p:spPr>
          <a:xfrm>
            <a:off x="9069742" y="6350000"/>
            <a:ext cx="2512658" cy="355600"/>
          </a:xfrm>
          <a:prstGeom prst="roundRect">
            <a:avLst>
              <a:gd name="adj" fmla="val 42857"/>
            </a:avLst>
          </a:prstGeom>
          <a:solidFill>
            <a:srgbClr val="FFFFFF"/>
          </a:solidFill>
          <a:ln w="9525">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ed logo futura-kouroussa" descr="futura-kouroussa.png"/>
          <p:cNvPicPr>
            <a:picLocks noChangeAspect="1"/>
          </p:cNvPicPr>
          <p:nvPr/>
        </p:nvPicPr>
        <p:blipFill>
          <a:blip r:embed="rId2"/>
          <a:stretch>
            <a:fillRect/>
          </a:stretch>
        </p:blipFill>
        <p:spPr>
          <a:xfrm>
            <a:off x="9184042" y="6419850"/>
            <a:ext cx="391970" cy="215900"/>
          </a:xfrm>
          <a:prstGeom prst="rect">
            <a:avLst/>
          </a:prstGeom>
        </p:spPr>
      </p:pic>
      <p:pic>
        <p:nvPicPr>
          <p:cNvPr id="9" name="Pied logo republique-de-guinee-armoiries" descr="republique-de-guinee-armoiries.png"/>
          <p:cNvPicPr>
            <a:picLocks noChangeAspect="1"/>
          </p:cNvPicPr>
          <p:nvPr/>
        </p:nvPicPr>
        <p:blipFill>
          <a:blip r:embed="rId3"/>
          <a:stretch>
            <a:fillRect/>
          </a:stretch>
        </p:blipFill>
        <p:spPr>
          <a:xfrm>
            <a:off x="9664912" y="6419850"/>
            <a:ext cx="179814" cy="215900"/>
          </a:xfrm>
          <a:prstGeom prst="rect">
            <a:avLst/>
          </a:prstGeom>
        </p:spPr>
      </p:pic>
      <p:pic>
        <p:nvPicPr>
          <p:cNvPr id="10" name="Pied logo assemblee-nationale" descr="assemblee-nationale.png"/>
          <p:cNvPicPr>
            <a:picLocks noChangeAspect="1"/>
          </p:cNvPicPr>
          <p:nvPr/>
        </p:nvPicPr>
        <p:blipFill>
          <a:blip r:embed="rId4"/>
          <a:stretch>
            <a:fillRect/>
          </a:stretch>
        </p:blipFill>
        <p:spPr>
          <a:xfrm>
            <a:off x="9933626" y="6419850"/>
            <a:ext cx="217442" cy="215900"/>
          </a:xfrm>
          <a:prstGeom prst="rect">
            <a:avLst/>
          </a:prstGeom>
        </p:spPr>
      </p:pic>
      <p:pic>
        <p:nvPicPr>
          <p:cNvPr id="11" name="Pied logo simandou-2040" descr="simandou-2040.png"/>
          <p:cNvPicPr>
            <a:picLocks noChangeAspect="1"/>
          </p:cNvPicPr>
          <p:nvPr/>
        </p:nvPicPr>
        <p:blipFill>
          <a:blip r:embed="rId5"/>
          <a:stretch>
            <a:fillRect/>
          </a:stretch>
        </p:blipFill>
        <p:spPr>
          <a:xfrm>
            <a:off x="10239968" y="6419850"/>
            <a:ext cx="674774" cy="215900"/>
          </a:xfrm>
          <a:prstGeom prst="rect">
            <a:avLst/>
          </a:prstGeom>
        </p:spPr>
      </p:pic>
      <p:pic>
        <p:nvPicPr>
          <p:cNvPr id="12" name="Pied logo guinee" descr="guinee.png"/>
          <p:cNvPicPr>
            <a:picLocks noChangeAspect="1"/>
          </p:cNvPicPr>
          <p:nvPr/>
        </p:nvPicPr>
        <p:blipFill>
          <a:blip r:embed="rId6"/>
          <a:stretch>
            <a:fillRect/>
          </a:stretch>
        </p:blipFill>
        <p:spPr>
          <a:xfrm>
            <a:off x="11003643" y="6419850"/>
            <a:ext cx="464457" cy="215900"/>
          </a:xfrm>
          <a:prstGeom prst="rect">
            <a:avLst/>
          </a:prstGeom>
        </p:spPr>
      </p:pic>
      <p:sp>
        <p:nvSpPr>
          <p:cNvPr id="13" name="Numéro"/>
          <p:cNvSpPr txBox="1"/>
          <p:nvPr/>
        </p:nvSpPr>
        <p:spPr>
          <a:xfrm>
            <a:off x="7990242" y="6413500"/>
            <a:ext cx="952500" cy="241300"/>
          </a:xfrm>
          <a:prstGeom prst="rect">
            <a:avLst/>
          </a:prstGeom>
          <a:noFill/>
        </p:spPr>
        <p:txBody>
          <a:bodyPr wrap="square" lIns="0" tIns="0" rIns="0" bIns="0" anchor="ctr">
            <a:noAutofit/>
          </a:bodyPr>
          <a:lstStyle/>
          <a:p>
            <a:pPr algn="r">
              <a:lnSpc>
                <a:spcPct val="100000"/>
              </a:lnSpc>
              <a:spcBef>
                <a:spcPts val="0"/>
              </a:spcBef>
              <a:spcAft>
                <a:spcPts val="0"/>
              </a:spcAft>
            </a:pPr>
            <a:r>
              <a:rPr sz="1400" b="1" i="0" lang="fr-FR">
                <a:solidFill>
                  <a:srgbClr val="12264A"/>
                </a:solidFill>
                <a:latin typeface="Calibri"/>
              </a:rPr>
              <a:t>03 / 15</a:t>
            </a:r>
          </a:p>
        </p:txBody>
      </p:sp>
      <p:sp>
        <p:nvSpPr>
          <p:cNvPr id="14" name="s03 carte 1"/>
          <p:cNvSpPr/>
          <p:nvPr/>
        </p:nvSpPr>
        <p:spPr>
          <a:xfrm>
            <a:off x="609600" y="1841500"/>
            <a:ext cx="3505200" cy="3683000"/>
          </a:xfrm>
          <a:prstGeom prst="roundRect">
            <a:avLst>
              <a:gd name="adj" fmla="val 2898"/>
            </a:avLst>
          </a:prstGeom>
          <a:solidFill>
            <a:srgbClr val="FFFFFF"/>
          </a:solidFill>
          <a:ln w="9525">
            <a:solidFill>
              <a:srgbClr val="E3DED3"/>
            </a:solidFill>
          </a:ln>
          <a:effectLst>
            <a:outerShdw blurRad="165100" dist="38100" dir="5400000" algn="t" rotWithShape="0">
              <a:srgbClr val="12264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03 carte 1 filet"/>
          <p:cNvSpPr/>
          <p:nvPr/>
        </p:nvSpPr>
        <p:spPr>
          <a:xfrm>
            <a:off x="609600" y="1943100"/>
            <a:ext cx="50800" cy="3479800"/>
          </a:xfrm>
          <a:prstGeom prst="rect">
            <a:avLst/>
          </a:prstGeom>
          <a:solidFill>
            <a:srgbClr val="D3A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03 icône 1"/>
          <p:cNvSpPr/>
          <p:nvPr/>
        </p:nvSpPr>
        <p:spPr>
          <a:xfrm>
            <a:off x="863600" y="2095500"/>
            <a:ext cx="609600" cy="609600"/>
          </a:xfrm>
          <a:prstGeom prst="ellipse">
            <a:avLst/>
          </a:prstGeom>
          <a:solidFill>
            <a:srgbClr val="D3A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s03 icône 1 picto" descr="deputes-nuit.png"/>
          <p:cNvPicPr>
            <a:picLocks noChangeAspect="1"/>
          </p:cNvPicPr>
          <p:nvPr/>
        </p:nvPicPr>
        <p:blipFill>
          <a:blip r:embed="rId7"/>
          <a:stretch>
            <a:fillRect/>
          </a:stretch>
        </p:blipFill>
        <p:spPr>
          <a:xfrm>
            <a:off x="1009904" y="2241804"/>
            <a:ext cx="316992" cy="316992"/>
          </a:xfrm>
          <a:prstGeom prst="rect">
            <a:avLst/>
          </a:prstGeom>
        </p:spPr>
      </p:pic>
      <p:sp>
        <p:nvSpPr>
          <p:cNvPr id="18" name="s03 titre 1"/>
          <p:cNvSpPr txBox="1"/>
          <p:nvPr/>
        </p:nvSpPr>
        <p:spPr>
          <a:xfrm>
            <a:off x="1574800" y="2070100"/>
            <a:ext cx="2387600" cy="673100"/>
          </a:xfrm>
          <a:prstGeom prst="rect">
            <a:avLst/>
          </a:prstGeom>
          <a:noFill/>
        </p:spPr>
        <p:txBody>
          <a:bodyPr wrap="square" lIns="0" tIns="0" rIns="0" bIns="0" anchor="ctr">
            <a:noAutofit/>
          </a:bodyPr>
          <a:lstStyle/>
          <a:p>
            <a:pPr algn="l">
              <a:lnSpc>
                <a:spcPct val="100000"/>
              </a:lnSpc>
              <a:spcBef>
                <a:spcPts val="0"/>
              </a:spcBef>
              <a:spcAft>
                <a:spcPts val="0"/>
              </a:spcAft>
            </a:pPr>
            <a:r>
              <a:rPr sz="2600" b="1" i="0" lang="fr-FR">
                <a:solidFill>
                  <a:srgbClr val="12264A"/>
                </a:solidFill>
                <a:latin typeface="Calibri"/>
              </a:rPr>
              <a:t>Les Députés de Kouroussa</a:t>
            </a:r>
          </a:p>
        </p:txBody>
      </p:sp>
      <p:sp>
        <p:nvSpPr>
          <p:cNvPr id="19" name="s03 texte 1"/>
          <p:cNvSpPr txBox="1"/>
          <p:nvPr/>
        </p:nvSpPr>
        <p:spPr>
          <a:xfrm>
            <a:off x="863600" y="2921000"/>
            <a:ext cx="3048000" cy="2451100"/>
          </a:xfrm>
          <a:prstGeom prst="rect">
            <a:avLst/>
          </a:prstGeom>
          <a:noFill/>
        </p:spPr>
        <p:txBody>
          <a:bodyPr wrap="square" lIns="0" tIns="0" rIns="0" bIns="0" anchor="t">
            <a:noAutofit/>
          </a:bodyPr>
          <a:lstStyle/>
          <a:p>
            <a:pPr algn="l">
              <a:lnSpc>
                <a:spcPct val="100000"/>
              </a:lnSpc>
              <a:spcBef>
                <a:spcPts val="0"/>
              </a:spcBef>
              <a:spcAft>
                <a:spcPts val="1400"/>
              </a:spcAft>
            </a:pPr>
            <a:r>
              <a:rPr sz="2200" b="1" i="0" lang="fr-FR">
                <a:solidFill>
                  <a:srgbClr val="12264A"/>
                </a:solidFill>
                <a:latin typeface="Calibri"/>
              </a:rPr>
              <a:t>L’Honorable Lamine KOUYATÉ et l’Honorable Dre Hadja Djoran KEITA</a:t>
            </a:r>
          </a:p>
          <a:p>
            <a:pPr algn="l">
              <a:lnSpc>
                <a:spcPct val="100000"/>
              </a:lnSpc>
              <a:spcBef>
                <a:spcPts val="0"/>
              </a:spcBef>
              <a:spcAft>
                <a:spcPts val="0"/>
              </a:spcAft>
            </a:pPr>
            <a:r>
              <a:rPr sz="2200" b="0" i="0" lang="fr-FR">
                <a:solidFill>
                  <a:srgbClr val="1B2A41"/>
                </a:solidFill>
                <a:latin typeface="Calibri"/>
              </a:rPr>
              <a:t>Portage politique et mission parlementaire de septembre 2026 dans les 15 localités.</a:t>
            </a:r>
          </a:p>
        </p:txBody>
      </p:sp>
      <p:sp>
        <p:nvSpPr>
          <p:cNvPr id="20" name="s03 carte 2"/>
          <p:cNvSpPr/>
          <p:nvPr/>
        </p:nvSpPr>
        <p:spPr>
          <a:xfrm>
            <a:off x="4343400" y="1841500"/>
            <a:ext cx="3505200" cy="3683000"/>
          </a:xfrm>
          <a:prstGeom prst="roundRect">
            <a:avLst>
              <a:gd name="adj" fmla="val 2898"/>
            </a:avLst>
          </a:prstGeom>
          <a:solidFill>
            <a:srgbClr val="FFFFFF"/>
          </a:solidFill>
          <a:ln w="9525">
            <a:solidFill>
              <a:srgbClr val="E3DED3"/>
            </a:solidFill>
          </a:ln>
          <a:effectLst>
            <a:outerShdw blurRad="165100" dist="38100" dir="5400000" algn="t" rotWithShape="0">
              <a:srgbClr val="12264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03 carte 2 filet"/>
          <p:cNvSpPr/>
          <p:nvPr/>
        </p:nvSpPr>
        <p:spPr>
          <a:xfrm>
            <a:off x="4343400" y="1943100"/>
            <a:ext cx="50800" cy="3479800"/>
          </a:xfrm>
          <a:prstGeom prst="rect">
            <a:avLst/>
          </a:prstGeom>
          <a:solidFill>
            <a:srgbClr val="1E7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03 icône 2"/>
          <p:cNvSpPr/>
          <p:nvPr/>
        </p:nvSpPr>
        <p:spPr>
          <a:xfrm>
            <a:off x="4597400" y="2095500"/>
            <a:ext cx="609600" cy="609600"/>
          </a:xfrm>
          <a:prstGeom prst="ellipse">
            <a:avLst/>
          </a:prstGeom>
          <a:solidFill>
            <a:srgbClr val="1E7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s03 icône 2 picto" descr="visham.png"/>
          <p:cNvPicPr>
            <a:picLocks noChangeAspect="1"/>
          </p:cNvPicPr>
          <p:nvPr/>
        </p:nvPicPr>
        <p:blipFill>
          <a:blip r:embed="rId8"/>
          <a:stretch>
            <a:fillRect/>
          </a:stretch>
        </p:blipFill>
        <p:spPr>
          <a:xfrm>
            <a:off x="4743704" y="2241804"/>
            <a:ext cx="316992" cy="316992"/>
          </a:xfrm>
          <a:prstGeom prst="rect">
            <a:avLst/>
          </a:prstGeom>
        </p:spPr>
      </p:pic>
      <p:sp>
        <p:nvSpPr>
          <p:cNvPr id="24" name="s03 titre 2"/>
          <p:cNvSpPr txBox="1"/>
          <p:nvPr/>
        </p:nvSpPr>
        <p:spPr>
          <a:xfrm>
            <a:off x="5308600" y="2070100"/>
            <a:ext cx="2387600" cy="673100"/>
          </a:xfrm>
          <a:prstGeom prst="rect">
            <a:avLst/>
          </a:prstGeom>
          <a:noFill/>
        </p:spPr>
        <p:txBody>
          <a:bodyPr wrap="square" lIns="0" tIns="0" rIns="0" bIns="0" anchor="ctr">
            <a:noAutofit/>
          </a:bodyPr>
          <a:lstStyle/>
          <a:p>
            <a:pPr algn="l">
              <a:lnSpc>
                <a:spcPct val="100000"/>
              </a:lnSpc>
              <a:spcBef>
                <a:spcPts val="0"/>
              </a:spcBef>
              <a:spcAft>
                <a:spcPts val="0"/>
              </a:spcAft>
            </a:pPr>
            <a:r>
              <a:rPr sz="2600" b="1" i="0" lang="fr-FR">
                <a:solidFill>
                  <a:srgbClr val="12264A"/>
                </a:solidFill>
                <a:latin typeface="Calibri"/>
              </a:rPr>
              <a:t>Visham SARL</a:t>
            </a:r>
          </a:p>
        </p:txBody>
      </p:sp>
      <p:sp>
        <p:nvSpPr>
          <p:cNvPr id="25" name="s03 texte 2"/>
          <p:cNvSpPr txBox="1"/>
          <p:nvPr/>
        </p:nvSpPr>
        <p:spPr>
          <a:xfrm>
            <a:off x="4597400" y="2921000"/>
            <a:ext cx="3048000" cy="2451100"/>
          </a:xfrm>
          <a:prstGeom prst="rect">
            <a:avLst/>
          </a:prstGeom>
          <a:noFill/>
        </p:spPr>
        <p:txBody>
          <a:bodyPr wrap="square" lIns="0" tIns="0" rIns="0" bIns="0" anchor="t">
            <a:noAutofit/>
          </a:bodyPr>
          <a:lstStyle/>
          <a:p>
            <a:pPr algn="l">
              <a:lnSpc>
                <a:spcPct val="100000"/>
              </a:lnSpc>
              <a:spcBef>
                <a:spcPts val="0"/>
              </a:spcBef>
              <a:spcAft>
                <a:spcPts val="0"/>
              </a:spcAft>
            </a:pPr>
            <a:r>
              <a:rPr sz="2200" b="0" i="0" lang="fr-FR">
                <a:solidFill>
                  <a:srgbClr val="1B2A41"/>
                </a:solidFill>
                <a:latin typeface="Calibri"/>
              </a:rPr>
              <a:t>Partenaire et actionnaire fondateur pendant le montage, avec des règles écrites de prévention des conflits d’intérêts.</a:t>
            </a:r>
          </a:p>
        </p:txBody>
      </p:sp>
      <p:sp>
        <p:nvSpPr>
          <p:cNvPr id="26" name="s03 carte 3"/>
          <p:cNvSpPr/>
          <p:nvPr/>
        </p:nvSpPr>
        <p:spPr>
          <a:xfrm>
            <a:off x="8077200" y="1841500"/>
            <a:ext cx="3505200" cy="3683000"/>
          </a:xfrm>
          <a:prstGeom prst="roundRect">
            <a:avLst>
              <a:gd name="adj" fmla="val 2898"/>
            </a:avLst>
          </a:prstGeom>
          <a:solidFill>
            <a:srgbClr val="FFFFFF"/>
          </a:solidFill>
          <a:ln w="9525">
            <a:solidFill>
              <a:srgbClr val="E3DED3"/>
            </a:solidFill>
          </a:ln>
          <a:effectLst>
            <a:outerShdw blurRad="165100" dist="38100" dir="5400000" algn="t" rotWithShape="0">
              <a:srgbClr val="12264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s03 carte 3 filet"/>
          <p:cNvSpPr/>
          <p:nvPr/>
        </p:nvSpPr>
        <p:spPr>
          <a:xfrm>
            <a:off x="8077200" y="1943100"/>
            <a:ext cx="50800" cy="3479800"/>
          </a:xfrm>
          <a:prstGeom prst="rect">
            <a:avLst/>
          </a:prstGeom>
          <a:solidFill>
            <a:srgbClr val="3A7C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03 icône 3"/>
          <p:cNvSpPr/>
          <p:nvPr/>
        </p:nvSpPr>
        <p:spPr>
          <a:xfrm>
            <a:off x="8331200" y="2095500"/>
            <a:ext cx="609600" cy="609600"/>
          </a:xfrm>
          <a:prstGeom prst="ellipse">
            <a:avLst/>
          </a:prstGeom>
          <a:solidFill>
            <a:srgbClr val="3A7C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s03 icône 3 picto" descr="apedk.png"/>
          <p:cNvPicPr>
            <a:picLocks noChangeAspect="1"/>
          </p:cNvPicPr>
          <p:nvPr/>
        </p:nvPicPr>
        <p:blipFill>
          <a:blip r:embed="rId9"/>
          <a:stretch>
            <a:fillRect/>
          </a:stretch>
        </p:blipFill>
        <p:spPr>
          <a:xfrm>
            <a:off x="8477504" y="2241804"/>
            <a:ext cx="316992" cy="316992"/>
          </a:xfrm>
          <a:prstGeom prst="rect">
            <a:avLst/>
          </a:prstGeom>
        </p:spPr>
      </p:pic>
      <p:sp>
        <p:nvSpPr>
          <p:cNvPr id="30" name="s03 titre 3"/>
          <p:cNvSpPr txBox="1"/>
          <p:nvPr/>
        </p:nvSpPr>
        <p:spPr>
          <a:xfrm>
            <a:off x="9042400" y="2070100"/>
            <a:ext cx="2387600" cy="673100"/>
          </a:xfrm>
          <a:prstGeom prst="rect">
            <a:avLst/>
          </a:prstGeom>
          <a:noFill/>
        </p:spPr>
        <p:txBody>
          <a:bodyPr wrap="square" lIns="0" tIns="0" rIns="0" bIns="0" anchor="ctr">
            <a:noAutofit/>
          </a:bodyPr>
          <a:lstStyle/>
          <a:p>
            <a:pPr algn="l">
              <a:lnSpc>
                <a:spcPct val="100000"/>
              </a:lnSpc>
              <a:spcBef>
                <a:spcPts val="0"/>
              </a:spcBef>
              <a:spcAft>
                <a:spcPts val="0"/>
              </a:spcAft>
            </a:pPr>
            <a:r>
              <a:rPr sz="2600" b="1" i="0" lang="fr-FR">
                <a:solidFill>
                  <a:srgbClr val="12264A"/>
                </a:solidFill>
                <a:latin typeface="Calibri"/>
              </a:rPr>
              <a:t>APEDK</a:t>
            </a:r>
          </a:p>
        </p:txBody>
      </p:sp>
      <p:sp>
        <p:nvSpPr>
          <p:cNvPr id="31" name="s03 texte 3"/>
          <p:cNvSpPr txBox="1"/>
          <p:nvPr/>
        </p:nvSpPr>
        <p:spPr>
          <a:xfrm>
            <a:off x="8331200" y="2921000"/>
            <a:ext cx="3048000" cy="2451100"/>
          </a:xfrm>
          <a:prstGeom prst="rect">
            <a:avLst/>
          </a:prstGeom>
          <a:noFill/>
        </p:spPr>
        <p:txBody>
          <a:bodyPr wrap="square" lIns="0" tIns="0" rIns="0" bIns="0" anchor="t">
            <a:noAutofit/>
          </a:bodyPr>
          <a:lstStyle/>
          <a:p>
            <a:pPr algn="l">
              <a:lnSpc>
                <a:spcPct val="100000"/>
              </a:lnSpc>
              <a:spcBef>
                <a:spcPts val="0"/>
              </a:spcBef>
              <a:spcAft>
                <a:spcPts val="1400"/>
              </a:spcAft>
            </a:pPr>
            <a:r>
              <a:rPr sz="2200" b="1" i="0" lang="fr-FR">
                <a:solidFill>
                  <a:srgbClr val="3A7CA5"/>
                </a:solidFill>
                <a:latin typeface="Calibri"/>
              </a:rPr>
              <a:t>Association des Personnes Engagées pour le Développement de Kouroussa</a:t>
            </a:r>
          </a:p>
          <a:p>
            <a:pPr algn="l">
              <a:lnSpc>
                <a:spcPct val="100000"/>
              </a:lnSpc>
              <a:spcBef>
                <a:spcPts val="0"/>
              </a:spcBef>
              <a:spcAft>
                <a:spcPts val="0"/>
              </a:spcAft>
            </a:pPr>
            <a:r>
              <a:rPr sz="2200" b="0" i="0" lang="fr-FR">
                <a:solidFill>
                  <a:srgbClr val="1B2A41"/>
                </a:solidFill>
                <a:latin typeface="Calibri"/>
              </a:rPr>
              <a:t>Relais auprès des communautés et de la société civile.</a:t>
            </a:r>
          </a:p>
        </p:txBody>
      </p:sp>
    </p:spTree>
  </p:cSld>
  <p:clrMapOvr>
    <a:masterClrMapping/>
  </p:clrMapOvr>
  <mc:AlternateContent xmlns:mc="http://schemas.openxmlformats.org/markup-compatibility/2006">
    <mc:Choice xmlns:p14="http://schemas.microsoft.com/office/powerpoint/2010/main" Requires="p14">
      <p:transition spd="med" p14:dur="700" advTm="20000">
        <p:fade/>
      </p:transition>
    </mc:Choice>
    <mc:Fallback>
      <p:transition spd="med" advTm="20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childTnLst>
                          </p:cTn>
                        </p:par>
                        <p:par>
                          <p:cTn id="8" fill="hold">
                            <p:stCondLst>
                              <p:cond delay="600"/>
                            </p:stCondLst>
                            <p:childTnLst>
                              <p:par>
                                <p:cTn id="9" presetID="42" presetClass="entr" presetSubtype="0" fill="hold" grpId="0" nodeType="afterEffect">
                                  <p:stCondLst>
                                    <p:cond delay="15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700"/>
                                        <p:tgtEl>
                                          <p:spTgt spid="14"/>
                                        </p:tgtEl>
                                      </p:cBhvr>
                                    </p:animEffect>
                                    <p:anim calcmode="lin" valueType="num">
                                      <p:cBhvr>
                                        <p:cTn id="12" dur="700" fill="hold" decel="100000"/>
                                        <p:tgtEl>
                                          <p:spTgt spid="14"/>
                                        </p:tgtEl>
                                        <p:attrNameLst>
                                          <p:attrName>ppt_x</p:attrName>
                                        </p:attrNameLst>
                                      </p:cBhvr>
                                      <p:tavLst>
                                        <p:tav tm="0">
                                          <p:val>
                                            <p:strVal val="#ppt_x"/>
                                          </p:val>
                                        </p:tav>
                                        <p:tav tm="100000">
                                          <p:val>
                                            <p:strVal val="#ppt_x"/>
                                          </p:val>
                                        </p:tav>
                                      </p:tavLst>
                                    </p:anim>
                                    <p:anim calcmode="lin" valueType="num">
                                      <p:cBhvr>
                                        <p:cTn id="13" dur="700" fill="hold" decel="100000"/>
                                        <p:tgtEl>
                                          <p:spTgt spid="14"/>
                                        </p:tgtEl>
                                        <p:attrNameLst>
                                          <p:attrName>ppt_y</p:attrName>
                                        </p:attrNameLst>
                                      </p:cBhvr>
                                      <p:tavLst>
                                        <p:tav tm="0">
                                          <p:val>
                                            <p:strVal val="#ppt_y+.04"/>
                                          </p:val>
                                        </p:tav>
                                        <p:tav tm="100000">
                                          <p:val>
                                            <p:strVal val="#ppt_y"/>
                                          </p:val>
                                        </p:tav>
                                      </p:tavLst>
                                    </p:anim>
                                  </p:childTnLst>
                                </p:cTn>
                              </p:par>
                              <p:par>
                                <p:cTn id="14" presetID="42" presetClass="entr" presetSubtype="0" fill="hold" grpId="0" nodeType="withEffect">
                                  <p:stCondLst>
                                    <p:cond delay="15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700"/>
                                        <p:tgtEl>
                                          <p:spTgt spid="15"/>
                                        </p:tgtEl>
                                      </p:cBhvr>
                                    </p:animEffect>
                                    <p:anim calcmode="lin" valueType="num">
                                      <p:cBhvr>
                                        <p:cTn id="17" dur="700" fill="hold" decel="100000"/>
                                        <p:tgtEl>
                                          <p:spTgt spid="15"/>
                                        </p:tgtEl>
                                        <p:attrNameLst>
                                          <p:attrName>ppt_x</p:attrName>
                                        </p:attrNameLst>
                                      </p:cBhvr>
                                      <p:tavLst>
                                        <p:tav tm="0">
                                          <p:val>
                                            <p:strVal val="#ppt_x"/>
                                          </p:val>
                                        </p:tav>
                                        <p:tav tm="100000">
                                          <p:val>
                                            <p:strVal val="#ppt_x"/>
                                          </p:val>
                                        </p:tav>
                                      </p:tavLst>
                                    </p:anim>
                                    <p:anim calcmode="lin" valueType="num">
                                      <p:cBhvr>
                                        <p:cTn id="18" dur="700" fill="hold" decel="100000"/>
                                        <p:tgtEl>
                                          <p:spTgt spid="15"/>
                                        </p:tgtEl>
                                        <p:attrNameLst>
                                          <p:attrName>ppt_y</p:attrName>
                                        </p:attrNameLst>
                                      </p:cBhvr>
                                      <p:tavLst>
                                        <p:tav tm="0">
                                          <p:val>
                                            <p:strVal val="#ppt_y+.04"/>
                                          </p:val>
                                        </p:tav>
                                        <p:tav tm="100000">
                                          <p:val>
                                            <p:strVal val="#ppt_y"/>
                                          </p:val>
                                        </p:tav>
                                      </p:tavLst>
                                    </p:anim>
                                  </p:childTnLst>
                                </p:cTn>
                              </p:par>
                              <p:par>
                                <p:cTn id="19" presetID="42" presetClass="entr" presetSubtype="0" fill="hold" grpId="0" nodeType="withEffect">
                                  <p:stCondLst>
                                    <p:cond delay="15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700"/>
                                        <p:tgtEl>
                                          <p:spTgt spid="16"/>
                                        </p:tgtEl>
                                      </p:cBhvr>
                                    </p:animEffect>
                                    <p:anim calcmode="lin" valueType="num">
                                      <p:cBhvr>
                                        <p:cTn id="22" dur="700" fill="hold" decel="100000"/>
                                        <p:tgtEl>
                                          <p:spTgt spid="16"/>
                                        </p:tgtEl>
                                        <p:attrNameLst>
                                          <p:attrName>ppt_x</p:attrName>
                                        </p:attrNameLst>
                                      </p:cBhvr>
                                      <p:tavLst>
                                        <p:tav tm="0">
                                          <p:val>
                                            <p:strVal val="#ppt_x"/>
                                          </p:val>
                                        </p:tav>
                                        <p:tav tm="100000">
                                          <p:val>
                                            <p:strVal val="#ppt_x"/>
                                          </p:val>
                                        </p:tav>
                                      </p:tavLst>
                                    </p:anim>
                                    <p:anim calcmode="lin" valueType="num">
                                      <p:cBhvr>
                                        <p:cTn id="23" dur="700" fill="hold" decel="100000"/>
                                        <p:tgtEl>
                                          <p:spTgt spid="16"/>
                                        </p:tgtEl>
                                        <p:attrNameLst>
                                          <p:attrName>ppt_y</p:attrName>
                                        </p:attrNameLst>
                                      </p:cBhvr>
                                      <p:tavLst>
                                        <p:tav tm="0">
                                          <p:val>
                                            <p:strVal val="#ppt_y+.04"/>
                                          </p:val>
                                        </p:tav>
                                        <p:tav tm="100000">
                                          <p:val>
                                            <p:strVal val="#ppt_y"/>
                                          </p:val>
                                        </p:tav>
                                      </p:tavLst>
                                    </p:anim>
                                  </p:childTnLst>
                                </p:cTn>
                              </p:par>
                              <p:par>
                                <p:cTn id="24" presetID="42" presetClass="entr" presetSubtype="0" fill="hold" grpId="0" nodeType="withEffect">
                                  <p:stCondLst>
                                    <p:cond delay="15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700"/>
                                        <p:tgtEl>
                                          <p:spTgt spid="17"/>
                                        </p:tgtEl>
                                      </p:cBhvr>
                                    </p:animEffect>
                                    <p:anim calcmode="lin" valueType="num">
                                      <p:cBhvr>
                                        <p:cTn id="27" dur="700" fill="hold" decel="100000"/>
                                        <p:tgtEl>
                                          <p:spTgt spid="17"/>
                                        </p:tgtEl>
                                        <p:attrNameLst>
                                          <p:attrName>ppt_x</p:attrName>
                                        </p:attrNameLst>
                                      </p:cBhvr>
                                      <p:tavLst>
                                        <p:tav tm="0">
                                          <p:val>
                                            <p:strVal val="#ppt_x"/>
                                          </p:val>
                                        </p:tav>
                                        <p:tav tm="100000">
                                          <p:val>
                                            <p:strVal val="#ppt_x"/>
                                          </p:val>
                                        </p:tav>
                                      </p:tavLst>
                                    </p:anim>
                                    <p:anim calcmode="lin" valueType="num">
                                      <p:cBhvr>
                                        <p:cTn id="28" dur="700" fill="hold" decel="100000"/>
                                        <p:tgtEl>
                                          <p:spTgt spid="17"/>
                                        </p:tgtEl>
                                        <p:attrNameLst>
                                          <p:attrName>ppt_y</p:attrName>
                                        </p:attrNameLst>
                                      </p:cBhvr>
                                      <p:tavLst>
                                        <p:tav tm="0">
                                          <p:val>
                                            <p:strVal val="#ppt_y+.04"/>
                                          </p:val>
                                        </p:tav>
                                        <p:tav tm="100000">
                                          <p:val>
                                            <p:strVal val="#ppt_y"/>
                                          </p:val>
                                        </p:tav>
                                      </p:tavLst>
                                    </p:anim>
                                  </p:childTnLst>
                                </p:cTn>
                              </p:par>
                              <p:par>
                                <p:cTn id="29" presetID="42" presetClass="entr" presetSubtype="0" fill="hold" grpId="0" nodeType="withEffect">
                                  <p:stCondLst>
                                    <p:cond delay="15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700"/>
                                        <p:tgtEl>
                                          <p:spTgt spid="18"/>
                                        </p:tgtEl>
                                      </p:cBhvr>
                                    </p:animEffect>
                                    <p:anim calcmode="lin" valueType="num">
                                      <p:cBhvr>
                                        <p:cTn id="32" dur="700" fill="hold" decel="100000"/>
                                        <p:tgtEl>
                                          <p:spTgt spid="18"/>
                                        </p:tgtEl>
                                        <p:attrNameLst>
                                          <p:attrName>ppt_x</p:attrName>
                                        </p:attrNameLst>
                                      </p:cBhvr>
                                      <p:tavLst>
                                        <p:tav tm="0">
                                          <p:val>
                                            <p:strVal val="#ppt_x"/>
                                          </p:val>
                                        </p:tav>
                                        <p:tav tm="100000">
                                          <p:val>
                                            <p:strVal val="#ppt_x"/>
                                          </p:val>
                                        </p:tav>
                                      </p:tavLst>
                                    </p:anim>
                                    <p:anim calcmode="lin" valueType="num">
                                      <p:cBhvr>
                                        <p:cTn id="33" dur="700" fill="hold" decel="100000"/>
                                        <p:tgtEl>
                                          <p:spTgt spid="18"/>
                                        </p:tgtEl>
                                        <p:attrNameLst>
                                          <p:attrName>ppt_y</p:attrName>
                                        </p:attrNameLst>
                                      </p:cBhvr>
                                      <p:tavLst>
                                        <p:tav tm="0">
                                          <p:val>
                                            <p:strVal val="#ppt_y+.04"/>
                                          </p:val>
                                        </p:tav>
                                        <p:tav tm="100000">
                                          <p:val>
                                            <p:strVal val="#ppt_y"/>
                                          </p:val>
                                        </p:tav>
                                      </p:tavLst>
                                    </p:anim>
                                  </p:childTnLst>
                                </p:cTn>
                              </p:par>
                              <p:par>
                                <p:cTn id="34" presetID="42" presetClass="entr" presetSubtype="0" fill="hold" grpId="0" nodeType="withEffect">
                                  <p:stCondLst>
                                    <p:cond delay="15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700"/>
                                        <p:tgtEl>
                                          <p:spTgt spid="19"/>
                                        </p:tgtEl>
                                      </p:cBhvr>
                                    </p:animEffect>
                                    <p:anim calcmode="lin" valueType="num">
                                      <p:cBhvr>
                                        <p:cTn id="37" dur="700" fill="hold" decel="100000"/>
                                        <p:tgtEl>
                                          <p:spTgt spid="19"/>
                                        </p:tgtEl>
                                        <p:attrNameLst>
                                          <p:attrName>ppt_x</p:attrName>
                                        </p:attrNameLst>
                                      </p:cBhvr>
                                      <p:tavLst>
                                        <p:tav tm="0">
                                          <p:val>
                                            <p:strVal val="#ppt_x"/>
                                          </p:val>
                                        </p:tav>
                                        <p:tav tm="100000">
                                          <p:val>
                                            <p:strVal val="#ppt_x"/>
                                          </p:val>
                                        </p:tav>
                                      </p:tavLst>
                                    </p:anim>
                                    <p:anim calcmode="lin" valueType="num">
                                      <p:cBhvr>
                                        <p:cTn id="38" dur="700" fill="hold" decel="100000"/>
                                        <p:tgtEl>
                                          <p:spTgt spid="19"/>
                                        </p:tgtEl>
                                        <p:attrNameLst>
                                          <p:attrName>ppt_y</p:attrName>
                                        </p:attrNameLst>
                                      </p:cBhvr>
                                      <p:tavLst>
                                        <p:tav tm="0">
                                          <p:val>
                                            <p:strVal val="#ppt_y+.04"/>
                                          </p:val>
                                        </p:tav>
                                        <p:tav tm="100000">
                                          <p:val>
                                            <p:strVal val="#ppt_y"/>
                                          </p:val>
                                        </p:tav>
                                      </p:tavLst>
                                    </p:anim>
                                  </p:childTnLst>
                                </p:cTn>
                              </p:par>
                            </p:childTnLst>
                          </p:cTn>
                        </p:par>
                        <p:par>
                          <p:cTn id="39" fill="hold">
                            <p:stCondLst>
                              <p:cond delay="1450"/>
                            </p:stCondLst>
                            <p:childTnLst>
                              <p:par>
                                <p:cTn id="40" presetID="42" presetClass="entr" presetSubtype="0" fill="hold" grpId="0" nodeType="afterEffect">
                                  <p:stCondLst>
                                    <p:cond delay="15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700"/>
                                        <p:tgtEl>
                                          <p:spTgt spid="20"/>
                                        </p:tgtEl>
                                      </p:cBhvr>
                                    </p:animEffect>
                                    <p:anim calcmode="lin" valueType="num">
                                      <p:cBhvr>
                                        <p:cTn id="43" dur="700" fill="hold" decel="100000"/>
                                        <p:tgtEl>
                                          <p:spTgt spid="20"/>
                                        </p:tgtEl>
                                        <p:attrNameLst>
                                          <p:attrName>ppt_x</p:attrName>
                                        </p:attrNameLst>
                                      </p:cBhvr>
                                      <p:tavLst>
                                        <p:tav tm="0">
                                          <p:val>
                                            <p:strVal val="#ppt_x"/>
                                          </p:val>
                                        </p:tav>
                                        <p:tav tm="100000">
                                          <p:val>
                                            <p:strVal val="#ppt_x"/>
                                          </p:val>
                                        </p:tav>
                                      </p:tavLst>
                                    </p:anim>
                                    <p:anim calcmode="lin" valueType="num">
                                      <p:cBhvr>
                                        <p:cTn id="44" dur="700" fill="hold" decel="100000"/>
                                        <p:tgtEl>
                                          <p:spTgt spid="20"/>
                                        </p:tgtEl>
                                        <p:attrNameLst>
                                          <p:attrName>ppt_y</p:attrName>
                                        </p:attrNameLst>
                                      </p:cBhvr>
                                      <p:tavLst>
                                        <p:tav tm="0">
                                          <p:val>
                                            <p:strVal val="#ppt_y+.04"/>
                                          </p:val>
                                        </p:tav>
                                        <p:tav tm="100000">
                                          <p:val>
                                            <p:strVal val="#ppt_y"/>
                                          </p:val>
                                        </p:tav>
                                      </p:tavLst>
                                    </p:anim>
                                  </p:childTnLst>
                                </p:cTn>
                              </p:par>
                              <p:par>
                                <p:cTn id="45" presetID="42" presetClass="entr" presetSubtype="0" fill="hold" grpId="0" nodeType="withEffect">
                                  <p:stCondLst>
                                    <p:cond delay="15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700"/>
                                        <p:tgtEl>
                                          <p:spTgt spid="21"/>
                                        </p:tgtEl>
                                      </p:cBhvr>
                                    </p:animEffect>
                                    <p:anim calcmode="lin" valueType="num">
                                      <p:cBhvr>
                                        <p:cTn id="48" dur="700" fill="hold" decel="100000"/>
                                        <p:tgtEl>
                                          <p:spTgt spid="21"/>
                                        </p:tgtEl>
                                        <p:attrNameLst>
                                          <p:attrName>ppt_x</p:attrName>
                                        </p:attrNameLst>
                                      </p:cBhvr>
                                      <p:tavLst>
                                        <p:tav tm="0">
                                          <p:val>
                                            <p:strVal val="#ppt_x"/>
                                          </p:val>
                                        </p:tav>
                                        <p:tav tm="100000">
                                          <p:val>
                                            <p:strVal val="#ppt_x"/>
                                          </p:val>
                                        </p:tav>
                                      </p:tavLst>
                                    </p:anim>
                                    <p:anim calcmode="lin" valueType="num">
                                      <p:cBhvr>
                                        <p:cTn id="49" dur="700" fill="hold" decel="100000"/>
                                        <p:tgtEl>
                                          <p:spTgt spid="21"/>
                                        </p:tgtEl>
                                        <p:attrNameLst>
                                          <p:attrName>ppt_y</p:attrName>
                                        </p:attrNameLst>
                                      </p:cBhvr>
                                      <p:tavLst>
                                        <p:tav tm="0">
                                          <p:val>
                                            <p:strVal val="#ppt_y+.04"/>
                                          </p:val>
                                        </p:tav>
                                        <p:tav tm="100000">
                                          <p:val>
                                            <p:strVal val="#ppt_y"/>
                                          </p:val>
                                        </p:tav>
                                      </p:tavLst>
                                    </p:anim>
                                  </p:childTnLst>
                                </p:cTn>
                              </p:par>
                              <p:par>
                                <p:cTn id="50" presetID="42" presetClass="entr" presetSubtype="0" fill="hold" grpId="0" nodeType="withEffect">
                                  <p:stCondLst>
                                    <p:cond delay="15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700"/>
                                        <p:tgtEl>
                                          <p:spTgt spid="22"/>
                                        </p:tgtEl>
                                      </p:cBhvr>
                                    </p:animEffect>
                                    <p:anim calcmode="lin" valueType="num">
                                      <p:cBhvr>
                                        <p:cTn id="53" dur="700" fill="hold" decel="100000"/>
                                        <p:tgtEl>
                                          <p:spTgt spid="22"/>
                                        </p:tgtEl>
                                        <p:attrNameLst>
                                          <p:attrName>ppt_x</p:attrName>
                                        </p:attrNameLst>
                                      </p:cBhvr>
                                      <p:tavLst>
                                        <p:tav tm="0">
                                          <p:val>
                                            <p:strVal val="#ppt_x"/>
                                          </p:val>
                                        </p:tav>
                                        <p:tav tm="100000">
                                          <p:val>
                                            <p:strVal val="#ppt_x"/>
                                          </p:val>
                                        </p:tav>
                                      </p:tavLst>
                                    </p:anim>
                                    <p:anim calcmode="lin" valueType="num">
                                      <p:cBhvr>
                                        <p:cTn id="54" dur="700" fill="hold" decel="100000"/>
                                        <p:tgtEl>
                                          <p:spTgt spid="22"/>
                                        </p:tgtEl>
                                        <p:attrNameLst>
                                          <p:attrName>ppt_y</p:attrName>
                                        </p:attrNameLst>
                                      </p:cBhvr>
                                      <p:tavLst>
                                        <p:tav tm="0">
                                          <p:val>
                                            <p:strVal val="#ppt_y+.04"/>
                                          </p:val>
                                        </p:tav>
                                        <p:tav tm="100000">
                                          <p:val>
                                            <p:strVal val="#ppt_y"/>
                                          </p:val>
                                        </p:tav>
                                      </p:tavLst>
                                    </p:anim>
                                  </p:childTnLst>
                                </p:cTn>
                              </p:par>
                              <p:par>
                                <p:cTn id="55" presetID="42" presetClass="entr" presetSubtype="0" fill="hold" grpId="0" nodeType="withEffect">
                                  <p:stCondLst>
                                    <p:cond delay="150"/>
                                  </p:stCondLst>
                                  <p:childTnLst>
                                    <p:set>
                                      <p:cBhvr>
                                        <p:cTn id="56" dur="1" fill="hold">
                                          <p:stCondLst>
                                            <p:cond delay="0"/>
                                          </p:stCondLst>
                                        </p:cTn>
                                        <p:tgtEl>
                                          <p:spTgt spid="23"/>
                                        </p:tgtEl>
                                        <p:attrNameLst>
                                          <p:attrName>style.visibility</p:attrName>
                                        </p:attrNameLst>
                                      </p:cBhvr>
                                      <p:to>
                                        <p:strVal val="visible"/>
                                      </p:to>
                                    </p:set>
                                    <p:animEffect transition="in" filter="fade">
                                      <p:cBhvr>
                                        <p:cTn id="57" dur="700"/>
                                        <p:tgtEl>
                                          <p:spTgt spid="23"/>
                                        </p:tgtEl>
                                      </p:cBhvr>
                                    </p:animEffect>
                                    <p:anim calcmode="lin" valueType="num">
                                      <p:cBhvr>
                                        <p:cTn id="58" dur="700" fill="hold" decel="100000"/>
                                        <p:tgtEl>
                                          <p:spTgt spid="23"/>
                                        </p:tgtEl>
                                        <p:attrNameLst>
                                          <p:attrName>ppt_x</p:attrName>
                                        </p:attrNameLst>
                                      </p:cBhvr>
                                      <p:tavLst>
                                        <p:tav tm="0">
                                          <p:val>
                                            <p:strVal val="#ppt_x"/>
                                          </p:val>
                                        </p:tav>
                                        <p:tav tm="100000">
                                          <p:val>
                                            <p:strVal val="#ppt_x"/>
                                          </p:val>
                                        </p:tav>
                                      </p:tavLst>
                                    </p:anim>
                                    <p:anim calcmode="lin" valueType="num">
                                      <p:cBhvr>
                                        <p:cTn id="59" dur="700" fill="hold" decel="100000"/>
                                        <p:tgtEl>
                                          <p:spTgt spid="23"/>
                                        </p:tgtEl>
                                        <p:attrNameLst>
                                          <p:attrName>ppt_y</p:attrName>
                                        </p:attrNameLst>
                                      </p:cBhvr>
                                      <p:tavLst>
                                        <p:tav tm="0">
                                          <p:val>
                                            <p:strVal val="#ppt_y+.04"/>
                                          </p:val>
                                        </p:tav>
                                        <p:tav tm="100000">
                                          <p:val>
                                            <p:strVal val="#ppt_y"/>
                                          </p:val>
                                        </p:tav>
                                      </p:tavLst>
                                    </p:anim>
                                  </p:childTnLst>
                                </p:cTn>
                              </p:par>
                              <p:par>
                                <p:cTn id="60" presetID="42" presetClass="entr" presetSubtype="0" fill="hold" grpId="0" nodeType="withEffect">
                                  <p:stCondLst>
                                    <p:cond delay="150"/>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700"/>
                                        <p:tgtEl>
                                          <p:spTgt spid="24"/>
                                        </p:tgtEl>
                                      </p:cBhvr>
                                    </p:animEffect>
                                    <p:anim calcmode="lin" valueType="num">
                                      <p:cBhvr>
                                        <p:cTn id="63" dur="700" fill="hold" decel="100000"/>
                                        <p:tgtEl>
                                          <p:spTgt spid="24"/>
                                        </p:tgtEl>
                                        <p:attrNameLst>
                                          <p:attrName>ppt_x</p:attrName>
                                        </p:attrNameLst>
                                      </p:cBhvr>
                                      <p:tavLst>
                                        <p:tav tm="0">
                                          <p:val>
                                            <p:strVal val="#ppt_x"/>
                                          </p:val>
                                        </p:tav>
                                        <p:tav tm="100000">
                                          <p:val>
                                            <p:strVal val="#ppt_x"/>
                                          </p:val>
                                        </p:tav>
                                      </p:tavLst>
                                    </p:anim>
                                    <p:anim calcmode="lin" valueType="num">
                                      <p:cBhvr>
                                        <p:cTn id="64" dur="700" fill="hold" decel="100000"/>
                                        <p:tgtEl>
                                          <p:spTgt spid="24"/>
                                        </p:tgtEl>
                                        <p:attrNameLst>
                                          <p:attrName>ppt_y</p:attrName>
                                        </p:attrNameLst>
                                      </p:cBhvr>
                                      <p:tavLst>
                                        <p:tav tm="0">
                                          <p:val>
                                            <p:strVal val="#ppt_y+.04"/>
                                          </p:val>
                                        </p:tav>
                                        <p:tav tm="100000">
                                          <p:val>
                                            <p:strVal val="#ppt_y"/>
                                          </p:val>
                                        </p:tav>
                                      </p:tavLst>
                                    </p:anim>
                                  </p:childTnLst>
                                </p:cTn>
                              </p:par>
                              <p:par>
                                <p:cTn id="65" presetID="42" presetClass="entr" presetSubtype="0" fill="hold" grpId="0" nodeType="withEffect">
                                  <p:stCondLst>
                                    <p:cond delay="15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700"/>
                                        <p:tgtEl>
                                          <p:spTgt spid="25"/>
                                        </p:tgtEl>
                                      </p:cBhvr>
                                    </p:animEffect>
                                    <p:anim calcmode="lin" valueType="num">
                                      <p:cBhvr>
                                        <p:cTn id="68" dur="700" fill="hold" decel="100000"/>
                                        <p:tgtEl>
                                          <p:spTgt spid="25"/>
                                        </p:tgtEl>
                                        <p:attrNameLst>
                                          <p:attrName>ppt_x</p:attrName>
                                        </p:attrNameLst>
                                      </p:cBhvr>
                                      <p:tavLst>
                                        <p:tav tm="0">
                                          <p:val>
                                            <p:strVal val="#ppt_x"/>
                                          </p:val>
                                        </p:tav>
                                        <p:tav tm="100000">
                                          <p:val>
                                            <p:strVal val="#ppt_x"/>
                                          </p:val>
                                        </p:tav>
                                      </p:tavLst>
                                    </p:anim>
                                    <p:anim calcmode="lin" valueType="num">
                                      <p:cBhvr>
                                        <p:cTn id="69" dur="700" fill="hold" decel="100000"/>
                                        <p:tgtEl>
                                          <p:spTgt spid="25"/>
                                        </p:tgtEl>
                                        <p:attrNameLst>
                                          <p:attrName>ppt_y</p:attrName>
                                        </p:attrNameLst>
                                      </p:cBhvr>
                                      <p:tavLst>
                                        <p:tav tm="0">
                                          <p:val>
                                            <p:strVal val="#ppt_y+.04"/>
                                          </p:val>
                                        </p:tav>
                                        <p:tav tm="100000">
                                          <p:val>
                                            <p:strVal val="#ppt_y"/>
                                          </p:val>
                                        </p:tav>
                                      </p:tavLst>
                                    </p:anim>
                                  </p:childTnLst>
                                </p:cTn>
                              </p:par>
                            </p:childTnLst>
                          </p:cTn>
                        </p:par>
                        <p:par>
                          <p:cTn id="70" fill="hold">
                            <p:stCondLst>
                              <p:cond delay="2300"/>
                            </p:stCondLst>
                            <p:childTnLst>
                              <p:par>
                                <p:cTn id="71" presetID="42" presetClass="entr" presetSubtype="0" fill="hold" grpId="0" nodeType="afterEffect">
                                  <p:stCondLst>
                                    <p:cond delay="15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700"/>
                                        <p:tgtEl>
                                          <p:spTgt spid="26"/>
                                        </p:tgtEl>
                                      </p:cBhvr>
                                    </p:animEffect>
                                    <p:anim calcmode="lin" valueType="num">
                                      <p:cBhvr>
                                        <p:cTn id="74" dur="700" fill="hold" decel="100000"/>
                                        <p:tgtEl>
                                          <p:spTgt spid="26"/>
                                        </p:tgtEl>
                                        <p:attrNameLst>
                                          <p:attrName>ppt_x</p:attrName>
                                        </p:attrNameLst>
                                      </p:cBhvr>
                                      <p:tavLst>
                                        <p:tav tm="0">
                                          <p:val>
                                            <p:strVal val="#ppt_x"/>
                                          </p:val>
                                        </p:tav>
                                        <p:tav tm="100000">
                                          <p:val>
                                            <p:strVal val="#ppt_x"/>
                                          </p:val>
                                        </p:tav>
                                      </p:tavLst>
                                    </p:anim>
                                    <p:anim calcmode="lin" valueType="num">
                                      <p:cBhvr>
                                        <p:cTn id="75" dur="700" fill="hold" decel="100000"/>
                                        <p:tgtEl>
                                          <p:spTgt spid="26"/>
                                        </p:tgtEl>
                                        <p:attrNameLst>
                                          <p:attrName>ppt_y</p:attrName>
                                        </p:attrNameLst>
                                      </p:cBhvr>
                                      <p:tavLst>
                                        <p:tav tm="0">
                                          <p:val>
                                            <p:strVal val="#ppt_y+.04"/>
                                          </p:val>
                                        </p:tav>
                                        <p:tav tm="100000">
                                          <p:val>
                                            <p:strVal val="#ppt_y"/>
                                          </p:val>
                                        </p:tav>
                                      </p:tavLst>
                                    </p:anim>
                                  </p:childTnLst>
                                </p:cTn>
                              </p:par>
                              <p:par>
                                <p:cTn id="76" presetID="42" presetClass="entr" presetSubtype="0" fill="hold" grpId="0" nodeType="withEffect">
                                  <p:stCondLst>
                                    <p:cond delay="15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700"/>
                                        <p:tgtEl>
                                          <p:spTgt spid="27"/>
                                        </p:tgtEl>
                                      </p:cBhvr>
                                    </p:animEffect>
                                    <p:anim calcmode="lin" valueType="num">
                                      <p:cBhvr>
                                        <p:cTn id="79" dur="700" fill="hold" decel="100000"/>
                                        <p:tgtEl>
                                          <p:spTgt spid="27"/>
                                        </p:tgtEl>
                                        <p:attrNameLst>
                                          <p:attrName>ppt_x</p:attrName>
                                        </p:attrNameLst>
                                      </p:cBhvr>
                                      <p:tavLst>
                                        <p:tav tm="0">
                                          <p:val>
                                            <p:strVal val="#ppt_x"/>
                                          </p:val>
                                        </p:tav>
                                        <p:tav tm="100000">
                                          <p:val>
                                            <p:strVal val="#ppt_x"/>
                                          </p:val>
                                        </p:tav>
                                      </p:tavLst>
                                    </p:anim>
                                    <p:anim calcmode="lin" valueType="num">
                                      <p:cBhvr>
                                        <p:cTn id="80" dur="700" fill="hold" decel="100000"/>
                                        <p:tgtEl>
                                          <p:spTgt spid="27"/>
                                        </p:tgtEl>
                                        <p:attrNameLst>
                                          <p:attrName>ppt_y</p:attrName>
                                        </p:attrNameLst>
                                      </p:cBhvr>
                                      <p:tavLst>
                                        <p:tav tm="0">
                                          <p:val>
                                            <p:strVal val="#ppt_y+.04"/>
                                          </p:val>
                                        </p:tav>
                                        <p:tav tm="100000">
                                          <p:val>
                                            <p:strVal val="#ppt_y"/>
                                          </p:val>
                                        </p:tav>
                                      </p:tavLst>
                                    </p:anim>
                                  </p:childTnLst>
                                </p:cTn>
                              </p:par>
                              <p:par>
                                <p:cTn id="81" presetID="42" presetClass="entr" presetSubtype="0" fill="hold" grpId="0" nodeType="withEffect">
                                  <p:stCondLst>
                                    <p:cond delay="150"/>
                                  </p:stCondLst>
                                  <p:childTnLst>
                                    <p:set>
                                      <p:cBhvr>
                                        <p:cTn id="82" dur="1" fill="hold">
                                          <p:stCondLst>
                                            <p:cond delay="0"/>
                                          </p:stCondLst>
                                        </p:cTn>
                                        <p:tgtEl>
                                          <p:spTgt spid="28"/>
                                        </p:tgtEl>
                                        <p:attrNameLst>
                                          <p:attrName>style.visibility</p:attrName>
                                        </p:attrNameLst>
                                      </p:cBhvr>
                                      <p:to>
                                        <p:strVal val="visible"/>
                                      </p:to>
                                    </p:set>
                                    <p:animEffect transition="in" filter="fade">
                                      <p:cBhvr>
                                        <p:cTn id="83" dur="700"/>
                                        <p:tgtEl>
                                          <p:spTgt spid="28"/>
                                        </p:tgtEl>
                                      </p:cBhvr>
                                    </p:animEffect>
                                    <p:anim calcmode="lin" valueType="num">
                                      <p:cBhvr>
                                        <p:cTn id="84" dur="700" fill="hold" decel="100000"/>
                                        <p:tgtEl>
                                          <p:spTgt spid="28"/>
                                        </p:tgtEl>
                                        <p:attrNameLst>
                                          <p:attrName>ppt_x</p:attrName>
                                        </p:attrNameLst>
                                      </p:cBhvr>
                                      <p:tavLst>
                                        <p:tav tm="0">
                                          <p:val>
                                            <p:strVal val="#ppt_x"/>
                                          </p:val>
                                        </p:tav>
                                        <p:tav tm="100000">
                                          <p:val>
                                            <p:strVal val="#ppt_x"/>
                                          </p:val>
                                        </p:tav>
                                      </p:tavLst>
                                    </p:anim>
                                    <p:anim calcmode="lin" valueType="num">
                                      <p:cBhvr>
                                        <p:cTn id="85" dur="700" fill="hold" decel="100000"/>
                                        <p:tgtEl>
                                          <p:spTgt spid="28"/>
                                        </p:tgtEl>
                                        <p:attrNameLst>
                                          <p:attrName>ppt_y</p:attrName>
                                        </p:attrNameLst>
                                      </p:cBhvr>
                                      <p:tavLst>
                                        <p:tav tm="0">
                                          <p:val>
                                            <p:strVal val="#ppt_y+.04"/>
                                          </p:val>
                                        </p:tav>
                                        <p:tav tm="100000">
                                          <p:val>
                                            <p:strVal val="#ppt_y"/>
                                          </p:val>
                                        </p:tav>
                                      </p:tavLst>
                                    </p:anim>
                                  </p:childTnLst>
                                </p:cTn>
                              </p:par>
                              <p:par>
                                <p:cTn id="86" presetID="42" presetClass="entr" presetSubtype="0" fill="hold" grpId="0" nodeType="withEffect">
                                  <p:stCondLst>
                                    <p:cond delay="150"/>
                                  </p:stCondLst>
                                  <p:childTnLst>
                                    <p:set>
                                      <p:cBhvr>
                                        <p:cTn id="87" dur="1" fill="hold">
                                          <p:stCondLst>
                                            <p:cond delay="0"/>
                                          </p:stCondLst>
                                        </p:cTn>
                                        <p:tgtEl>
                                          <p:spTgt spid="29"/>
                                        </p:tgtEl>
                                        <p:attrNameLst>
                                          <p:attrName>style.visibility</p:attrName>
                                        </p:attrNameLst>
                                      </p:cBhvr>
                                      <p:to>
                                        <p:strVal val="visible"/>
                                      </p:to>
                                    </p:set>
                                    <p:animEffect transition="in" filter="fade">
                                      <p:cBhvr>
                                        <p:cTn id="88" dur="700"/>
                                        <p:tgtEl>
                                          <p:spTgt spid="29"/>
                                        </p:tgtEl>
                                      </p:cBhvr>
                                    </p:animEffect>
                                    <p:anim calcmode="lin" valueType="num">
                                      <p:cBhvr>
                                        <p:cTn id="89" dur="700" fill="hold" decel="100000"/>
                                        <p:tgtEl>
                                          <p:spTgt spid="29"/>
                                        </p:tgtEl>
                                        <p:attrNameLst>
                                          <p:attrName>ppt_x</p:attrName>
                                        </p:attrNameLst>
                                      </p:cBhvr>
                                      <p:tavLst>
                                        <p:tav tm="0">
                                          <p:val>
                                            <p:strVal val="#ppt_x"/>
                                          </p:val>
                                        </p:tav>
                                        <p:tav tm="100000">
                                          <p:val>
                                            <p:strVal val="#ppt_x"/>
                                          </p:val>
                                        </p:tav>
                                      </p:tavLst>
                                    </p:anim>
                                    <p:anim calcmode="lin" valueType="num">
                                      <p:cBhvr>
                                        <p:cTn id="90" dur="700" fill="hold" decel="100000"/>
                                        <p:tgtEl>
                                          <p:spTgt spid="29"/>
                                        </p:tgtEl>
                                        <p:attrNameLst>
                                          <p:attrName>ppt_y</p:attrName>
                                        </p:attrNameLst>
                                      </p:cBhvr>
                                      <p:tavLst>
                                        <p:tav tm="0">
                                          <p:val>
                                            <p:strVal val="#ppt_y+.04"/>
                                          </p:val>
                                        </p:tav>
                                        <p:tav tm="100000">
                                          <p:val>
                                            <p:strVal val="#ppt_y"/>
                                          </p:val>
                                        </p:tav>
                                      </p:tavLst>
                                    </p:anim>
                                  </p:childTnLst>
                                </p:cTn>
                              </p:par>
                              <p:par>
                                <p:cTn id="91" presetID="42" presetClass="entr" presetSubtype="0" fill="hold" grpId="0" nodeType="withEffect">
                                  <p:stCondLst>
                                    <p:cond delay="150"/>
                                  </p:stCondLst>
                                  <p:childTnLst>
                                    <p:set>
                                      <p:cBhvr>
                                        <p:cTn id="92" dur="1" fill="hold">
                                          <p:stCondLst>
                                            <p:cond delay="0"/>
                                          </p:stCondLst>
                                        </p:cTn>
                                        <p:tgtEl>
                                          <p:spTgt spid="30"/>
                                        </p:tgtEl>
                                        <p:attrNameLst>
                                          <p:attrName>style.visibility</p:attrName>
                                        </p:attrNameLst>
                                      </p:cBhvr>
                                      <p:to>
                                        <p:strVal val="visible"/>
                                      </p:to>
                                    </p:set>
                                    <p:animEffect transition="in" filter="fade">
                                      <p:cBhvr>
                                        <p:cTn id="93" dur="700"/>
                                        <p:tgtEl>
                                          <p:spTgt spid="30"/>
                                        </p:tgtEl>
                                      </p:cBhvr>
                                    </p:animEffect>
                                    <p:anim calcmode="lin" valueType="num">
                                      <p:cBhvr>
                                        <p:cTn id="94" dur="700" fill="hold" decel="100000"/>
                                        <p:tgtEl>
                                          <p:spTgt spid="30"/>
                                        </p:tgtEl>
                                        <p:attrNameLst>
                                          <p:attrName>ppt_x</p:attrName>
                                        </p:attrNameLst>
                                      </p:cBhvr>
                                      <p:tavLst>
                                        <p:tav tm="0">
                                          <p:val>
                                            <p:strVal val="#ppt_x"/>
                                          </p:val>
                                        </p:tav>
                                        <p:tav tm="100000">
                                          <p:val>
                                            <p:strVal val="#ppt_x"/>
                                          </p:val>
                                        </p:tav>
                                      </p:tavLst>
                                    </p:anim>
                                    <p:anim calcmode="lin" valueType="num">
                                      <p:cBhvr>
                                        <p:cTn id="95" dur="700" fill="hold" decel="100000"/>
                                        <p:tgtEl>
                                          <p:spTgt spid="30"/>
                                        </p:tgtEl>
                                        <p:attrNameLst>
                                          <p:attrName>ppt_y</p:attrName>
                                        </p:attrNameLst>
                                      </p:cBhvr>
                                      <p:tavLst>
                                        <p:tav tm="0">
                                          <p:val>
                                            <p:strVal val="#ppt_y+.04"/>
                                          </p:val>
                                        </p:tav>
                                        <p:tav tm="100000">
                                          <p:val>
                                            <p:strVal val="#ppt_y"/>
                                          </p:val>
                                        </p:tav>
                                      </p:tavLst>
                                    </p:anim>
                                  </p:childTnLst>
                                </p:cTn>
                              </p:par>
                              <p:par>
                                <p:cTn id="96" presetID="42" presetClass="entr" presetSubtype="0" fill="hold" grpId="0" nodeType="withEffect">
                                  <p:stCondLst>
                                    <p:cond delay="150"/>
                                  </p:stCondLst>
                                  <p:childTnLst>
                                    <p:set>
                                      <p:cBhvr>
                                        <p:cTn id="97" dur="1" fill="hold">
                                          <p:stCondLst>
                                            <p:cond delay="0"/>
                                          </p:stCondLst>
                                        </p:cTn>
                                        <p:tgtEl>
                                          <p:spTgt spid="31"/>
                                        </p:tgtEl>
                                        <p:attrNameLst>
                                          <p:attrName>style.visibility</p:attrName>
                                        </p:attrNameLst>
                                      </p:cBhvr>
                                      <p:to>
                                        <p:strVal val="visible"/>
                                      </p:to>
                                    </p:set>
                                    <p:animEffect transition="in" filter="fade">
                                      <p:cBhvr>
                                        <p:cTn id="98" dur="700"/>
                                        <p:tgtEl>
                                          <p:spTgt spid="31"/>
                                        </p:tgtEl>
                                      </p:cBhvr>
                                    </p:animEffect>
                                    <p:anim calcmode="lin" valueType="num">
                                      <p:cBhvr>
                                        <p:cTn id="99" dur="700" fill="hold" decel="100000"/>
                                        <p:tgtEl>
                                          <p:spTgt spid="31"/>
                                        </p:tgtEl>
                                        <p:attrNameLst>
                                          <p:attrName>ppt_x</p:attrName>
                                        </p:attrNameLst>
                                      </p:cBhvr>
                                      <p:tavLst>
                                        <p:tav tm="0">
                                          <p:val>
                                            <p:strVal val="#ppt_x"/>
                                          </p:val>
                                        </p:tav>
                                        <p:tav tm="100000">
                                          <p:val>
                                            <p:strVal val="#ppt_x"/>
                                          </p:val>
                                        </p:tav>
                                      </p:tavLst>
                                    </p:anim>
                                    <p:anim calcmode="lin" valueType="num">
                                      <p:cBhvr>
                                        <p:cTn id="100" dur="700" fill="hold" decel="100000"/>
                                        <p:tgtEl>
                                          <p:spTgt spid="31"/>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4" grpId="0" animBg="1"/>
      <p:bldP spid="15" grpId="0" animBg="1"/>
      <p:bldP spid="16" grpId="0" animBg="1"/>
      <p:bldP spid="18" grpId="0"/>
      <p:bldP spid="19" grpId="0"/>
      <p:bldP spid="20" grpId="0" animBg="1"/>
      <p:bldP spid="21" grpId="0" animBg="1"/>
      <p:bldP spid="22" grpId="0" animBg="1"/>
      <p:bldP spid="24" grpId="0"/>
      <p:bldP spid="25" grpId="0"/>
      <p:bldP spid="26" grpId="0" animBg="1"/>
      <p:bldP spid="27" grpId="0" animBg="1"/>
      <p:bldP spid="28" grpId="0" animBg="1"/>
      <p:bldP spid="30" grpId="0"/>
      <p:bldP spid="31" grpId="0"/>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8F3"/>
        </a:solidFill>
        <a:effectLst/>
      </p:bgPr>
    </p:bg>
    <p:spTree>
      <p:nvGrpSpPr>
        <p:cNvPr id="1" name=""/>
        <p:cNvGrpSpPr/>
        <p:nvPr/>
      </p:nvGrpSpPr>
      <p:grpSpPr/>
      <p:sp>
        <p:nvSpPr>
          <p:cNvPr id="2" name="Trait or"/>
          <p:cNvSpPr/>
          <p:nvPr/>
        </p:nvSpPr>
        <p:spPr>
          <a:xfrm>
            <a:off x="609600" y="444500"/>
            <a:ext cx="406400" cy="38100"/>
          </a:xfrm>
          <a:prstGeom prst="rect">
            <a:avLst/>
          </a:prstGeom>
          <a:solidFill>
            <a:srgbClr val="D3A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brique"/>
          <p:cNvSpPr txBox="1"/>
          <p:nvPr/>
        </p:nvSpPr>
        <p:spPr>
          <a:xfrm>
            <a:off x="609600" y="508000"/>
            <a:ext cx="10160000" cy="304800"/>
          </a:xfrm>
          <a:prstGeom prst="rect">
            <a:avLst/>
          </a:prstGeom>
          <a:noFill/>
        </p:spPr>
        <p:txBody>
          <a:bodyPr wrap="square" lIns="0" tIns="0" rIns="0" bIns="0" anchor="ctr">
            <a:noAutofit/>
          </a:bodyPr>
          <a:lstStyle/>
          <a:p>
            <a:pPr algn="l">
              <a:lnSpc>
                <a:spcPct val="100000"/>
              </a:lnSpc>
              <a:spcBef>
                <a:spcPts val="0"/>
              </a:spcBef>
              <a:spcAft>
                <a:spcPts val="0"/>
              </a:spcAft>
            </a:pPr>
            <a:r>
              <a:rPr sz="2000" b="1" i="0" lang="fr-FR" spc="150">
                <a:solidFill>
                  <a:srgbClr val="1E7B67"/>
                </a:solidFill>
                <a:latin typeface="Calibri"/>
              </a:rPr>
              <a:t>03 / LES MINES</a:t>
            </a:r>
          </a:p>
        </p:txBody>
      </p:sp>
      <p:sp>
        <p:nvSpPr>
          <p:cNvPr id="4" name="Titre"/>
          <p:cNvSpPr txBox="1"/>
          <p:nvPr/>
        </p:nvSpPr>
        <p:spPr>
          <a:xfrm>
            <a:off x="609600" y="774700"/>
            <a:ext cx="10972800" cy="609600"/>
          </a:xfrm>
          <a:prstGeom prst="rect">
            <a:avLst/>
          </a:prstGeom>
          <a:noFill/>
        </p:spPr>
        <p:txBody>
          <a:bodyPr wrap="square" lIns="0" tIns="0" rIns="0" bIns="0" anchor="ctr">
            <a:noAutofit/>
          </a:bodyPr>
          <a:lstStyle/>
          <a:p>
            <a:pPr algn="l">
              <a:lnSpc>
                <a:spcPct val="100000"/>
              </a:lnSpc>
              <a:spcBef>
                <a:spcPts val="0"/>
              </a:spcBef>
              <a:spcAft>
                <a:spcPts val="0"/>
              </a:spcAft>
            </a:pPr>
            <a:r>
              <a:rPr sz="4000" b="1" i="0" lang="fr-FR">
                <a:solidFill>
                  <a:srgbClr val="12264A"/>
                </a:solidFill>
                <a:latin typeface="Calibri"/>
              </a:rPr>
              <a:t>Trois mines, trois profils</a:t>
            </a:r>
          </a:p>
        </p:txBody>
      </p:sp>
      <p:sp>
        <p:nvSpPr>
          <p:cNvPr id="5" name="Note prospective"/>
          <p:cNvSpPr txBox="1"/>
          <p:nvPr/>
        </p:nvSpPr>
        <p:spPr>
          <a:xfrm>
            <a:off x="609600" y="6032500"/>
            <a:ext cx="10972800" cy="228600"/>
          </a:xfrm>
          <a:prstGeom prst="rect">
            <a:avLst/>
          </a:prstGeom>
          <a:noFill/>
        </p:spPr>
        <p:txBody>
          <a:bodyPr wrap="square" lIns="0" tIns="0" rIns="0" bIns="0" anchor="ctr">
            <a:noAutofit/>
          </a:bodyPr>
          <a:lstStyle/>
          <a:p>
            <a:pPr algn="l">
              <a:lnSpc>
                <a:spcPct val="100000"/>
              </a:lnSpc>
              <a:spcBef>
                <a:spcPts val="0"/>
              </a:spcBef>
              <a:spcAft>
                <a:spcPts val="0"/>
              </a:spcAft>
            </a:pPr>
            <a:r>
              <a:rPr sz="1600" b="0" i="1" lang="fr-FR">
                <a:solidFill>
                  <a:srgbClr val="1B2A41"/>
                </a:solidFill>
                <a:latin typeface="Calibri"/>
              </a:rPr>
              <a:t>Projections prospectives du dossier FUTURA-Kouroussa, hypothèse 4 400 USD l’once, non vérifiées de façon indépendante.</a:t>
            </a:r>
          </a:p>
        </p:txBody>
      </p:sp>
      <p:sp>
        <p:nvSpPr>
          <p:cNvPr id="6" name="Pied de page"/>
          <p:cNvSpPr txBox="1"/>
          <p:nvPr/>
        </p:nvSpPr>
        <p:spPr>
          <a:xfrm>
            <a:off x="609600" y="6413500"/>
            <a:ext cx="4826000" cy="241300"/>
          </a:xfrm>
          <a:prstGeom prst="rect">
            <a:avLst/>
          </a:prstGeom>
          <a:noFill/>
        </p:spPr>
        <p:txBody>
          <a:bodyPr wrap="square" lIns="0" tIns="0" rIns="0" bIns="0" anchor="ctr">
            <a:noAutofit/>
          </a:bodyPr>
          <a:lstStyle/>
          <a:p>
            <a:pPr algn="l">
              <a:lnSpc>
                <a:spcPct val="100000"/>
              </a:lnSpc>
              <a:spcBef>
                <a:spcPts val="0"/>
              </a:spcBef>
              <a:spcAft>
                <a:spcPts val="0"/>
              </a:spcAft>
            </a:pPr>
            <a:r>
              <a:rPr sz="1400" b="1" i="0" lang="fr-FR" spc="50">
                <a:solidFill>
                  <a:srgbClr val="1B2A41"/>
                </a:solidFill>
                <a:latin typeface="Calibri"/>
              </a:rPr>
              <a:t>FUTURA - KOUROUSSA | Octobre 2026</a:t>
            </a:r>
          </a:p>
        </p:txBody>
      </p:sp>
      <p:sp>
        <p:nvSpPr>
          <p:cNvPr id="7" name="Pied bandeau"/>
          <p:cNvSpPr/>
          <p:nvPr/>
        </p:nvSpPr>
        <p:spPr>
          <a:xfrm>
            <a:off x="9069742" y="6350000"/>
            <a:ext cx="2512658" cy="355600"/>
          </a:xfrm>
          <a:prstGeom prst="roundRect">
            <a:avLst>
              <a:gd name="adj" fmla="val 42857"/>
            </a:avLst>
          </a:prstGeom>
          <a:solidFill>
            <a:srgbClr val="FFFFFF"/>
          </a:solidFill>
          <a:ln w="9525">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ed logo futura-kouroussa" descr="futura-kouroussa.png"/>
          <p:cNvPicPr>
            <a:picLocks noChangeAspect="1"/>
          </p:cNvPicPr>
          <p:nvPr/>
        </p:nvPicPr>
        <p:blipFill>
          <a:blip r:embed="rId2"/>
          <a:stretch>
            <a:fillRect/>
          </a:stretch>
        </p:blipFill>
        <p:spPr>
          <a:xfrm>
            <a:off x="9184042" y="6419850"/>
            <a:ext cx="391970" cy="215900"/>
          </a:xfrm>
          <a:prstGeom prst="rect">
            <a:avLst/>
          </a:prstGeom>
        </p:spPr>
      </p:pic>
      <p:pic>
        <p:nvPicPr>
          <p:cNvPr id="9" name="Pied logo republique-de-guinee-armoiries" descr="republique-de-guinee-armoiries.png"/>
          <p:cNvPicPr>
            <a:picLocks noChangeAspect="1"/>
          </p:cNvPicPr>
          <p:nvPr/>
        </p:nvPicPr>
        <p:blipFill>
          <a:blip r:embed="rId3"/>
          <a:stretch>
            <a:fillRect/>
          </a:stretch>
        </p:blipFill>
        <p:spPr>
          <a:xfrm>
            <a:off x="9664912" y="6419850"/>
            <a:ext cx="179814" cy="215900"/>
          </a:xfrm>
          <a:prstGeom prst="rect">
            <a:avLst/>
          </a:prstGeom>
        </p:spPr>
      </p:pic>
      <p:pic>
        <p:nvPicPr>
          <p:cNvPr id="10" name="Pied logo assemblee-nationale" descr="assemblee-nationale.png"/>
          <p:cNvPicPr>
            <a:picLocks noChangeAspect="1"/>
          </p:cNvPicPr>
          <p:nvPr/>
        </p:nvPicPr>
        <p:blipFill>
          <a:blip r:embed="rId4"/>
          <a:stretch>
            <a:fillRect/>
          </a:stretch>
        </p:blipFill>
        <p:spPr>
          <a:xfrm>
            <a:off x="9933626" y="6419850"/>
            <a:ext cx="217442" cy="215900"/>
          </a:xfrm>
          <a:prstGeom prst="rect">
            <a:avLst/>
          </a:prstGeom>
        </p:spPr>
      </p:pic>
      <p:pic>
        <p:nvPicPr>
          <p:cNvPr id="11" name="Pied logo simandou-2040" descr="simandou-2040.png"/>
          <p:cNvPicPr>
            <a:picLocks noChangeAspect="1"/>
          </p:cNvPicPr>
          <p:nvPr/>
        </p:nvPicPr>
        <p:blipFill>
          <a:blip r:embed="rId5"/>
          <a:stretch>
            <a:fillRect/>
          </a:stretch>
        </p:blipFill>
        <p:spPr>
          <a:xfrm>
            <a:off x="10239968" y="6419850"/>
            <a:ext cx="674774" cy="215900"/>
          </a:xfrm>
          <a:prstGeom prst="rect">
            <a:avLst/>
          </a:prstGeom>
        </p:spPr>
      </p:pic>
      <p:pic>
        <p:nvPicPr>
          <p:cNvPr id="12" name="Pied logo guinee" descr="guinee.png"/>
          <p:cNvPicPr>
            <a:picLocks noChangeAspect="1"/>
          </p:cNvPicPr>
          <p:nvPr/>
        </p:nvPicPr>
        <p:blipFill>
          <a:blip r:embed="rId6"/>
          <a:stretch>
            <a:fillRect/>
          </a:stretch>
        </p:blipFill>
        <p:spPr>
          <a:xfrm>
            <a:off x="11003643" y="6419850"/>
            <a:ext cx="464457" cy="215900"/>
          </a:xfrm>
          <a:prstGeom prst="rect">
            <a:avLst/>
          </a:prstGeom>
        </p:spPr>
      </p:pic>
      <p:sp>
        <p:nvSpPr>
          <p:cNvPr id="13" name="Numéro"/>
          <p:cNvSpPr txBox="1"/>
          <p:nvPr/>
        </p:nvSpPr>
        <p:spPr>
          <a:xfrm>
            <a:off x="7990242" y="6413500"/>
            <a:ext cx="952500" cy="241300"/>
          </a:xfrm>
          <a:prstGeom prst="rect">
            <a:avLst/>
          </a:prstGeom>
          <a:noFill/>
        </p:spPr>
        <p:txBody>
          <a:bodyPr wrap="square" lIns="0" tIns="0" rIns="0" bIns="0" anchor="ctr">
            <a:noAutofit/>
          </a:bodyPr>
          <a:lstStyle/>
          <a:p>
            <a:pPr algn="r">
              <a:lnSpc>
                <a:spcPct val="100000"/>
              </a:lnSpc>
              <a:spcBef>
                <a:spcPts val="0"/>
              </a:spcBef>
              <a:spcAft>
                <a:spcPts val="0"/>
              </a:spcAft>
            </a:pPr>
            <a:r>
              <a:rPr sz="1400" b="1" i="0" lang="fr-FR">
                <a:solidFill>
                  <a:srgbClr val="12264A"/>
                </a:solidFill>
                <a:latin typeface="Calibri"/>
              </a:rPr>
              <a:t>04 / 15</a:t>
            </a:r>
          </a:p>
        </p:txBody>
      </p:sp>
      <p:sp>
        <p:nvSpPr>
          <p:cNvPr id="14" name="s04 carte 1"/>
          <p:cNvSpPr/>
          <p:nvPr/>
        </p:nvSpPr>
        <p:spPr>
          <a:xfrm>
            <a:off x="609600" y="1524000"/>
            <a:ext cx="10972800" cy="1079500"/>
          </a:xfrm>
          <a:prstGeom prst="roundRect">
            <a:avLst>
              <a:gd name="adj" fmla="val 9411"/>
            </a:avLst>
          </a:prstGeom>
          <a:solidFill>
            <a:srgbClr val="FFFFFF"/>
          </a:solidFill>
          <a:ln w="9525">
            <a:solidFill>
              <a:srgbClr val="E3DED3"/>
            </a:solidFill>
          </a:ln>
          <a:effectLst>
            <a:outerShdw blurRad="165100" dist="38100" dir="5400000" algn="t" rotWithShape="0">
              <a:srgbClr val="12264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04 carte 1 filet"/>
          <p:cNvSpPr/>
          <p:nvPr/>
        </p:nvSpPr>
        <p:spPr>
          <a:xfrm>
            <a:off x="609600" y="1625600"/>
            <a:ext cx="50800" cy="876300"/>
          </a:xfrm>
          <a:prstGeom prst="rect">
            <a:avLst/>
          </a:prstGeom>
          <a:solidFill>
            <a:srgbClr val="D3A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04 carte 2"/>
          <p:cNvSpPr/>
          <p:nvPr/>
        </p:nvSpPr>
        <p:spPr>
          <a:xfrm>
            <a:off x="609600" y="2679700"/>
            <a:ext cx="10972800" cy="1079500"/>
          </a:xfrm>
          <a:prstGeom prst="roundRect">
            <a:avLst>
              <a:gd name="adj" fmla="val 9411"/>
            </a:avLst>
          </a:prstGeom>
          <a:solidFill>
            <a:srgbClr val="FFFFFF"/>
          </a:solidFill>
          <a:ln w="9525">
            <a:solidFill>
              <a:srgbClr val="E3DED3"/>
            </a:solidFill>
          </a:ln>
          <a:effectLst>
            <a:outerShdw blurRad="165100" dist="38100" dir="5400000" algn="t" rotWithShape="0">
              <a:srgbClr val="12264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s04 carte 2 filet"/>
          <p:cNvSpPr/>
          <p:nvPr/>
        </p:nvSpPr>
        <p:spPr>
          <a:xfrm>
            <a:off x="609600" y="2781300"/>
            <a:ext cx="50800" cy="876300"/>
          </a:xfrm>
          <a:prstGeom prst="rect">
            <a:avLst/>
          </a:prstGeom>
          <a:solidFill>
            <a:srgbClr val="1E7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04 carte 3"/>
          <p:cNvSpPr/>
          <p:nvPr/>
        </p:nvSpPr>
        <p:spPr>
          <a:xfrm>
            <a:off x="609600" y="3835400"/>
            <a:ext cx="10972800" cy="1079500"/>
          </a:xfrm>
          <a:prstGeom prst="roundRect">
            <a:avLst>
              <a:gd name="adj" fmla="val 9411"/>
            </a:avLst>
          </a:prstGeom>
          <a:solidFill>
            <a:srgbClr val="FFFFFF"/>
          </a:solidFill>
          <a:ln w="9525">
            <a:solidFill>
              <a:srgbClr val="E3DED3"/>
            </a:solidFill>
          </a:ln>
          <a:effectLst>
            <a:outerShdw blurRad="165100" dist="38100" dir="5400000" algn="t" rotWithShape="0">
              <a:srgbClr val="12264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04 carte 3 filet"/>
          <p:cNvSpPr/>
          <p:nvPr/>
        </p:nvSpPr>
        <p:spPr>
          <a:xfrm>
            <a:off x="609600" y="3937000"/>
            <a:ext cx="50800" cy="876300"/>
          </a:xfrm>
          <a:prstGeom prst="rect">
            <a:avLst/>
          </a:prstGeom>
          <a:solidFill>
            <a:srgbClr val="A955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20" name="s04 graphique CA"/>
          <p:cNvGraphicFramePr>
            <a:graphicFrameLocks noGrp="1"/>
          </p:cNvGraphicFramePr>
          <p:nvPr/>
        </p:nvGraphicFramePr>
        <p:xfrm>
          <a:off x="8013700" y="1485900"/>
          <a:ext cx="3530600" cy="3467100"/>
        </p:xfrm>
        <a:graphic>
          <a:graphicData uri="http://schemas.openxmlformats.org/drawingml/2006/chart">
            <c:chart xmlns:c="http://schemas.openxmlformats.org/drawingml/2006/chart" r:id="rId7"/>
          </a:graphicData>
        </a:graphic>
      </p:graphicFrame>
      <p:sp>
        <p:nvSpPr>
          <p:cNvPr id="21" name="s04 texte 1"/>
          <p:cNvSpPr txBox="1"/>
          <p:nvPr/>
        </p:nvSpPr>
        <p:spPr>
          <a:xfrm>
            <a:off x="863600" y="1574800"/>
            <a:ext cx="7048500" cy="977900"/>
          </a:xfrm>
          <a:prstGeom prst="rect">
            <a:avLst/>
          </a:prstGeom>
          <a:noFill/>
        </p:spPr>
        <p:txBody>
          <a:bodyPr wrap="square" lIns="0" tIns="0" rIns="0" bIns="0" anchor="ctr">
            <a:noAutofit/>
          </a:bodyPr>
          <a:lstStyle/>
          <a:p>
            <a:pPr algn="l">
              <a:lnSpc>
                <a:spcPct val="100000"/>
              </a:lnSpc>
              <a:spcBef>
                <a:spcPts val="0"/>
              </a:spcBef>
              <a:spcAft>
                <a:spcPts val="0"/>
              </a:spcAft>
            </a:pPr>
            <a:r>
              <a:rPr sz="2600" b="1" i="0" lang="fr-FR">
                <a:solidFill>
                  <a:srgbClr val="12264A"/>
                </a:solidFill>
                <a:latin typeface="Calibri"/>
              </a:rPr>
              <a:t>Kouroussa Gold Mine</a:t>
            </a:r>
          </a:p>
          <a:p>
            <a:pPr algn="l">
              <a:lnSpc>
                <a:spcPct val="100000"/>
              </a:lnSpc>
              <a:spcBef>
                <a:spcPts val="0"/>
              </a:spcBef>
              <a:spcAft>
                <a:spcPts val="0"/>
              </a:spcAft>
            </a:pPr>
            <a:r>
              <a:rPr sz="2000" b="1" i="0" lang="fr-FR">
                <a:solidFill>
                  <a:srgbClr val="1B2A41"/>
                </a:solidFill>
                <a:latin typeface="Calibri"/>
              </a:rPr>
              <a:t>Opérateur : </a:t>
            </a:r>
            <a:r>
              <a:rPr sz="2000" b="0" i="0" lang="fr-FR">
                <a:solidFill>
                  <a:srgbClr val="1B2A41"/>
                </a:solidFill>
                <a:latin typeface="Calibri"/>
              </a:rPr>
              <a:t>Mansa Resources (société privée enregistrée à Dubaï)</a:t>
            </a:r>
          </a:p>
          <a:p>
            <a:pPr algn="l">
              <a:lnSpc>
                <a:spcPct val="100000"/>
              </a:lnSpc>
              <a:spcBef>
                <a:spcPts val="0"/>
              </a:spcBef>
              <a:spcAft>
                <a:spcPts val="0"/>
              </a:spcAft>
            </a:pPr>
            <a:r>
              <a:rPr sz="2000" b="1" i="0" lang="fr-FR">
                <a:solidFill>
                  <a:srgbClr val="12264A"/>
                </a:solidFill>
                <a:latin typeface="Calibri"/>
              </a:rPr>
              <a:t>En production depuis novembre 2024</a:t>
            </a:r>
            <a:r>
              <a:rPr sz="2000" b="0" i="0" lang="fr-FR">
                <a:solidFill>
                  <a:srgbClr val="1B2A41"/>
                </a:solidFill>
                <a:latin typeface="Calibri"/>
              </a:rPr>
              <a:t> · 100 000 à 140 000 oz par an</a:t>
            </a:r>
          </a:p>
        </p:txBody>
      </p:sp>
      <p:sp>
        <p:nvSpPr>
          <p:cNvPr id="22" name="s04 valeur 1"/>
          <p:cNvSpPr txBox="1"/>
          <p:nvPr/>
        </p:nvSpPr>
        <p:spPr>
          <a:xfrm>
            <a:off x="8870437" y="1898650"/>
            <a:ext cx="1842393" cy="330200"/>
          </a:xfrm>
          <a:prstGeom prst="rect">
            <a:avLst/>
          </a:prstGeom>
          <a:noFill/>
        </p:spPr>
        <p:txBody>
          <a:bodyPr wrap="square" lIns="0" tIns="0" rIns="0" bIns="0" anchor="ctr">
            <a:noAutofit/>
          </a:bodyPr>
          <a:lstStyle/>
          <a:p>
            <a:pPr algn="l">
              <a:lnSpc>
                <a:spcPct val="100000"/>
              </a:lnSpc>
              <a:spcBef>
                <a:spcPts val="0"/>
              </a:spcBef>
              <a:spcAft>
                <a:spcPts val="0"/>
              </a:spcAft>
            </a:pPr>
            <a:r>
              <a:rPr sz="2400" b="1" i="0" lang="fr-FR">
                <a:solidFill>
                  <a:srgbClr val="12264A"/>
                </a:solidFill>
                <a:latin typeface="Calibri"/>
              </a:rPr>
              <a:t>528 M USD</a:t>
            </a:r>
          </a:p>
        </p:txBody>
      </p:sp>
      <p:sp>
        <p:nvSpPr>
          <p:cNvPr id="23" name="s04 texte 2"/>
          <p:cNvSpPr txBox="1"/>
          <p:nvPr/>
        </p:nvSpPr>
        <p:spPr>
          <a:xfrm>
            <a:off x="863600" y="2730500"/>
            <a:ext cx="7048500" cy="977900"/>
          </a:xfrm>
          <a:prstGeom prst="rect">
            <a:avLst/>
          </a:prstGeom>
          <a:noFill/>
        </p:spPr>
        <p:txBody>
          <a:bodyPr wrap="square" lIns="0" tIns="0" rIns="0" bIns="0" anchor="ctr">
            <a:noAutofit/>
          </a:bodyPr>
          <a:lstStyle/>
          <a:p>
            <a:pPr algn="l">
              <a:lnSpc>
                <a:spcPct val="100000"/>
              </a:lnSpc>
              <a:spcBef>
                <a:spcPts val="0"/>
              </a:spcBef>
              <a:spcAft>
                <a:spcPts val="0"/>
              </a:spcAft>
            </a:pPr>
            <a:r>
              <a:rPr sz="2600" b="1" i="0" lang="fr-FR">
                <a:solidFill>
                  <a:srgbClr val="12264A"/>
                </a:solidFill>
                <a:latin typeface="Calibri"/>
              </a:rPr>
              <a:t>Kiniero</a:t>
            </a:r>
          </a:p>
          <a:p>
            <a:pPr algn="l">
              <a:lnSpc>
                <a:spcPct val="100000"/>
              </a:lnSpc>
              <a:spcBef>
                <a:spcPts val="0"/>
              </a:spcBef>
              <a:spcAft>
                <a:spcPts val="0"/>
              </a:spcAft>
            </a:pPr>
            <a:r>
              <a:rPr sz="2000" b="1" i="0" lang="fr-FR">
                <a:solidFill>
                  <a:srgbClr val="1B2A41"/>
                </a:solidFill>
                <a:latin typeface="Calibri"/>
              </a:rPr>
              <a:t>Opérateur : </a:t>
            </a:r>
            <a:r>
              <a:rPr sz="2000" b="0" i="0" lang="fr-FR">
                <a:solidFill>
                  <a:srgbClr val="1B2A41"/>
                </a:solidFill>
                <a:latin typeface="Calibri"/>
              </a:rPr>
              <a:t>Predictive Discovery</a:t>
            </a:r>
          </a:p>
          <a:p>
            <a:pPr algn="l">
              <a:lnSpc>
                <a:spcPct val="100000"/>
              </a:lnSpc>
              <a:spcBef>
                <a:spcPts val="0"/>
              </a:spcBef>
              <a:spcAft>
                <a:spcPts val="0"/>
              </a:spcAft>
            </a:pPr>
            <a:r>
              <a:rPr sz="2000" b="1" i="0" lang="fr-FR">
                <a:solidFill>
                  <a:srgbClr val="1E7B67"/>
                </a:solidFill>
                <a:latin typeface="Calibri"/>
              </a:rPr>
              <a:t>En production depuis février 2026</a:t>
            </a:r>
            <a:r>
              <a:rPr sz="2000" b="0" i="0" lang="fr-FR">
                <a:solidFill>
                  <a:srgbClr val="1B2A41"/>
                </a:solidFill>
                <a:latin typeface="Calibri"/>
              </a:rPr>
              <a:t> · 154 000 à 174 000 oz par an</a:t>
            </a:r>
          </a:p>
        </p:txBody>
      </p:sp>
      <p:sp>
        <p:nvSpPr>
          <p:cNvPr id="24" name="s04 valeur 2"/>
          <p:cNvSpPr txBox="1"/>
          <p:nvPr/>
        </p:nvSpPr>
        <p:spPr>
          <a:xfrm>
            <a:off x="9156634" y="3054350"/>
            <a:ext cx="1842393" cy="330200"/>
          </a:xfrm>
          <a:prstGeom prst="rect">
            <a:avLst/>
          </a:prstGeom>
          <a:noFill/>
        </p:spPr>
        <p:txBody>
          <a:bodyPr wrap="square" lIns="0" tIns="0" rIns="0" bIns="0" anchor="ctr">
            <a:noAutofit/>
          </a:bodyPr>
          <a:lstStyle/>
          <a:p>
            <a:pPr algn="l">
              <a:lnSpc>
                <a:spcPct val="100000"/>
              </a:lnSpc>
              <a:spcBef>
                <a:spcPts val="0"/>
              </a:spcBef>
              <a:spcAft>
                <a:spcPts val="0"/>
              </a:spcAft>
            </a:pPr>
            <a:r>
              <a:rPr sz="2400" b="1" i="0" lang="fr-FR">
                <a:solidFill>
                  <a:srgbClr val="12264A"/>
                </a:solidFill>
                <a:latin typeface="Calibri"/>
              </a:rPr>
              <a:t>721,6 M USD</a:t>
            </a:r>
          </a:p>
        </p:txBody>
      </p:sp>
      <p:sp>
        <p:nvSpPr>
          <p:cNvPr id="25" name="s04 texte 3"/>
          <p:cNvSpPr txBox="1"/>
          <p:nvPr/>
        </p:nvSpPr>
        <p:spPr>
          <a:xfrm>
            <a:off x="863600" y="3886200"/>
            <a:ext cx="7048500" cy="977900"/>
          </a:xfrm>
          <a:prstGeom prst="rect">
            <a:avLst/>
          </a:prstGeom>
          <a:noFill/>
        </p:spPr>
        <p:txBody>
          <a:bodyPr wrap="square" lIns="0" tIns="0" rIns="0" bIns="0" anchor="ctr">
            <a:noAutofit/>
          </a:bodyPr>
          <a:lstStyle/>
          <a:p>
            <a:pPr algn="l">
              <a:lnSpc>
                <a:spcPct val="100000"/>
              </a:lnSpc>
              <a:spcBef>
                <a:spcPts val="0"/>
              </a:spcBef>
              <a:spcAft>
                <a:spcPts val="0"/>
              </a:spcAft>
            </a:pPr>
            <a:r>
              <a:rPr sz="2600" b="1" i="0" lang="fr-FR">
                <a:solidFill>
                  <a:srgbClr val="12264A"/>
                </a:solidFill>
                <a:latin typeface="Calibri"/>
              </a:rPr>
              <a:t>Bankan</a:t>
            </a:r>
          </a:p>
          <a:p>
            <a:pPr algn="l">
              <a:lnSpc>
                <a:spcPct val="100000"/>
              </a:lnSpc>
              <a:spcBef>
                <a:spcPts val="0"/>
              </a:spcBef>
              <a:spcAft>
                <a:spcPts val="0"/>
              </a:spcAft>
            </a:pPr>
            <a:r>
              <a:rPr sz="2000" b="1" i="0" lang="fr-FR">
                <a:solidFill>
                  <a:srgbClr val="1B2A41"/>
                </a:solidFill>
                <a:latin typeface="Calibri"/>
              </a:rPr>
              <a:t>Opérateur : </a:t>
            </a:r>
            <a:r>
              <a:rPr sz="2000" b="0" i="0" lang="fr-FR">
                <a:solidFill>
                  <a:srgbClr val="1B2A41"/>
                </a:solidFill>
                <a:latin typeface="Calibri"/>
              </a:rPr>
              <a:t>Predictive Discovery</a:t>
            </a:r>
          </a:p>
          <a:p>
            <a:pPr algn="l">
              <a:lnSpc>
                <a:spcPct val="100000"/>
              </a:lnSpc>
              <a:spcBef>
                <a:spcPts val="0"/>
              </a:spcBef>
              <a:spcAft>
                <a:spcPts val="0"/>
              </a:spcAft>
            </a:pPr>
            <a:r>
              <a:rPr sz="2000" b="1" i="0" lang="fr-FR">
                <a:solidFill>
                  <a:srgbClr val="A9553E"/>
                </a:solidFill>
                <a:latin typeface="Calibri"/>
              </a:rPr>
              <a:t>Démarrage prévu en 2028</a:t>
            </a:r>
            <a:r>
              <a:rPr sz="2000" b="0" i="0" lang="fr-FR">
                <a:solidFill>
                  <a:srgbClr val="1B2A41"/>
                </a:solidFill>
                <a:latin typeface="Calibri"/>
              </a:rPr>
              <a:t> · 250 000 à 269 000 oz par an</a:t>
            </a:r>
          </a:p>
        </p:txBody>
      </p:sp>
      <p:sp>
        <p:nvSpPr>
          <p:cNvPr id="26" name="s04 valeur 3"/>
          <p:cNvSpPr txBox="1"/>
          <p:nvPr/>
        </p:nvSpPr>
        <p:spPr>
          <a:xfrm>
            <a:off x="9778107" y="4210050"/>
            <a:ext cx="1842393" cy="330200"/>
          </a:xfrm>
          <a:prstGeom prst="rect">
            <a:avLst/>
          </a:prstGeom>
          <a:noFill/>
        </p:spPr>
        <p:txBody>
          <a:bodyPr wrap="square" lIns="0" tIns="0" rIns="0" bIns="0" anchor="ctr">
            <a:noAutofit/>
          </a:bodyPr>
          <a:lstStyle/>
          <a:p>
            <a:pPr algn="l">
              <a:lnSpc>
                <a:spcPct val="100000"/>
              </a:lnSpc>
              <a:spcBef>
                <a:spcPts val="0"/>
              </a:spcBef>
              <a:spcAft>
                <a:spcPts val="0"/>
              </a:spcAft>
            </a:pPr>
            <a:r>
              <a:rPr sz="2400" b="1" i="0" lang="fr-FR">
                <a:solidFill>
                  <a:srgbClr val="12264A"/>
                </a:solidFill>
                <a:latin typeface="Calibri"/>
              </a:rPr>
              <a:t>1 142 M USD</a:t>
            </a:r>
          </a:p>
        </p:txBody>
      </p:sp>
      <p:sp>
        <p:nvSpPr>
          <p:cNvPr id="27" name="s04 légende graphique"/>
          <p:cNvSpPr txBox="1"/>
          <p:nvPr/>
        </p:nvSpPr>
        <p:spPr>
          <a:xfrm>
            <a:off x="8013700" y="1612900"/>
            <a:ext cx="3530600" cy="254000"/>
          </a:xfrm>
          <a:prstGeom prst="rect">
            <a:avLst/>
          </a:prstGeom>
          <a:noFill/>
        </p:spPr>
        <p:txBody>
          <a:bodyPr wrap="square" lIns="0" tIns="0" rIns="0" bIns="0" anchor="ctr">
            <a:noAutofit/>
          </a:bodyPr>
          <a:lstStyle/>
          <a:p>
            <a:pPr algn="l">
              <a:lnSpc>
                <a:spcPct val="100000"/>
              </a:lnSpc>
              <a:spcBef>
                <a:spcPts val="0"/>
              </a:spcBef>
              <a:spcAft>
                <a:spcPts val="0"/>
              </a:spcAft>
            </a:pPr>
            <a:r>
              <a:rPr sz="2000" b="1" i="0" lang="fr-FR" spc="150">
                <a:solidFill>
                  <a:srgbClr val="1E7B67"/>
                </a:solidFill>
                <a:latin typeface="Calibri"/>
              </a:rPr>
              <a:t>CA ANNUEL MOYEN ESTIMÉ</a:t>
            </a:r>
          </a:p>
        </p:txBody>
      </p:sp>
      <p:sp>
        <p:nvSpPr>
          <p:cNvPr id="28" name="s04 chiffre clé"/>
          <p:cNvSpPr/>
          <p:nvPr/>
        </p:nvSpPr>
        <p:spPr>
          <a:xfrm>
            <a:off x="609600" y="5029200"/>
            <a:ext cx="10972800" cy="927100"/>
          </a:xfrm>
          <a:prstGeom prst="roundRect">
            <a:avLst>
              <a:gd name="adj" fmla="val 12328"/>
            </a:avLst>
          </a:prstGeom>
          <a:solidFill>
            <a:srgbClr val="F5EC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04 chiffre clé texte"/>
          <p:cNvSpPr txBox="1"/>
          <p:nvPr/>
        </p:nvSpPr>
        <p:spPr>
          <a:xfrm>
            <a:off x="863600" y="5029200"/>
            <a:ext cx="4318000" cy="927100"/>
          </a:xfrm>
          <a:prstGeom prst="rect">
            <a:avLst/>
          </a:prstGeom>
          <a:noFill/>
        </p:spPr>
        <p:txBody>
          <a:bodyPr wrap="square" lIns="0" tIns="0" rIns="0" bIns="0" anchor="ctr">
            <a:noAutofit/>
          </a:bodyPr>
          <a:lstStyle/>
          <a:p>
            <a:pPr algn="l">
              <a:lnSpc>
                <a:spcPct val="90000"/>
              </a:lnSpc>
              <a:spcBef>
                <a:spcPts val="0"/>
              </a:spcBef>
              <a:spcAft>
                <a:spcPts val="0"/>
              </a:spcAft>
            </a:pPr>
            <a:r>
              <a:rPr sz="4400" b="1" i="0" lang="fr-FR">
                <a:solidFill>
                  <a:srgbClr val="12264A"/>
                </a:solidFill>
                <a:latin typeface="Calibri"/>
              </a:rPr>
              <a:t>2,392 Md USD</a:t>
            </a:r>
          </a:p>
          <a:p>
            <a:pPr algn="l">
              <a:lnSpc>
                <a:spcPct val="100000"/>
              </a:lnSpc>
              <a:spcBef>
                <a:spcPts val="0"/>
              </a:spcBef>
              <a:spcAft>
                <a:spcPts val="0"/>
              </a:spcAft>
            </a:pPr>
            <a:r>
              <a:rPr sz="2000" b="1" i="0" lang="fr-FR">
                <a:solidFill>
                  <a:srgbClr val="1B2A41"/>
                </a:solidFill>
                <a:latin typeface="Calibri"/>
              </a:rPr>
              <a:t>de CA annuel moyen estimé</a:t>
            </a:r>
          </a:p>
        </p:txBody>
      </p:sp>
      <p:sp>
        <p:nvSpPr>
          <p:cNvPr id="30" name="s04 hypothèse"/>
          <p:cNvSpPr txBox="1"/>
          <p:nvPr/>
        </p:nvSpPr>
        <p:spPr>
          <a:xfrm>
            <a:off x="5270500" y="5029200"/>
            <a:ext cx="6159500" cy="927100"/>
          </a:xfrm>
          <a:prstGeom prst="rect">
            <a:avLst/>
          </a:prstGeom>
          <a:noFill/>
        </p:spPr>
        <p:txBody>
          <a:bodyPr wrap="square" lIns="0" tIns="0" rIns="0" bIns="0" anchor="ctr">
            <a:noAutofit/>
          </a:bodyPr>
          <a:lstStyle/>
          <a:p>
            <a:pPr algn="l">
              <a:lnSpc>
                <a:spcPct val="100000"/>
              </a:lnSpc>
              <a:spcBef>
                <a:spcPts val="0"/>
              </a:spcBef>
              <a:spcAft>
                <a:spcPts val="0"/>
              </a:spcAft>
            </a:pPr>
            <a:r>
              <a:rPr sz="2000" b="0" i="0" lang="fr-FR">
                <a:solidFill>
                  <a:srgbClr val="1B2A41"/>
                </a:solidFill>
                <a:latin typeface="Calibri"/>
              </a:rPr>
              <a:t>Hypothèse de 4 400 USD l’once (septembre 2026) : estimation, et non chiffre réalisé ou audité.</a:t>
            </a: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advTm="30000">
        <p159:morph option="byObject"/>
      </p:transition>
    </mc:Choice>
    <mc:Fallback>
      <p:transition spd="slow" advTm="30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10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700"/>
                                        <p:tgtEl>
                                          <p:spTgt spid="14"/>
                                        </p:tgtEl>
                                      </p:cBhvr>
                                    </p:animEffect>
                                    <p:anim calcmode="lin" valueType="num">
                                      <p:cBhvr>
                                        <p:cTn id="8" dur="700" fill="hold" decel="100000"/>
                                        <p:tgtEl>
                                          <p:spTgt spid="14"/>
                                        </p:tgtEl>
                                        <p:attrNameLst>
                                          <p:attrName>ppt_x</p:attrName>
                                        </p:attrNameLst>
                                      </p:cBhvr>
                                      <p:tavLst>
                                        <p:tav tm="0">
                                          <p:val>
                                            <p:strVal val="#ppt_x"/>
                                          </p:val>
                                        </p:tav>
                                        <p:tav tm="100000">
                                          <p:val>
                                            <p:strVal val="#ppt_x"/>
                                          </p:val>
                                        </p:tav>
                                      </p:tavLst>
                                    </p:anim>
                                    <p:anim calcmode="lin" valueType="num">
                                      <p:cBhvr>
                                        <p:cTn id="9" dur="700" fill="hold" decel="100000"/>
                                        <p:tgtEl>
                                          <p:spTgt spid="14"/>
                                        </p:tgtEl>
                                        <p:attrNameLst>
                                          <p:attrName>ppt_y</p:attrName>
                                        </p:attrNameLst>
                                      </p:cBhvr>
                                      <p:tavLst>
                                        <p:tav tm="0">
                                          <p:val>
                                            <p:strVal val="#ppt_y+.04"/>
                                          </p:val>
                                        </p:tav>
                                        <p:tav tm="100000">
                                          <p:val>
                                            <p:strVal val="#ppt_y"/>
                                          </p:val>
                                        </p:tav>
                                      </p:tavLst>
                                    </p:anim>
                                  </p:childTnLst>
                                </p:cTn>
                              </p:par>
                              <p:par>
                                <p:cTn id="10" presetID="42" presetClass="entr" presetSubtype="0" fill="hold" grpId="0" nodeType="withEffect">
                                  <p:stCondLst>
                                    <p:cond delay="10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700"/>
                                        <p:tgtEl>
                                          <p:spTgt spid="15"/>
                                        </p:tgtEl>
                                      </p:cBhvr>
                                    </p:animEffect>
                                    <p:anim calcmode="lin" valueType="num">
                                      <p:cBhvr>
                                        <p:cTn id="13" dur="700" fill="hold" decel="100000"/>
                                        <p:tgtEl>
                                          <p:spTgt spid="15"/>
                                        </p:tgtEl>
                                        <p:attrNameLst>
                                          <p:attrName>ppt_x</p:attrName>
                                        </p:attrNameLst>
                                      </p:cBhvr>
                                      <p:tavLst>
                                        <p:tav tm="0">
                                          <p:val>
                                            <p:strVal val="#ppt_x"/>
                                          </p:val>
                                        </p:tav>
                                        <p:tav tm="100000">
                                          <p:val>
                                            <p:strVal val="#ppt_x"/>
                                          </p:val>
                                        </p:tav>
                                      </p:tavLst>
                                    </p:anim>
                                    <p:anim calcmode="lin" valueType="num">
                                      <p:cBhvr>
                                        <p:cTn id="14" dur="700" fill="hold" decel="100000"/>
                                        <p:tgtEl>
                                          <p:spTgt spid="15"/>
                                        </p:tgtEl>
                                        <p:attrNameLst>
                                          <p:attrName>ppt_y</p:attrName>
                                        </p:attrNameLst>
                                      </p:cBhvr>
                                      <p:tavLst>
                                        <p:tav tm="0">
                                          <p:val>
                                            <p:strVal val="#ppt_y+.04"/>
                                          </p:val>
                                        </p:tav>
                                        <p:tav tm="100000">
                                          <p:val>
                                            <p:strVal val="#ppt_y"/>
                                          </p:val>
                                        </p:tav>
                                      </p:tavLst>
                                    </p:anim>
                                  </p:childTnLst>
                                </p:cTn>
                              </p:par>
                              <p:par>
                                <p:cTn id="15" presetID="42" presetClass="entr" presetSubtype="0" fill="hold" grpId="0" nodeType="withEffect">
                                  <p:stCondLst>
                                    <p:cond delay="10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700"/>
                                        <p:tgtEl>
                                          <p:spTgt spid="21"/>
                                        </p:tgtEl>
                                      </p:cBhvr>
                                    </p:animEffect>
                                    <p:anim calcmode="lin" valueType="num">
                                      <p:cBhvr>
                                        <p:cTn id="18" dur="700" fill="hold" decel="100000"/>
                                        <p:tgtEl>
                                          <p:spTgt spid="21"/>
                                        </p:tgtEl>
                                        <p:attrNameLst>
                                          <p:attrName>ppt_x</p:attrName>
                                        </p:attrNameLst>
                                      </p:cBhvr>
                                      <p:tavLst>
                                        <p:tav tm="0">
                                          <p:val>
                                            <p:strVal val="#ppt_x"/>
                                          </p:val>
                                        </p:tav>
                                        <p:tav tm="100000">
                                          <p:val>
                                            <p:strVal val="#ppt_x"/>
                                          </p:val>
                                        </p:tav>
                                      </p:tavLst>
                                    </p:anim>
                                    <p:anim calcmode="lin" valueType="num">
                                      <p:cBhvr>
                                        <p:cTn id="19" dur="700" fill="hold" decel="100000"/>
                                        <p:tgtEl>
                                          <p:spTgt spid="21"/>
                                        </p:tgtEl>
                                        <p:attrNameLst>
                                          <p:attrName>ppt_y</p:attrName>
                                        </p:attrNameLst>
                                      </p:cBhvr>
                                      <p:tavLst>
                                        <p:tav tm="0">
                                          <p:val>
                                            <p:strVal val="#ppt_y+.04"/>
                                          </p:val>
                                        </p:tav>
                                        <p:tav tm="100000">
                                          <p:val>
                                            <p:strVal val="#ppt_y"/>
                                          </p:val>
                                        </p:tav>
                                      </p:tavLst>
                                    </p:anim>
                                  </p:childTnLst>
                                </p:cTn>
                              </p:par>
                              <p:par>
                                <p:cTn id="20" presetID="10" presetClass="entr" presetSubtype="0" fill="hold" grpId="0" nodeType="withEffect">
                                  <p:stCondLst>
                                    <p:cond delay="20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500"/>
                                        <p:tgtEl>
                                          <p:spTgt spid="27"/>
                                        </p:tgtEl>
                                      </p:cBhvr>
                                    </p:animEffect>
                                  </p:childTnLst>
                                </p:cTn>
                              </p:par>
                              <p:par>
                                <p:cTn id="23" presetID="22" presetClass="entr" presetSubtype="8" fill="hold" grpId="0" nodeType="withEffect">
                                  <p:stCondLst>
                                    <p:cond delay="350"/>
                                  </p:stCondLst>
                                  <p:childTnLst>
                                    <p:set>
                                      <p:cBhvr>
                                        <p:cTn id="24" dur="1" fill="hold">
                                          <p:stCondLst>
                                            <p:cond delay="0"/>
                                          </p:stCondLst>
                                        </p:cTn>
                                        <p:tgtEl>
                                          <p:spTgt spid="20">
                                            <p:graphicEl>
                                              <a:chart seriesIdx="-4" categoryIdx="0" bldStep="category"/>
                                            </p:graphicEl>
                                          </p:spTgt>
                                        </p:tgtEl>
                                        <p:attrNameLst>
                                          <p:attrName>style.visibility</p:attrName>
                                        </p:attrNameLst>
                                      </p:cBhvr>
                                      <p:to>
                                        <p:strVal val="visible"/>
                                      </p:to>
                                    </p:set>
                                    <p:animEffect transition="in" filter="wipe(right)">
                                      <p:cBhvr>
                                        <p:cTn id="25" dur="700"/>
                                        <p:tgtEl>
                                          <p:spTgt spid="20">
                                            <p:graphicEl>
                                              <a:chart seriesIdx="-4" categoryIdx="0" bldStep="category"/>
                                            </p:graphicEl>
                                          </p:spTgt>
                                        </p:tgtEl>
                                      </p:cBhvr>
                                    </p:animEffect>
                                  </p:childTnLst>
                                </p:cTn>
                              </p:par>
                              <p:par>
                                <p:cTn id="26" presetID="10" presetClass="entr" presetSubtype="0" fill="hold" grpId="0" nodeType="withEffect">
                                  <p:stCondLst>
                                    <p:cond delay="90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500"/>
                                        <p:tgtEl>
                                          <p:spTgt spid="22"/>
                                        </p:tgtEl>
                                      </p:cBhvr>
                                    </p:animEffect>
                                  </p:childTnLst>
                                </p:cTn>
                              </p:par>
                            </p:childTnLst>
                          </p:cTn>
                        </p:par>
                        <p:par>
                          <p:cTn id="29" fill="hold">
                            <p:stCondLst>
                              <p:cond delay="1400"/>
                            </p:stCondLst>
                            <p:childTnLst>
                              <p:par>
                                <p:cTn id="30" presetID="42" presetClass="entr" presetSubtype="0" fill="hold" grpId="0" nodeType="afterEffect">
                                  <p:stCondLst>
                                    <p:cond delay="10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700"/>
                                        <p:tgtEl>
                                          <p:spTgt spid="16"/>
                                        </p:tgtEl>
                                      </p:cBhvr>
                                    </p:animEffect>
                                    <p:anim calcmode="lin" valueType="num">
                                      <p:cBhvr>
                                        <p:cTn id="33" dur="700" fill="hold" decel="100000"/>
                                        <p:tgtEl>
                                          <p:spTgt spid="16"/>
                                        </p:tgtEl>
                                        <p:attrNameLst>
                                          <p:attrName>ppt_x</p:attrName>
                                        </p:attrNameLst>
                                      </p:cBhvr>
                                      <p:tavLst>
                                        <p:tav tm="0">
                                          <p:val>
                                            <p:strVal val="#ppt_x"/>
                                          </p:val>
                                        </p:tav>
                                        <p:tav tm="100000">
                                          <p:val>
                                            <p:strVal val="#ppt_x"/>
                                          </p:val>
                                        </p:tav>
                                      </p:tavLst>
                                    </p:anim>
                                    <p:anim calcmode="lin" valueType="num">
                                      <p:cBhvr>
                                        <p:cTn id="34" dur="700" fill="hold" decel="100000"/>
                                        <p:tgtEl>
                                          <p:spTgt spid="16"/>
                                        </p:tgtEl>
                                        <p:attrNameLst>
                                          <p:attrName>ppt_y</p:attrName>
                                        </p:attrNameLst>
                                      </p:cBhvr>
                                      <p:tavLst>
                                        <p:tav tm="0">
                                          <p:val>
                                            <p:strVal val="#ppt_y+.04"/>
                                          </p:val>
                                        </p:tav>
                                        <p:tav tm="100000">
                                          <p:val>
                                            <p:strVal val="#ppt_y"/>
                                          </p:val>
                                        </p:tav>
                                      </p:tavLst>
                                    </p:anim>
                                  </p:childTnLst>
                                </p:cTn>
                              </p:par>
                              <p:par>
                                <p:cTn id="35" presetID="42" presetClass="entr" presetSubtype="0" fill="hold" grpId="0" nodeType="withEffect">
                                  <p:stCondLst>
                                    <p:cond delay="100"/>
                                  </p:stCondLst>
                                  <p:childTnLst>
                                    <p:set>
                                      <p:cBhvr>
                                        <p:cTn id="36" dur="1" fill="hold">
                                          <p:stCondLst>
                                            <p:cond delay="0"/>
                                          </p:stCondLst>
                                        </p:cTn>
                                        <p:tgtEl>
                                          <p:spTgt spid="17"/>
                                        </p:tgtEl>
                                        <p:attrNameLst>
                                          <p:attrName>style.visibility</p:attrName>
                                        </p:attrNameLst>
                                      </p:cBhvr>
                                      <p:to>
                                        <p:strVal val="visible"/>
                                      </p:to>
                                    </p:set>
                                    <p:animEffect transition="in" filter="fade">
                                      <p:cBhvr>
                                        <p:cTn id="37" dur="700"/>
                                        <p:tgtEl>
                                          <p:spTgt spid="17"/>
                                        </p:tgtEl>
                                      </p:cBhvr>
                                    </p:animEffect>
                                    <p:anim calcmode="lin" valueType="num">
                                      <p:cBhvr>
                                        <p:cTn id="38" dur="700" fill="hold" decel="100000"/>
                                        <p:tgtEl>
                                          <p:spTgt spid="17"/>
                                        </p:tgtEl>
                                        <p:attrNameLst>
                                          <p:attrName>ppt_x</p:attrName>
                                        </p:attrNameLst>
                                      </p:cBhvr>
                                      <p:tavLst>
                                        <p:tav tm="0">
                                          <p:val>
                                            <p:strVal val="#ppt_x"/>
                                          </p:val>
                                        </p:tav>
                                        <p:tav tm="100000">
                                          <p:val>
                                            <p:strVal val="#ppt_x"/>
                                          </p:val>
                                        </p:tav>
                                      </p:tavLst>
                                    </p:anim>
                                    <p:anim calcmode="lin" valueType="num">
                                      <p:cBhvr>
                                        <p:cTn id="39" dur="700" fill="hold" decel="100000"/>
                                        <p:tgtEl>
                                          <p:spTgt spid="17"/>
                                        </p:tgtEl>
                                        <p:attrNameLst>
                                          <p:attrName>ppt_y</p:attrName>
                                        </p:attrNameLst>
                                      </p:cBhvr>
                                      <p:tavLst>
                                        <p:tav tm="0">
                                          <p:val>
                                            <p:strVal val="#ppt_y+.04"/>
                                          </p:val>
                                        </p:tav>
                                        <p:tav tm="100000">
                                          <p:val>
                                            <p:strVal val="#ppt_y"/>
                                          </p:val>
                                        </p:tav>
                                      </p:tavLst>
                                    </p:anim>
                                  </p:childTnLst>
                                </p:cTn>
                              </p:par>
                              <p:par>
                                <p:cTn id="40" presetID="42" presetClass="entr" presetSubtype="0" fill="hold" grpId="0" nodeType="withEffect">
                                  <p:stCondLst>
                                    <p:cond delay="10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700"/>
                                        <p:tgtEl>
                                          <p:spTgt spid="23"/>
                                        </p:tgtEl>
                                      </p:cBhvr>
                                    </p:animEffect>
                                    <p:anim calcmode="lin" valueType="num">
                                      <p:cBhvr>
                                        <p:cTn id="43" dur="700" fill="hold" decel="100000"/>
                                        <p:tgtEl>
                                          <p:spTgt spid="23"/>
                                        </p:tgtEl>
                                        <p:attrNameLst>
                                          <p:attrName>ppt_x</p:attrName>
                                        </p:attrNameLst>
                                      </p:cBhvr>
                                      <p:tavLst>
                                        <p:tav tm="0">
                                          <p:val>
                                            <p:strVal val="#ppt_x"/>
                                          </p:val>
                                        </p:tav>
                                        <p:tav tm="100000">
                                          <p:val>
                                            <p:strVal val="#ppt_x"/>
                                          </p:val>
                                        </p:tav>
                                      </p:tavLst>
                                    </p:anim>
                                    <p:anim calcmode="lin" valueType="num">
                                      <p:cBhvr>
                                        <p:cTn id="44" dur="700" fill="hold" decel="100000"/>
                                        <p:tgtEl>
                                          <p:spTgt spid="23"/>
                                        </p:tgtEl>
                                        <p:attrNameLst>
                                          <p:attrName>ppt_y</p:attrName>
                                        </p:attrNameLst>
                                      </p:cBhvr>
                                      <p:tavLst>
                                        <p:tav tm="0">
                                          <p:val>
                                            <p:strVal val="#ppt_y+.04"/>
                                          </p:val>
                                        </p:tav>
                                        <p:tav tm="100000">
                                          <p:val>
                                            <p:strVal val="#ppt_y"/>
                                          </p:val>
                                        </p:tav>
                                      </p:tavLst>
                                    </p:anim>
                                  </p:childTnLst>
                                </p:cTn>
                              </p:par>
                              <p:par>
                                <p:cTn id="45" presetID="22" presetClass="entr" presetSubtype="8" fill="hold" grpId="0" nodeType="withEffect">
                                  <p:stCondLst>
                                    <p:cond delay="350"/>
                                  </p:stCondLst>
                                  <p:childTnLst>
                                    <p:set>
                                      <p:cBhvr>
                                        <p:cTn id="46" dur="1" fill="hold">
                                          <p:stCondLst>
                                            <p:cond delay="0"/>
                                          </p:stCondLst>
                                        </p:cTn>
                                        <p:tgtEl>
                                          <p:spTgt spid="20">
                                            <p:graphicEl>
                                              <a:chart seriesIdx="-4" categoryIdx="1" bldStep="category"/>
                                            </p:graphicEl>
                                          </p:spTgt>
                                        </p:tgtEl>
                                        <p:attrNameLst>
                                          <p:attrName>style.visibility</p:attrName>
                                        </p:attrNameLst>
                                      </p:cBhvr>
                                      <p:to>
                                        <p:strVal val="visible"/>
                                      </p:to>
                                    </p:set>
                                    <p:animEffect transition="in" filter="wipe(right)">
                                      <p:cBhvr>
                                        <p:cTn id="47" dur="700"/>
                                        <p:tgtEl>
                                          <p:spTgt spid="20">
                                            <p:graphicEl>
                                              <a:chart seriesIdx="-4" categoryIdx="1" bldStep="category"/>
                                            </p:graphicEl>
                                          </p:spTgt>
                                        </p:tgtEl>
                                      </p:cBhvr>
                                    </p:animEffect>
                                  </p:childTnLst>
                                </p:cTn>
                              </p:par>
                              <p:par>
                                <p:cTn id="48" presetID="10" presetClass="entr" presetSubtype="0" fill="hold" grpId="0" nodeType="withEffect">
                                  <p:stCondLst>
                                    <p:cond delay="90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500"/>
                                        <p:tgtEl>
                                          <p:spTgt spid="24"/>
                                        </p:tgtEl>
                                      </p:cBhvr>
                                    </p:animEffect>
                                  </p:childTnLst>
                                </p:cTn>
                              </p:par>
                            </p:childTnLst>
                          </p:cTn>
                        </p:par>
                        <p:par>
                          <p:cTn id="51" fill="hold">
                            <p:stCondLst>
                              <p:cond delay="2800"/>
                            </p:stCondLst>
                            <p:childTnLst>
                              <p:par>
                                <p:cTn id="52" presetID="42" presetClass="entr" presetSubtype="0" fill="hold" grpId="0" nodeType="afterEffect">
                                  <p:stCondLst>
                                    <p:cond delay="10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700"/>
                                        <p:tgtEl>
                                          <p:spTgt spid="18"/>
                                        </p:tgtEl>
                                      </p:cBhvr>
                                    </p:animEffect>
                                    <p:anim calcmode="lin" valueType="num">
                                      <p:cBhvr>
                                        <p:cTn id="55" dur="700" fill="hold" decel="100000"/>
                                        <p:tgtEl>
                                          <p:spTgt spid="18"/>
                                        </p:tgtEl>
                                        <p:attrNameLst>
                                          <p:attrName>ppt_x</p:attrName>
                                        </p:attrNameLst>
                                      </p:cBhvr>
                                      <p:tavLst>
                                        <p:tav tm="0">
                                          <p:val>
                                            <p:strVal val="#ppt_x"/>
                                          </p:val>
                                        </p:tav>
                                        <p:tav tm="100000">
                                          <p:val>
                                            <p:strVal val="#ppt_x"/>
                                          </p:val>
                                        </p:tav>
                                      </p:tavLst>
                                    </p:anim>
                                    <p:anim calcmode="lin" valueType="num">
                                      <p:cBhvr>
                                        <p:cTn id="56" dur="700" fill="hold" decel="100000"/>
                                        <p:tgtEl>
                                          <p:spTgt spid="18"/>
                                        </p:tgtEl>
                                        <p:attrNameLst>
                                          <p:attrName>ppt_y</p:attrName>
                                        </p:attrNameLst>
                                      </p:cBhvr>
                                      <p:tavLst>
                                        <p:tav tm="0">
                                          <p:val>
                                            <p:strVal val="#ppt_y+.04"/>
                                          </p:val>
                                        </p:tav>
                                        <p:tav tm="100000">
                                          <p:val>
                                            <p:strVal val="#ppt_y"/>
                                          </p:val>
                                        </p:tav>
                                      </p:tavLst>
                                    </p:anim>
                                  </p:childTnLst>
                                </p:cTn>
                              </p:par>
                              <p:par>
                                <p:cTn id="57" presetID="42" presetClass="entr" presetSubtype="0" fill="hold" grpId="0" nodeType="withEffect">
                                  <p:stCondLst>
                                    <p:cond delay="10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700"/>
                                        <p:tgtEl>
                                          <p:spTgt spid="19"/>
                                        </p:tgtEl>
                                      </p:cBhvr>
                                    </p:animEffect>
                                    <p:anim calcmode="lin" valueType="num">
                                      <p:cBhvr>
                                        <p:cTn id="60" dur="700" fill="hold" decel="100000"/>
                                        <p:tgtEl>
                                          <p:spTgt spid="19"/>
                                        </p:tgtEl>
                                        <p:attrNameLst>
                                          <p:attrName>ppt_x</p:attrName>
                                        </p:attrNameLst>
                                      </p:cBhvr>
                                      <p:tavLst>
                                        <p:tav tm="0">
                                          <p:val>
                                            <p:strVal val="#ppt_x"/>
                                          </p:val>
                                        </p:tav>
                                        <p:tav tm="100000">
                                          <p:val>
                                            <p:strVal val="#ppt_x"/>
                                          </p:val>
                                        </p:tav>
                                      </p:tavLst>
                                    </p:anim>
                                    <p:anim calcmode="lin" valueType="num">
                                      <p:cBhvr>
                                        <p:cTn id="61" dur="700" fill="hold" decel="100000"/>
                                        <p:tgtEl>
                                          <p:spTgt spid="19"/>
                                        </p:tgtEl>
                                        <p:attrNameLst>
                                          <p:attrName>ppt_y</p:attrName>
                                        </p:attrNameLst>
                                      </p:cBhvr>
                                      <p:tavLst>
                                        <p:tav tm="0">
                                          <p:val>
                                            <p:strVal val="#ppt_y+.04"/>
                                          </p:val>
                                        </p:tav>
                                        <p:tav tm="100000">
                                          <p:val>
                                            <p:strVal val="#ppt_y"/>
                                          </p:val>
                                        </p:tav>
                                      </p:tavLst>
                                    </p:anim>
                                  </p:childTnLst>
                                </p:cTn>
                              </p:par>
                              <p:par>
                                <p:cTn id="62" presetID="42" presetClass="entr" presetSubtype="0" fill="hold" grpId="0" nodeType="withEffect">
                                  <p:stCondLst>
                                    <p:cond delay="10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700"/>
                                        <p:tgtEl>
                                          <p:spTgt spid="25"/>
                                        </p:tgtEl>
                                      </p:cBhvr>
                                    </p:animEffect>
                                    <p:anim calcmode="lin" valueType="num">
                                      <p:cBhvr>
                                        <p:cTn id="65" dur="700" fill="hold" decel="100000"/>
                                        <p:tgtEl>
                                          <p:spTgt spid="25"/>
                                        </p:tgtEl>
                                        <p:attrNameLst>
                                          <p:attrName>ppt_x</p:attrName>
                                        </p:attrNameLst>
                                      </p:cBhvr>
                                      <p:tavLst>
                                        <p:tav tm="0">
                                          <p:val>
                                            <p:strVal val="#ppt_x"/>
                                          </p:val>
                                        </p:tav>
                                        <p:tav tm="100000">
                                          <p:val>
                                            <p:strVal val="#ppt_x"/>
                                          </p:val>
                                        </p:tav>
                                      </p:tavLst>
                                    </p:anim>
                                    <p:anim calcmode="lin" valueType="num">
                                      <p:cBhvr>
                                        <p:cTn id="66" dur="700" fill="hold" decel="100000"/>
                                        <p:tgtEl>
                                          <p:spTgt spid="25"/>
                                        </p:tgtEl>
                                        <p:attrNameLst>
                                          <p:attrName>ppt_y</p:attrName>
                                        </p:attrNameLst>
                                      </p:cBhvr>
                                      <p:tavLst>
                                        <p:tav tm="0">
                                          <p:val>
                                            <p:strVal val="#ppt_y+.04"/>
                                          </p:val>
                                        </p:tav>
                                        <p:tav tm="100000">
                                          <p:val>
                                            <p:strVal val="#ppt_y"/>
                                          </p:val>
                                        </p:tav>
                                      </p:tavLst>
                                    </p:anim>
                                  </p:childTnLst>
                                </p:cTn>
                              </p:par>
                              <p:par>
                                <p:cTn id="67" presetID="22" presetClass="entr" presetSubtype="8" fill="hold" grpId="0" nodeType="withEffect">
                                  <p:stCondLst>
                                    <p:cond delay="350"/>
                                  </p:stCondLst>
                                  <p:childTnLst>
                                    <p:set>
                                      <p:cBhvr>
                                        <p:cTn id="68" dur="1" fill="hold">
                                          <p:stCondLst>
                                            <p:cond delay="0"/>
                                          </p:stCondLst>
                                        </p:cTn>
                                        <p:tgtEl>
                                          <p:spTgt spid="20">
                                            <p:graphicEl>
                                              <a:chart seriesIdx="-4" categoryIdx="2" bldStep="category"/>
                                            </p:graphicEl>
                                          </p:spTgt>
                                        </p:tgtEl>
                                        <p:attrNameLst>
                                          <p:attrName>style.visibility</p:attrName>
                                        </p:attrNameLst>
                                      </p:cBhvr>
                                      <p:to>
                                        <p:strVal val="visible"/>
                                      </p:to>
                                    </p:set>
                                    <p:animEffect transition="in" filter="wipe(right)">
                                      <p:cBhvr>
                                        <p:cTn id="69" dur="700"/>
                                        <p:tgtEl>
                                          <p:spTgt spid="20">
                                            <p:graphicEl>
                                              <a:chart seriesIdx="-4" categoryIdx="2" bldStep="category"/>
                                            </p:graphicEl>
                                          </p:spTgt>
                                        </p:tgtEl>
                                      </p:cBhvr>
                                    </p:animEffect>
                                  </p:childTnLst>
                                </p:cTn>
                              </p:par>
                              <p:par>
                                <p:cTn id="70" presetID="10" presetClass="entr" presetSubtype="0" fill="hold" grpId="0" nodeType="withEffect">
                                  <p:stCondLst>
                                    <p:cond delay="900"/>
                                  </p:stCondLst>
                                  <p:childTnLst>
                                    <p:set>
                                      <p:cBhvr>
                                        <p:cTn id="71" dur="1" fill="hold">
                                          <p:stCondLst>
                                            <p:cond delay="0"/>
                                          </p:stCondLst>
                                        </p:cTn>
                                        <p:tgtEl>
                                          <p:spTgt spid="26"/>
                                        </p:tgtEl>
                                        <p:attrNameLst>
                                          <p:attrName>style.visibility</p:attrName>
                                        </p:attrNameLst>
                                      </p:cBhvr>
                                      <p:to>
                                        <p:strVal val="visible"/>
                                      </p:to>
                                    </p:set>
                                    <p:animEffect transition="in" filter="fade">
                                      <p:cBhvr>
                                        <p:cTn id="72" dur="500"/>
                                        <p:tgtEl>
                                          <p:spTgt spid="26"/>
                                        </p:tgtEl>
                                      </p:cBhvr>
                                    </p:animEffect>
                                  </p:childTnLst>
                                </p:cTn>
                              </p:par>
                            </p:childTnLst>
                          </p:cTn>
                        </p:par>
                        <p:par>
                          <p:cTn id="73" fill="hold">
                            <p:stCondLst>
                              <p:cond delay="4200"/>
                            </p:stCondLst>
                            <p:childTnLst>
                              <p:par>
                                <p:cTn id="74" presetID="53" presetClass="entr" presetSubtype="16" fill="hold" grpId="0" nodeType="afterEffect">
                                  <p:stCondLst>
                                    <p:cond delay="0"/>
                                  </p:stCondLst>
                                  <p:childTnLst>
                                    <p:set>
                                      <p:cBhvr>
                                        <p:cTn id="75" dur="1" fill="hold">
                                          <p:stCondLst>
                                            <p:cond delay="0"/>
                                          </p:stCondLst>
                                        </p:cTn>
                                        <p:tgtEl>
                                          <p:spTgt spid="28"/>
                                        </p:tgtEl>
                                        <p:attrNameLst>
                                          <p:attrName>style.visibility</p:attrName>
                                        </p:attrNameLst>
                                      </p:cBhvr>
                                      <p:to>
                                        <p:strVal val="visible"/>
                                      </p:to>
                                    </p:set>
                                    <p:anim calcmode="lin" valueType="num">
                                      <p:cBhvr>
                                        <p:cTn id="76" dur="700" fill="hold"/>
                                        <p:tgtEl>
                                          <p:spTgt spid="28"/>
                                        </p:tgtEl>
                                        <p:attrNameLst>
                                          <p:attrName>ppt_w</p:attrName>
                                        </p:attrNameLst>
                                      </p:cBhvr>
                                      <p:tavLst>
                                        <p:tav tm="0">
                                          <p:val>
                                            <p:strVal val="#ppt_w*0.85"/>
                                          </p:val>
                                        </p:tav>
                                        <p:tav tm="100000">
                                          <p:val>
                                            <p:strVal val="#ppt_w"/>
                                          </p:val>
                                        </p:tav>
                                      </p:tavLst>
                                    </p:anim>
                                    <p:anim calcmode="lin" valueType="num">
                                      <p:cBhvr>
                                        <p:cTn id="77" dur="700" fill="hold"/>
                                        <p:tgtEl>
                                          <p:spTgt spid="28"/>
                                        </p:tgtEl>
                                        <p:attrNameLst>
                                          <p:attrName>ppt_h</p:attrName>
                                        </p:attrNameLst>
                                      </p:cBhvr>
                                      <p:tavLst>
                                        <p:tav tm="0">
                                          <p:val>
                                            <p:strVal val="#ppt_h*0.85"/>
                                          </p:val>
                                        </p:tav>
                                        <p:tav tm="100000">
                                          <p:val>
                                            <p:strVal val="#ppt_h"/>
                                          </p:val>
                                        </p:tav>
                                      </p:tavLst>
                                    </p:anim>
                                    <p:animEffect transition="in" filter="fade">
                                      <p:cBhvr>
                                        <p:cTn id="78" dur="700"/>
                                        <p:tgtEl>
                                          <p:spTgt spid="28"/>
                                        </p:tgtEl>
                                      </p:cBhvr>
                                    </p:animEffect>
                                  </p:childTnLst>
                                </p:cTn>
                              </p:par>
                              <p:par>
                                <p:cTn id="79" presetID="53" presetClass="entr" presetSubtype="16" fill="hold" grpId="0" nodeType="withEffect">
                                  <p:stCondLst>
                                    <p:cond delay="0"/>
                                  </p:stCondLst>
                                  <p:childTnLst>
                                    <p:set>
                                      <p:cBhvr>
                                        <p:cTn id="80" dur="1" fill="hold">
                                          <p:stCondLst>
                                            <p:cond delay="0"/>
                                          </p:stCondLst>
                                        </p:cTn>
                                        <p:tgtEl>
                                          <p:spTgt spid="29"/>
                                        </p:tgtEl>
                                        <p:attrNameLst>
                                          <p:attrName>style.visibility</p:attrName>
                                        </p:attrNameLst>
                                      </p:cBhvr>
                                      <p:to>
                                        <p:strVal val="visible"/>
                                      </p:to>
                                    </p:set>
                                    <p:anim calcmode="lin" valueType="num">
                                      <p:cBhvr>
                                        <p:cTn id="81" dur="700" fill="hold"/>
                                        <p:tgtEl>
                                          <p:spTgt spid="29"/>
                                        </p:tgtEl>
                                        <p:attrNameLst>
                                          <p:attrName>ppt_w</p:attrName>
                                        </p:attrNameLst>
                                      </p:cBhvr>
                                      <p:tavLst>
                                        <p:tav tm="0">
                                          <p:val>
                                            <p:strVal val="#ppt_w*0.85"/>
                                          </p:val>
                                        </p:tav>
                                        <p:tav tm="100000">
                                          <p:val>
                                            <p:strVal val="#ppt_w"/>
                                          </p:val>
                                        </p:tav>
                                      </p:tavLst>
                                    </p:anim>
                                    <p:anim calcmode="lin" valueType="num">
                                      <p:cBhvr>
                                        <p:cTn id="82" dur="700" fill="hold"/>
                                        <p:tgtEl>
                                          <p:spTgt spid="29"/>
                                        </p:tgtEl>
                                        <p:attrNameLst>
                                          <p:attrName>ppt_h</p:attrName>
                                        </p:attrNameLst>
                                      </p:cBhvr>
                                      <p:tavLst>
                                        <p:tav tm="0">
                                          <p:val>
                                            <p:strVal val="#ppt_h*0.85"/>
                                          </p:val>
                                        </p:tav>
                                        <p:tav tm="100000">
                                          <p:val>
                                            <p:strVal val="#ppt_h"/>
                                          </p:val>
                                        </p:tav>
                                      </p:tavLst>
                                    </p:anim>
                                    <p:animEffect transition="in" filter="fade">
                                      <p:cBhvr>
                                        <p:cTn id="83" dur="700"/>
                                        <p:tgtEl>
                                          <p:spTgt spid="29"/>
                                        </p:tgtEl>
                                      </p:cBhvr>
                                    </p:animEffect>
                                  </p:childTnLst>
                                </p:cTn>
                              </p:par>
                            </p:childTnLst>
                          </p:cTn>
                        </p:par>
                        <p:par>
                          <p:cTn id="84" fill="hold">
                            <p:stCondLst>
                              <p:cond delay="4900"/>
                            </p:stCondLst>
                            <p:childTnLst>
                              <p:par>
                                <p:cTn id="85" presetID="10" presetClass="entr" presetSubtype="0" fill="hold" grpId="0" nodeType="after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6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21" grpId="0"/>
      <p:bldP spid="27" grpId="0"/>
      <p:bldGraphic spid="20" grpId="0">
        <p:bldSub>
          <a:bldChart bld="category" animBg="0"/>
        </p:bldSub>
      </p:bldGraphic>
      <p:bldP spid="22" grpId="0"/>
      <p:bldP spid="16" grpId="0" animBg="1"/>
      <p:bldP spid="17" grpId="0" animBg="1"/>
      <p:bldP spid="23" grpId="0"/>
      <p:bldP spid="24" grpId="0"/>
      <p:bldP spid="18" grpId="0" animBg="1"/>
      <p:bldP spid="19" grpId="0" animBg="1"/>
      <p:bldP spid="25" grpId="0"/>
      <p:bldP spid="26" grpId="0"/>
      <p:bldP spid="28" grpId="0" animBg="1"/>
      <p:bldP spid="29" grpId="0"/>
      <p:bldP spid="30" grpId="0"/>
    </p:bld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8F3"/>
        </a:solidFill>
        <a:effectLst/>
      </p:bgPr>
    </p:bg>
    <p:spTree>
      <p:nvGrpSpPr>
        <p:cNvPr id="1" name=""/>
        <p:cNvGrpSpPr/>
        <p:nvPr/>
      </p:nvGrpSpPr>
      <p:grpSpPr/>
      <p:sp>
        <p:nvSpPr>
          <p:cNvPr id="2" name="Trait or"/>
          <p:cNvSpPr/>
          <p:nvPr/>
        </p:nvSpPr>
        <p:spPr>
          <a:xfrm>
            <a:off x="609600" y="444500"/>
            <a:ext cx="406400" cy="38100"/>
          </a:xfrm>
          <a:prstGeom prst="rect">
            <a:avLst/>
          </a:prstGeom>
          <a:solidFill>
            <a:srgbClr val="D3A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brique"/>
          <p:cNvSpPr txBox="1"/>
          <p:nvPr/>
        </p:nvSpPr>
        <p:spPr>
          <a:xfrm>
            <a:off x="609600" y="508000"/>
            <a:ext cx="10160000" cy="304800"/>
          </a:xfrm>
          <a:prstGeom prst="rect">
            <a:avLst/>
          </a:prstGeom>
          <a:noFill/>
        </p:spPr>
        <p:txBody>
          <a:bodyPr wrap="square" lIns="0" tIns="0" rIns="0" bIns="0" anchor="ctr">
            <a:noAutofit/>
          </a:bodyPr>
          <a:lstStyle/>
          <a:p>
            <a:pPr algn="l">
              <a:lnSpc>
                <a:spcPct val="100000"/>
              </a:lnSpc>
              <a:spcBef>
                <a:spcPts val="0"/>
              </a:spcBef>
              <a:spcAft>
                <a:spcPts val="0"/>
              </a:spcAft>
            </a:pPr>
            <a:r>
              <a:rPr sz="2000" b="1" i="0" lang="fr-FR" spc="150">
                <a:solidFill>
                  <a:srgbClr val="1E7B67"/>
                </a:solidFill>
                <a:latin typeface="Calibri"/>
              </a:rPr>
              <a:t>04 / LE CADRE LÉGAL</a:t>
            </a:r>
          </a:p>
        </p:txBody>
      </p:sp>
      <p:sp>
        <p:nvSpPr>
          <p:cNvPr id="4" name="Titre"/>
          <p:cNvSpPr txBox="1"/>
          <p:nvPr/>
        </p:nvSpPr>
        <p:spPr>
          <a:xfrm>
            <a:off x="609600" y="774700"/>
            <a:ext cx="10972800" cy="609600"/>
          </a:xfrm>
          <a:prstGeom prst="rect">
            <a:avLst/>
          </a:prstGeom>
          <a:noFill/>
        </p:spPr>
        <p:txBody>
          <a:bodyPr wrap="square" lIns="0" tIns="0" rIns="0" bIns="0" anchor="ctr">
            <a:noAutofit/>
          </a:bodyPr>
          <a:lstStyle/>
          <a:p>
            <a:pPr algn="l">
              <a:lnSpc>
                <a:spcPct val="100000"/>
              </a:lnSpc>
              <a:spcBef>
                <a:spcPts val="0"/>
              </a:spcBef>
              <a:spcAft>
                <a:spcPts val="0"/>
              </a:spcAft>
            </a:pPr>
            <a:r>
              <a:rPr sz="4000" b="1" i="0" lang="fr-FR">
                <a:solidFill>
                  <a:srgbClr val="12264A"/>
                </a:solidFill>
                <a:latin typeface="Calibri"/>
              </a:rPr>
              <a:t>Ce que prévoit la loi</a:t>
            </a:r>
          </a:p>
        </p:txBody>
      </p:sp>
      <p:sp>
        <p:nvSpPr>
          <p:cNvPr id="5" name="Pied de page"/>
          <p:cNvSpPr txBox="1"/>
          <p:nvPr/>
        </p:nvSpPr>
        <p:spPr>
          <a:xfrm>
            <a:off x="609600" y="6413500"/>
            <a:ext cx="4826000" cy="241300"/>
          </a:xfrm>
          <a:prstGeom prst="rect">
            <a:avLst/>
          </a:prstGeom>
          <a:noFill/>
        </p:spPr>
        <p:txBody>
          <a:bodyPr wrap="square" lIns="0" tIns="0" rIns="0" bIns="0" anchor="ctr">
            <a:noAutofit/>
          </a:bodyPr>
          <a:lstStyle/>
          <a:p>
            <a:pPr algn="l">
              <a:lnSpc>
                <a:spcPct val="100000"/>
              </a:lnSpc>
              <a:spcBef>
                <a:spcPts val="0"/>
              </a:spcBef>
              <a:spcAft>
                <a:spcPts val="0"/>
              </a:spcAft>
            </a:pPr>
            <a:r>
              <a:rPr sz="1400" b="1" i="0" lang="fr-FR" spc="50">
                <a:solidFill>
                  <a:srgbClr val="1B2A41"/>
                </a:solidFill>
                <a:latin typeface="Calibri"/>
              </a:rPr>
              <a:t>FUTURA - KOUROUSSA | Octobre 2026</a:t>
            </a:r>
          </a:p>
        </p:txBody>
      </p:sp>
      <p:sp>
        <p:nvSpPr>
          <p:cNvPr id="6" name="Pied bandeau"/>
          <p:cNvSpPr/>
          <p:nvPr/>
        </p:nvSpPr>
        <p:spPr>
          <a:xfrm>
            <a:off x="9069742" y="6350000"/>
            <a:ext cx="2512658" cy="355600"/>
          </a:xfrm>
          <a:prstGeom prst="roundRect">
            <a:avLst>
              <a:gd name="adj" fmla="val 42857"/>
            </a:avLst>
          </a:prstGeom>
          <a:solidFill>
            <a:srgbClr val="FFFFFF"/>
          </a:solidFill>
          <a:ln w="9525">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ed logo futura-kouroussa" descr="futura-kouroussa.png"/>
          <p:cNvPicPr>
            <a:picLocks noChangeAspect="1"/>
          </p:cNvPicPr>
          <p:nvPr/>
        </p:nvPicPr>
        <p:blipFill>
          <a:blip r:embed="rId2"/>
          <a:stretch>
            <a:fillRect/>
          </a:stretch>
        </p:blipFill>
        <p:spPr>
          <a:xfrm>
            <a:off x="9184042" y="6419850"/>
            <a:ext cx="391970" cy="215900"/>
          </a:xfrm>
          <a:prstGeom prst="rect">
            <a:avLst/>
          </a:prstGeom>
        </p:spPr>
      </p:pic>
      <p:pic>
        <p:nvPicPr>
          <p:cNvPr id="8" name="Pied logo republique-de-guinee-armoiries" descr="republique-de-guinee-armoiries.png"/>
          <p:cNvPicPr>
            <a:picLocks noChangeAspect="1"/>
          </p:cNvPicPr>
          <p:nvPr/>
        </p:nvPicPr>
        <p:blipFill>
          <a:blip r:embed="rId3"/>
          <a:stretch>
            <a:fillRect/>
          </a:stretch>
        </p:blipFill>
        <p:spPr>
          <a:xfrm>
            <a:off x="9664912" y="6419850"/>
            <a:ext cx="179814" cy="215900"/>
          </a:xfrm>
          <a:prstGeom prst="rect">
            <a:avLst/>
          </a:prstGeom>
        </p:spPr>
      </p:pic>
      <p:pic>
        <p:nvPicPr>
          <p:cNvPr id="9" name="Pied logo assemblee-nationale" descr="assemblee-nationale.png"/>
          <p:cNvPicPr>
            <a:picLocks noChangeAspect="1"/>
          </p:cNvPicPr>
          <p:nvPr/>
        </p:nvPicPr>
        <p:blipFill>
          <a:blip r:embed="rId4"/>
          <a:stretch>
            <a:fillRect/>
          </a:stretch>
        </p:blipFill>
        <p:spPr>
          <a:xfrm>
            <a:off x="9933626" y="6419850"/>
            <a:ext cx="217442" cy="215900"/>
          </a:xfrm>
          <a:prstGeom prst="rect">
            <a:avLst/>
          </a:prstGeom>
        </p:spPr>
      </p:pic>
      <p:pic>
        <p:nvPicPr>
          <p:cNvPr id="10" name="Pied logo simandou-2040" descr="simandou-2040.png"/>
          <p:cNvPicPr>
            <a:picLocks noChangeAspect="1"/>
          </p:cNvPicPr>
          <p:nvPr/>
        </p:nvPicPr>
        <p:blipFill>
          <a:blip r:embed="rId5"/>
          <a:stretch>
            <a:fillRect/>
          </a:stretch>
        </p:blipFill>
        <p:spPr>
          <a:xfrm>
            <a:off x="10239968" y="6419850"/>
            <a:ext cx="674774" cy="215900"/>
          </a:xfrm>
          <a:prstGeom prst="rect">
            <a:avLst/>
          </a:prstGeom>
        </p:spPr>
      </p:pic>
      <p:pic>
        <p:nvPicPr>
          <p:cNvPr id="11" name="Pied logo guinee" descr="guinee.png"/>
          <p:cNvPicPr>
            <a:picLocks noChangeAspect="1"/>
          </p:cNvPicPr>
          <p:nvPr/>
        </p:nvPicPr>
        <p:blipFill>
          <a:blip r:embed="rId6"/>
          <a:stretch>
            <a:fillRect/>
          </a:stretch>
        </p:blipFill>
        <p:spPr>
          <a:xfrm>
            <a:off x="11003643" y="6419850"/>
            <a:ext cx="464457" cy="215900"/>
          </a:xfrm>
          <a:prstGeom prst="rect">
            <a:avLst/>
          </a:prstGeom>
        </p:spPr>
      </p:pic>
      <p:sp>
        <p:nvSpPr>
          <p:cNvPr id="12" name="Numéro"/>
          <p:cNvSpPr txBox="1"/>
          <p:nvPr/>
        </p:nvSpPr>
        <p:spPr>
          <a:xfrm>
            <a:off x="7990242" y="6413500"/>
            <a:ext cx="952500" cy="241300"/>
          </a:xfrm>
          <a:prstGeom prst="rect">
            <a:avLst/>
          </a:prstGeom>
          <a:noFill/>
        </p:spPr>
        <p:txBody>
          <a:bodyPr wrap="square" lIns="0" tIns="0" rIns="0" bIns="0" anchor="ctr">
            <a:noAutofit/>
          </a:bodyPr>
          <a:lstStyle/>
          <a:p>
            <a:pPr algn="r">
              <a:lnSpc>
                <a:spcPct val="100000"/>
              </a:lnSpc>
              <a:spcBef>
                <a:spcPts val="0"/>
              </a:spcBef>
              <a:spcAft>
                <a:spcPts val="0"/>
              </a:spcAft>
            </a:pPr>
            <a:r>
              <a:rPr sz="1400" b="1" i="0" lang="fr-FR">
                <a:solidFill>
                  <a:srgbClr val="12264A"/>
                </a:solidFill>
                <a:latin typeface="Calibri"/>
              </a:rPr>
              <a:t>05 / 15</a:t>
            </a:r>
          </a:p>
        </p:txBody>
      </p:sp>
      <p:sp>
        <p:nvSpPr>
          <p:cNvPr id="13" name="s05 bloc 1 %"/>
          <p:cNvSpPr/>
          <p:nvPr/>
        </p:nvSpPr>
        <p:spPr>
          <a:xfrm>
            <a:off x="609600" y="1524000"/>
            <a:ext cx="10972800" cy="1244600"/>
          </a:xfrm>
          <a:prstGeom prst="roundRect">
            <a:avLst>
              <a:gd name="adj" fmla="val 9183"/>
            </a:avLst>
          </a:prstGeom>
          <a:solidFill>
            <a:srgbClr val="12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05 1 %"/>
          <p:cNvSpPr txBox="1"/>
          <p:nvPr/>
        </p:nvSpPr>
        <p:spPr>
          <a:xfrm>
            <a:off x="863600" y="1524000"/>
            <a:ext cx="2095500" cy="1244600"/>
          </a:xfrm>
          <a:prstGeom prst="rect">
            <a:avLst/>
          </a:prstGeom>
          <a:noFill/>
        </p:spPr>
        <p:txBody>
          <a:bodyPr wrap="square" lIns="0" tIns="0" rIns="0" bIns="0" anchor="ctr">
            <a:noAutofit/>
          </a:bodyPr>
          <a:lstStyle/>
          <a:p>
            <a:pPr algn="l">
              <a:lnSpc>
                <a:spcPct val="100000"/>
              </a:lnSpc>
              <a:spcBef>
                <a:spcPts val="0"/>
              </a:spcBef>
              <a:spcAft>
                <a:spcPts val="0"/>
              </a:spcAft>
            </a:pPr>
            <a:r>
              <a:rPr sz="9600" b="1" i="0" lang="fr-FR">
                <a:solidFill>
                  <a:srgbClr val="D3A04D"/>
                </a:solidFill>
                <a:latin typeface="Calibri"/>
              </a:rPr>
              <a:t>1 %</a:t>
            </a:r>
          </a:p>
        </p:txBody>
      </p:sp>
      <p:sp>
        <p:nvSpPr>
          <p:cNvPr id="15" name="s05 bloc texte"/>
          <p:cNvSpPr txBox="1"/>
          <p:nvPr/>
        </p:nvSpPr>
        <p:spPr>
          <a:xfrm>
            <a:off x="3048000" y="1600200"/>
            <a:ext cx="8318500" cy="1092200"/>
          </a:xfrm>
          <a:prstGeom prst="rect">
            <a:avLst/>
          </a:prstGeom>
          <a:noFill/>
        </p:spPr>
        <p:txBody>
          <a:bodyPr wrap="square" lIns="0" tIns="0" rIns="0" bIns="0" anchor="ctr">
            <a:noAutofit/>
          </a:bodyPr>
          <a:lstStyle/>
          <a:p>
            <a:pPr algn="l">
              <a:lnSpc>
                <a:spcPct val="100000"/>
              </a:lnSpc>
              <a:spcBef>
                <a:spcPts val="0"/>
              </a:spcBef>
              <a:spcAft>
                <a:spcPts val="400"/>
              </a:spcAft>
            </a:pPr>
            <a:r>
              <a:rPr sz="2800" b="1" i="0" lang="fr-FR">
                <a:solidFill>
                  <a:srgbClr val="FFFFFF"/>
                </a:solidFill>
                <a:latin typeface="Calibri"/>
              </a:rPr>
              <a:t>du chiffre d’affaires brut hors taxe</a:t>
            </a:r>
          </a:p>
          <a:p>
            <a:pPr algn="l">
              <a:lnSpc>
                <a:spcPct val="100000"/>
              </a:lnSpc>
              <a:spcBef>
                <a:spcPts val="0"/>
              </a:spcBef>
              <a:spcAft>
                <a:spcPts val="0"/>
              </a:spcAft>
            </a:pPr>
            <a:r>
              <a:rPr sz="2200" b="0" i="0" lang="fr-FR">
                <a:solidFill>
                  <a:srgbClr val="FAF8F3"/>
                </a:solidFill>
                <a:latin typeface="Calibri"/>
              </a:rPr>
              <a:t>Contribution au Développement Local pour l’or, substance de Catégorie 2 (Code Minier, Article 130, alinéa 4)</a:t>
            </a:r>
          </a:p>
        </p:txBody>
      </p:sp>
      <p:cxnSp>
        <p:nvCxnSpPr>
          <p:cNvPr id="16" name="s05 filet 1"/>
          <p:cNvCxnSpPr/>
          <p:nvPr/>
        </p:nvCxnSpPr>
        <p:spPr>
          <a:xfrm>
            <a:off x="609600" y="3276600"/>
            <a:ext cx="6692900" cy="0"/>
          </a:xfrm>
          <a:prstGeom prst="line">
            <a:avLst/>
          </a:prstGeom>
          <a:ln w="12700">
            <a:solidFill>
              <a:srgbClr val="E3DED3"/>
            </a:solidFill>
          </a:ln>
        </p:spPr>
        <p:style>
          <a:lnRef idx="2">
            <a:schemeClr val="accent1"/>
          </a:lnRef>
          <a:fillRef idx="0">
            <a:schemeClr val="accent1"/>
          </a:fillRef>
          <a:effectRef idx="1">
            <a:schemeClr val="accent1"/>
          </a:effectRef>
          <a:fontRef idx="minor">
            <a:schemeClr val="tx1"/>
          </a:fontRef>
        </p:style>
      </p:cxnSp>
      <p:sp>
        <p:nvSpPr>
          <p:cNvPr id="17" name="s05 article 1"/>
          <p:cNvSpPr txBox="1"/>
          <p:nvPr/>
        </p:nvSpPr>
        <p:spPr>
          <a:xfrm>
            <a:off x="609600" y="2946400"/>
            <a:ext cx="2184400" cy="317500"/>
          </a:xfrm>
          <a:prstGeom prst="rect">
            <a:avLst/>
          </a:prstGeom>
          <a:noFill/>
        </p:spPr>
        <p:txBody>
          <a:bodyPr wrap="square" lIns="0" tIns="0" rIns="0" bIns="0" anchor="t">
            <a:noAutofit/>
          </a:bodyPr>
          <a:lstStyle/>
          <a:p>
            <a:pPr algn="l">
              <a:lnSpc>
                <a:spcPct val="100000"/>
              </a:lnSpc>
              <a:spcBef>
                <a:spcPts val="0"/>
              </a:spcBef>
              <a:spcAft>
                <a:spcPts val="0"/>
              </a:spcAft>
            </a:pPr>
            <a:r>
              <a:rPr sz="2000" b="1" i="0" lang="fr-FR">
                <a:solidFill>
                  <a:srgbClr val="1E7B67"/>
                </a:solidFill>
                <a:latin typeface="Calibri"/>
              </a:rPr>
              <a:t>Article 130</a:t>
            </a:r>
          </a:p>
        </p:txBody>
      </p:sp>
      <p:sp>
        <p:nvSpPr>
          <p:cNvPr id="18" name="s05 texte 1"/>
          <p:cNvSpPr txBox="1"/>
          <p:nvPr/>
        </p:nvSpPr>
        <p:spPr>
          <a:xfrm>
            <a:off x="2857500" y="2946400"/>
            <a:ext cx="4445000" cy="317500"/>
          </a:xfrm>
          <a:prstGeom prst="rect">
            <a:avLst/>
          </a:prstGeom>
          <a:noFill/>
        </p:spPr>
        <p:txBody>
          <a:bodyPr wrap="square" lIns="0" tIns="0" rIns="0" bIns="0" anchor="t">
            <a:noAutofit/>
          </a:bodyPr>
          <a:lstStyle/>
          <a:p>
            <a:pPr algn="l">
              <a:lnSpc>
                <a:spcPct val="100000"/>
              </a:lnSpc>
              <a:spcBef>
                <a:spcPts val="0"/>
              </a:spcBef>
              <a:spcAft>
                <a:spcPts val="0"/>
              </a:spcAft>
            </a:pPr>
            <a:r>
              <a:rPr sz="2000" b="0" i="0" lang="fr-FR">
                <a:solidFill>
                  <a:srgbClr val="1B2A41"/>
                </a:solidFill>
                <a:latin typeface="Calibri"/>
              </a:rPr>
              <a:t>Convention de Développement Local</a:t>
            </a:r>
          </a:p>
        </p:txBody>
      </p:sp>
      <p:cxnSp>
        <p:nvCxnSpPr>
          <p:cNvPr id="19" name="s05 filet 2"/>
          <p:cNvCxnSpPr/>
          <p:nvPr/>
        </p:nvCxnSpPr>
        <p:spPr>
          <a:xfrm>
            <a:off x="609600" y="3962400"/>
            <a:ext cx="6692900" cy="0"/>
          </a:xfrm>
          <a:prstGeom prst="line">
            <a:avLst/>
          </a:prstGeom>
          <a:ln w="12700">
            <a:solidFill>
              <a:srgbClr val="E3DED3"/>
            </a:solidFill>
          </a:ln>
        </p:spPr>
        <p:style>
          <a:lnRef idx="2">
            <a:schemeClr val="accent1"/>
          </a:lnRef>
          <a:fillRef idx="0">
            <a:schemeClr val="accent1"/>
          </a:fillRef>
          <a:effectRef idx="1">
            <a:schemeClr val="accent1"/>
          </a:effectRef>
          <a:fontRef idx="minor">
            <a:schemeClr val="tx1"/>
          </a:fontRef>
        </p:style>
      </p:cxnSp>
      <p:sp>
        <p:nvSpPr>
          <p:cNvPr id="20" name="s05 article 2"/>
          <p:cNvSpPr txBox="1"/>
          <p:nvPr/>
        </p:nvSpPr>
        <p:spPr>
          <a:xfrm>
            <a:off x="609600" y="3327400"/>
            <a:ext cx="2184400" cy="622300"/>
          </a:xfrm>
          <a:prstGeom prst="rect">
            <a:avLst/>
          </a:prstGeom>
          <a:noFill/>
        </p:spPr>
        <p:txBody>
          <a:bodyPr wrap="square" lIns="0" tIns="0" rIns="0" bIns="0" anchor="t">
            <a:noAutofit/>
          </a:bodyPr>
          <a:lstStyle/>
          <a:p>
            <a:pPr algn="l">
              <a:lnSpc>
                <a:spcPct val="100000"/>
              </a:lnSpc>
              <a:spcBef>
                <a:spcPts val="0"/>
              </a:spcBef>
              <a:spcAft>
                <a:spcPts val="0"/>
              </a:spcAft>
            </a:pPr>
            <a:r>
              <a:rPr sz="2000" b="1" i="0" lang="fr-FR">
                <a:solidFill>
                  <a:srgbClr val="1E7B67"/>
                </a:solidFill>
                <a:latin typeface="Calibri"/>
              </a:rPr>
              <a:t>Décret D/2017/285</a:t>
            </a:r>
          </a:p>
        </p:txBody>
      </p:sp>
      <p:sp>
        <p:nvSpPr>
          <p:cNvPr id="21" name="s05 texte 2"/>
          <p:cNvSpPr txBox="1"/>
          <p:nvPr/>
        </p:nvSpPr>
        <p:spPr>
          <a:xfrm>
            <a:off x="2857500" y="3327400"/>
            <a:ext cx="4445000" cy="622300"/>
          </a:xfrm>
          <a:prstGeom prst="rect">
            <a:avLst/>
          </a:prstGeom>
          <a:noFill/>
        </p:spPr>
        <p:txBody>
          <a:bodyPr wrap="square" lIns="0" tIns="0" rIns="0" bIns="0" anchor="t">
            <a:noAutofit/>
          </a:bodyPr>
          <a:lstStyle/>
          <a:p>
            <a:pPr algn="l">
              <a:lnSpc>
                <a:spcPct val="100000"/>
              </a:lnSpc>
              <a:spcBef>
                <a:spcPts val="0"/>
              </a:spcBef>
              <a:spcAft>
                <a:spcPts val="0"/>
              </a:spcAft>
            </a:pPr>
            <a:r>
              <a:rPr sz="2000" b="0" i="0" lang="fr-FR">
                <a:solidFill>
                  <a:srgbClr val="1B2A41"/>
                </a:solidFill>
                <a:latin typeface="Calibri"/>
              </a:rPr>
              <a:t>Compte dédié, publication sous cinq jours ouvrés, rapport ITIE avant le 15 avril</a:t>
            </a:r>
          </a:p>
        </p:txBody>
      </p:sp>
      <p:cxnSp>
        <p:nvCxnSpPr>
          <p:cNvPr id="22" name="s05 filet 3"/>
          <p:cNvCxnSpPr/>
          <p:nvPr/>
        </p:nvCxnSpPr>
        <p:spPr>
          <a:xfrm>
            <a:off x="609600" y="4648200"/>
            <a:ext cx="6692900" cy="0"/>
          </a:xfrm>
          <a:prstGeom prst="line">
            <a:avLst/>
          </a:prstGeom>
          <a:ln w="12700">
            <a:solidFill>
              <a:srgbClr val="E3DED3"/>
            </a:solidFill>
          </a:ln>
        </p:spPr>
        <p:style>
          <a:lnRef idx="2">
            <a:schemeClr val="accent1"/>
          </a:lnRef>
          <a:fillRef idx="0">
            <a:schemeClr val="accent1"/>
          </a:fillRef>
          <a:effectRef idx="1">
            <a:schemeClr val="accent1"/>
          </a:effectRef>
          <a:fontRef idx="minor">
            <a:schemeClr val="tx1"/>
          </a:fontRef>
        </p:style>
      </p:cxnSp>
      <p:sp>
        <p:nvSpPr>
          <p:cNvPr id="23" name="s05 article 3"/>
          <p:cNvSpPr txBox="1"/>
          <p:nvPr/>
        </p:nvSpPr>
        <p:spPr>
          <a:xfrm>
            <a:off x="609600" y="4013200"/>
            <a:ext cx="2184400" cy="622300"/>
          </a:xfrm>
          <a:prstGeom prst="rect">
            <a:avLst/>
          </a:prstGeom>
          <a:noFill/>
        </p:spPr>
        <p:txBody>
          <a:bodyPr wrap="square" lIns="0" tIns="0" rIns="0" bIns="0" anchor="t">
            <a:noAutofit/>
          </a:bodyPr>
          <a:lstStyle/>
          <a:p>
            <a:pPr algn="l">
              <a:lnSpc>
                <a:spcPct val="100000"/>
              </a:lnSpc>
              <a:spcBef>
                <a:spcPts val="0"/>
              </a:spcBef>
              <a:spcAft>
                <a:spcPts val="0"/>
              </a:spcAft>
            </a:pPr>
            <a:r>
              <a:rPr sz="2000" b="1" i="0" lang="fr-FR">
                <a:solidFill>
                  <a:srgbClr val="1E7B67"/>
                </a:solidFill>
                <a:latin typeface="Calibri"/>
              </a:rPr>
              <a:t>Article 177</a:t>
            </a:r>
          </a:p>
        </p:txBody>
      </p:sp>
      <p:sp>
        <p:nvSpPr>
          <p:cNvPr id="24" name="s05 texte 3"/>
          <p:cNvSpPr txBox="1"/>
          <p:nvPr/>
        </p:nvSpPr>
        <p:spPr>
          <a:xfrm>
            <a:off x="2857500" y="4013200"/>
            <a:ext cx="4445000" cy="622300"/>
          </a:xfrm>
          <a:prstGeom prst="rect">
            <a:avLst/>
          </a:prstGeom>
          <a:noFill/>
        </p:spPr>
        <p:txBody>
          <a:bodyPr wrap="square" lIns="0" tIns="0" rIns="0" bIns="0" anchor="t">
            <a:noAutofit/>
          </a:bodyPr>
          <a:lstStyle/>
          <a:p>
            <a:pPr algn="l">
              <a:lnSpc>
                <a:spcPct val="100000"/>
              </a:lnSpc>
              <a:spcBef>
                <a:spcPts val="0"/>
              </a:spcBef>
              <a:spcAft>
                <a:spcPts val="0"/>
              </a:spcAft>
            </a:pPr>
            <a:r>
              <a:rPr sz="2000" b="0" i="0" lang="fr-FR">
                <a:solidFill>
                  <a:srgbClr val="1B2A41"/>
                </a:solidFill>
                <a:latin typeface="Calibri"/>
              </a:rPr>
              <a:t>Contribution déductible : coût réel net de 0,7 % à 1,05 %</a:t>
            </a:r>
          </a:p>
        </p:txBody>
      </p:sp>
      <p:cxnSp>
        <p:nvCxnSpPr>
          <p:cNvPr id="25" name="s05 filet 4"/>
          <p:cNvCxnSpPr/>
          <p:nvPr/>
        </p:nvCxnSpPr>
        <p:spPr>
          <a:xfrm>
            <a:off x="609600" y="5029200"/>
            <a:ext cx="6692900" cy="0"/>
          </a:xfrm>
          <a:prstGeom prst="line">
            <a:avLst/>
          </a:prstGeom>
          <a:ln w="12700">
            <a:solidFill>
              <a:srgbClr val="E3DED3"/>
            </a:solidFill>
          </a:ln>
        </p:spPr>
        <p:style>
          <a:lnRef idx="2">
            <a:schemeClr val="accent1"/>
          </a:lnRef>
          <a:fillRef idx="0">
            <a:schemeClr val="accent1"/>
          </a:fillRef>
          <a:effectRef idx="1">
            <a:schemeClr val="accent1"/>
          </a:effectRef>
          <a:fontRef idx="minor">
            <a:schemeClr val="tx1"/>
          </a:fontRef>
        </p:style>
      </p:cxnSp>
      <p:sp>
        <p:nvSpPr>
          <p:cNvPr id="26" name="s05 article 4"/>
          <p:cNvSpPr txBox="1"/>
          <p:nvPr/>
        </p:nvSpPr>
        <p:spPr>
          <a:xfrm>
            <a:off x="609600" y="4699000"/>
            <a:ext cx="2184400" cy="317500"/>
          </a:xfrm>
          <a:prstGeom prst="rect">
            <a:avLst/>
          </a:prstGeom>
          <a:noFill/>
        </p:spPr>
        <p:txBody>
          <a:bodyPr wrap="square" lIns="0" tIns="0" rIns="0" bIns="0" anchor="t">
            <a:noAutofit/>
          </a:bodyPr>
          <a:lstStyle/>
          <a:p>
            <a:pPr algn="l">
              <a:lnSpc>
                <a:spcPct val="100000"/>
              </a:lnSpc>
              <a:spcBef>
                <a:spcPts val="0"/>
              </a:spcBef>
              <a:spcAft>
                <a:spcPts val="0"/>
              </a:spcAft>
            </a:pPr>
            <a:r>
              <a:rPr sz="2000" b="1" i="0" lang="fr-FR">
                <a:solidFill>
                  <a:srgbClr val="1E7B67"/>
                </a:solidFill>
                <a:latin typeface="Calibri"/>
              </a:rPr>
              <a:t>Articles 107 à 109</a:t>
            </a:r>
          </a:p>
        </p:txBody>
      </p:sp>
      <p:sp>
        <p:nvSpPr>
          <p:cNvPr id="27" name="s05 texte 4"/>
          <p:cNvSpPr txBox="1"/>
          <p:nvPr/>
        </p:nvSpPr>
        <p:spPr>
          <a:xfrm>
            <a:off x="2857500" y="4699000"/>
            <a:ext cx="4445000" cy="317500"/>
          </a:xfrm>
          <a:prstGeom prst="rect">
            <a:avLst/>
          </a:prstGeom>
          <a:noFill/>
        </p:spPr>
        <p:txBody>
          <a:bodyPr wrap="square" lIns="0" tIns="0" rIns="0" bIns="0" anchor="t">
            <a:noAutofit/>
          </a:bodyPr>
          <a:lstStyle/>
          <a:p>
            <a:pPr algn="l">
              <a:lnSpc>
                <a:spcPct val="100000"/>
              </a:lnSpc>
              <a:spcBef>
                <a:spcPts val="0"/>
              </a:spcBef>
              <a:spcAft>
                <a:spcPts val="0"/>
              </a:spcAft>
            </a:pPr>
            <a:r>
              <a:rPr sz="2000" b="0" i="0" lang="fr-FR">
                <a:solidFill>
                  <a:srgbClr val="1B2A41"/>
                </a:solidFill>
                <a:latin typeface="Calibri"/>
              </a:rPr>
              <a:t>Emploi et fournisseurs locaux, formation</a:t>
            </a:r>
          </a:p>
        </p:txBody>
      </p:sp>
      <p:cxnSp>
        <p:nvCxnSpPr>
          <p:cNvPr id="28" name="s05 filet 5"/>
          <p:cNvCxnSpPr/>
          <p:nvPr/>
        </p:nvCxnSpPr>
        <p:spPr>
          <a:xfrm>
            <a:off x="609600" y="5410200"/>
            <a:ext cx="6692900" cy="0"/>
          </a:xfrm>
          <a:prstGeom prst="line">
            <a:avLst/>
          </a:prstGeom>
          <a:ln w="12700">
            <a:solidFill>
              <a:srgbClr val="E3DED3"/>
            </a:solidFill>
          </a:ln>
        </p:spPr>
        <p:style>
          <a:lnRef idx="2">
            <a:schemeClr val="accent1"/>
          </a:lnRef>
          <a:fillRef idx="0">
            <a:schemeClr val="accent1"/>
          </a:fillRef>
          <a:effectRef idx="1">
            <a:schemeClr val="accent1"/>
          </a:effectRef>
          <a:fontRef idx="minor">
            <a:schemeClr val="tx1"/>
          </a:fontRef>
        </p:style>
      </p:cxnSp>
      <p:sp>
        <p:nvSpPr>
          <p:cNvPr id="29" name="s05 article 5"/>
          <p:cNvSpPr txBox="1"/>
          <p:nvPr/>
        </p:nvSpPr>
        <p:spPr>
          <a:xfrm>
            <a:off x="609600" y="5080000"/>
            <a:ext cx="2184400" cy="317500"/>
          </a:xfrm>
          <a:prstGeom prst="rect">
            <a:avLst/>
          </a:prstGeom>
          <a:noFill/>
        </p:spPr>
        <p:txBody>
          <a:bodyPr wrap="square" lIns="0" tIns="0" rIns="0" bIns="0" anchor="t">
            <a:noAutofit/>
          </a:bodyPr>
          <a:lstStyle/>
          <a:p>
            <a:pPr algn="l">
              <a:lnSpc>
                <a:spcPct val="100000"/>
              </a:lnSpc>
              <a:spcBef>
                <a:spcPts val="0"/>
              </a:spcBef>
              <a:spcAft>
                <a:spcPts val="0"/>
              </a:spcAft>
            </a:pPr>
            <a:r>
              <a:rPr sz="2000" b="1" i="0" lang="fr-FR">
                <a:solidFill>
                  <a:srgbClr val="1E7B67"/>
                </a:solidFill>
                <a:latin typeface="Calibri"/>
              </a:rPr>
              <a:t>Article 160</a:t>
            </a:r>
          </a:p>
        </p:txBody>
      </p:sp>
      <p:sp>
        <p:nvSpPr>
          <p:cNvPr id="30" name="s05 texte 5"/>
          <p:cNvSpPr txBox="1"/>
          <p:nvPr/>
        </p:nvSpPr>
        <p:spPr>
          <a:xfrm>
            <a:off x="2857500" y="5080000"/>
            <a:ext cx="4445000" cy="317500"/>
          </a:xfrm>
          <a:prstGeom prst="rect">
            <a:avLst/>
          </a:prstGeom>
          <a:noFill/>
        </p:spPr>
        <p:txBody>
          <a:bodyPr wrap="square" lIns="0" tIns="0" rIns="0" bIns="0" anchor="t">
            <a:noAutofit/>
          </a:bodyPr>
          <a:lstStyle/>
          <a:p>
            <a:pPr algn="l">
              <a:lnSpc>
                <a:spcPct val="100000"/>
              </a:lnSpc>
              <a:spcBef>
                <a:spcPts val="0"/>
              </a:spcBef>
              <a:spcAft>
                <a:spcPts val="0"/>
              </a:spcAft>
            </a:pPr>
            <a:r>
              <a:rPr sz="2000" b="0" i="0" lang="fr-FR">
                <a:solidFill>
                  <a:srgbClr val="1B2A41"/>
                </a:solidFill>
                <a:latin typeface="Calibri"/>
              </a:rPr>
              <a:t>Redevance superficiaire</a:t>
            </a:r>
          </a:p>
        </p:txBody>
      </p:sp>
      <p:cxnSp>
        <p:nvCxnSpPr>
          <p:cNvPr id="31" name="s05 filet 6"/>
          <p:cNvCxnSpPr/>
          <p:nvPr/>
        </p:nvCxnSpPr>
        <p:spPr>
          <a:xfrm>
            <a:off x="609600" y="6096000"/>
            <a:ext cx="6692900" cy="0"/>
          </a:xfrm>
          <a:prstGeom prst="line">
            <a:avLst/>
          </a:prstGeom>
          <a:ln w="12700">
            <a:solidFill>
              <a:srgbClr val="E3DED3"/>
            </a:solidFill>
          </a:ln>
        </p:spPr>
        <p:style>
          <a:lnRef idx="2">
            <a:schemeClr val="accent1"/>
          </a:lnRef>
          <a:fillRef idx="0">
            <a:schemeClr val="accent1"/>
          </a:fillRef>
          <a:effectRef idx="1">
            <a:schemeClr val="accent1"/>
          </a:effectRef>
          <a:fontRef idx="minor">
            <a:schemeClr val="tx1"/>
          </a:fontRef>
        </p:style>
      </p:cxnSp>
      <p:sp>
        <p:nvSpPr>
          <p:cNvPr id="32" name="s05 article 6"/>
          <p:cNvSpPr txBox="1"/>
          <p:nvPr/>
        </p:nvSpPr>
        <p:spPr>
          <a:xfrm>
            <a:off x="609600" y="5461000"/>
            <a:ext cx="2184400" cy="622300"/>
          </a:xfrm>
          <a:prstGeom prst="rect">
            <a:avLst/>
          </a:prstGeom>
          <a:noFill/>
        </p:spPr>
        <p:txBody>
          <a:bodyPr wrap="square" lIns="0" tIns="0" rIns="0" bIns="0" anchor="t">
            <a:noAutofit/>
          </a:bodyPr>
          <a:lstStyle/>
          <a:p>
            <a:pPr algn="l">
              <a:lnSpc>
                <a:spcPct val="100000"/>
              </a:lnSpc>
              <a:spcBef>
                <a:spcPts val="0"/>
              </a:spcBef>
              <a:spcAft>
                <a:spcPts val="0"/>
              </a:spcAft>
            </a:pPr>
            <a:r>
              <a:rPr sz="2000" b="1" i="0" lang="fr-FR">
                <a:solidFill>
                  <a:srgbClr val="1E7B67"/>
                </a:solidFill>
                <a:latin typeface="Calibri"/>
              </a:rPr>
              <a:t>Articles 124, 125 et 165</a:t>
            </a:r>
          </a:p>
        </p:txBody>
      </p:sp>
      <p:sp>
        <p:nvSpPr>
          <p:cNvPr id="33" name="s05 texte 6"/>
          <p:cNvSpPr txBox="1"/>
          <p:nvPr/>
        </p:nvSpPr>
        <p:spPr>
          <a:xfrm>
            <a:off x="2857500" y="5461000"/>
            <a:ext cx="4445000" cy="622300"/>
          </a:xfrm>
          <a:prstGeom prst="rect">
            <a:avLst/>
          </a:prstGeom>
          <a:noFill/>
        </p:spPr>
        <p:txBody>
          <a:bodyPr wrap="square" lIns="0" tIns="0" rIns="0" bIns="0" anchor="t">
            <a:noAutofit/>
          </a:bodyPr>
          <a:lstStyle/>
          <a:p>
            <a:pPr algn="l">
              <a:lnSpc>
                <a:spcPct val="100000"/>
              </a:lnSpc>
              <a:spcBef>
                <a:spcPts val="0"/>
              </a:spcBef>
              <a:spcAft>
                <a:spcPts val="0"/>
              </a:spcAft>
            </a:pPr>
            <a:r>
              <a:rPr sz="2000" b="0" i="0" lang="fr-FR">
                <a:solidFill>
                  <a:srgbClr val="1B2A41"/>
                </a:solidFill>
                <a:latin typeface="Calibri"/>
              </a:rPr>
              <a:t>Populations déplacées, 15 % de certaines recettes minières aux collectivités</a:t>
            </a:r>
          </a:p>
        </p:txBody>
      </p:sp>
      <p:sp>
        <p:nvSpPr>
          <p:cNvPr id="34" name="s05 encadré"/>
          <p:cNvSpPr/>
          <p:nvPr/>
        </p:nvSpPr>
        <p:spPr>
          <a:xfrm>
            <a:off x="7467600" y="2895600"/>
            <a:ext cx="4114800" cy="3213100"/>
          </a:xfrm>
          <a:prstGeom prst="roundRect">
            <a:avLst>
              <a:gd name="adj" fmla="val 3162"/>
            </a:avLst>
          </a:prstGeom>
          <a:solidFill>
            <a:srgbClr val="F5EC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4000" tIns="101600" rIns="203200" bIns="101600">
            <a:noAutofit/>
          </a:bodyPr>
          <a:lstStyle/>
          <a:p>
            <a:pPr algn="l">
              <a:lnSpc>
                <a:spcPct val="100000"/>
              </a:lnSpc>
              <a:spcBef>
                <a:spcPts val="0"/>
              </a:spcBef>
              <a:spcAft>
                <a:spcPts val="600"/>
              </a:spcAft>
            </a:pPr>
            <a:r>
              <a:rPr sz="2000" b="1" i="0" lang="fr-FR" spc="150">
                <a:solidFill>
                  <a:srgbClr val="1E7B67"/>
                </a:solidFill>
                <a:latin typeface="Calibri"/>
              </a:rPr>
              <a:t>À PLEIN RÉGIME</a:t>
            </a:r>
          </a:p>
          <a:p>
            <a:pPr algn="l">
              <a:lnSpc>
                <a:spcPct val="100000"/>
              </a:lnSpc>
              <a:spcBef>
                <a:spcPts val="0"/>
              </a:spcBef>
              <a:spcAft>
                <a:spcPts val="800"/>
              </a:spcAft>
            </a:pPr>
            <a:r>
              <a:rPr sz="2200" b="1" i="0" lang="fr-FR">
                <a:solidFill>
                  <a:srgbClr val="12264A"/>
                </a:solidFill>
                <a:latin typeface="Calibri"/>
              </a:rPr>
              <a:t>1 % de 2 392 M USD, soit environ 23,9 M USD par an</a:t>
            </a:r>
          </a:p>
          <a:p>
            <a:pPr algn="l">
              <a:lnSpc>
                <a:spcPct val="100000"/>
              </a:lnSpc>
              <a:spcBef>
                <a:spcPts val="0"/>
              </a:spcBef>
              <a:spcAft>
                <a:spcPts val="1400"/>
              </a:spcAft>
            </a:pPr>
            <a:r>
              <a:rPr sz="2000" b="0" i="0" lang="fr-FR">
                <a:solidFill>
                  <a:srgbClr val="1B2A41"/>
                </a:solidFill>
                <a:latin typeface="Calibri"/>
              </a:rPr>
              <a:t>dont 35 % (environ 8,4 M USD) reviennent aux communes qui abritent les mines.</a:t>
            </a:r>
          </a:p>
          <a:p>
            <a:pPr algn="l">
              <a:lnSpc>
                <a:spcPct val="100000"/>
              </a:lnSpc>
              <a:spcBef>
                <a:spcPts val="0"/>
              </a:spcBef>
              <a:spcAft>
                <a:spcPts val="0"/>
              </a:spcAft>
            </a:pPr>
            <a:r>
              <a:rPr sz="2000" b="1" i="0" lang="fr-FR">
                <a:solidFill>
                  <a:srgbClr val="12264A"/>
                </a:solidFill>
                <a:latin typeface="Calibri"/>
              </a:rPr>
              <a:t>FUTURA complète le FODEL national, il ne le concurrence pas.</a:t>
            </a:r>
          </a:p>
        </p:txBody>
      </p:sp>
      <p:sp>
        <p:nvSpPr>
          <p:cNvPr id="35" name="s05 encadré filet"/>
          <p:cNvSpPr/>
          <p:nvPr/>
        </p:nvSpPr>
        <p:spPr>
          <a:xfrm>
            <a:off x="7467600" y="2997200"/>
            <a:ext cx="50800" cy="3009900"/>
          </a:xfrm>
          <a:prstGeom prst="rect">
            <a:avLst/>
          </a:prstGeom>
          <a:solidFill>
            <a:srgbClr val="D3A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mc:AlternateContent xmlns:mc="http://schemas.openxmlformats.org/markup-compatibility/2006">
    <mc:Choice xmlns:p14="http://schemas.microsoft.com/office/powerpoint/2010/main" Requires="p14">
      <p:transition spd="med" p14:dur="700" advTm="30000">
        <p:fade/>
      </p:transition>
    </mc:Choice>
    <mc:Fallback>
      <p:transition spd="med" advTm="30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p:cTn id="7" dur="700" fill="hold"/>
                                        <p:tgtEl>
                                          <p:spTgt spid="13"/>
                                        </p:tgtEl>
                                        <p:attrNameLst>
                                          <p:attrName>ppt_w</p:attrName>
                                        </p:attrNameLst>
                                      </p:cBhvr>
                                      <p:tavLst>
                                        <p:tav tm="0">
                                          <p:val>
                                            <p:strVal val="#ppt_w*0.85"/>
                                          </p:val>
                                        </p:tav>
                                        <p:tav tm="100000">
                                          <p:val>
                                            <p:strVal val="#ppt_w"/>
                                          </p:val>
                                        </p:tav>
                                      </p:tavLst>
                                    </p:anim>
                                    <p:anim calcmode="lin" valueType="num">
                                      <p:cBhvr>
                                        <p:cTn id="8" dur="700" fill="hold"/>
                                        <p:tgtEl>
                                          <p:spTgt spid="13"/>
                                        </p:tgtEl>
                                        <p:attrNameLst>
                                          <p:attrName>ppt_h</p:attrName>
                                        </p:attrNameLst>
                                      </p:cBhvr>
                                      <p:tavLst>
                                        <p:tav tm="0">
                                          <p:val>
                                            <p:strVal val="#ppt_h*0.85"/>
                                          </p:val>
                                        </p:tav>
                                        <p:tav tm="100000">
                                          <p:val>
                                            <p:strVal val="#ppt_h"/>
                                          </p:val>
                                        </p:tav>
                                      </p:tavLst>
                                    </p:anim>
                                    <p:animEffect transition="in" filter="fade">
                                      <p:cBhvr>
                                        <p:cTn id="9" dur="700"/>
                                        <p:tgtEl>
                                          <p:spTgt spid="13"/>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4"/>
                                        </p:tgtEl>
                                        <p:attrNameLst>
                                          <p:attrName>style.visibility</p:attrName>
                                        </p:attrNameLst>
                                      </p:cBhvr>
                                      <p:to>
                                        <p:strVal val="visible"/>
                                      </p:to>
                                    </p:set>
                                    <p:anim calcmode="lin" valueType="num">
                                      <p:cBhvr>
                                        <p:cTn id="12" dur="700" fill="hold"/>
                                        <p:tgtEl>
                                          <p:spTgt spid="14"/>
                                        </p:tgtEl>
                                        <p:attrNameLst>
                                          <p:attrName>ppt_w</p:attrName>
                                        </p:attrNameLst>
                                      </p:cBhvr>
                                      <p:tavLst>
                                        <p:tav tm="0">
                                          <p:val>
                                            <p:strVal val="#ppt_w*0.85"/>
                                          </p:val>
                                        </p:tav>
                                        <p:tav tm="100000">
                                          <p:val>
                                            <p:strVal val="#ppt_w"/>
                                          </p:val>
                                        </p:tav>
                                      </p:tavLst>
                                    </p:anim>
                                    <p:anim calcmode="lin" valueType="num">
                                      <p:cBhvr>
                                        <p:cTn id="13" dur="700" fill="hold"/>
                                        <p:tgtEl>
                                          <p:spTgt spid="14"/>
                                        </p:tgtEl>
                                        <p:attrNameLst>
                                          <p:attrName>ppt_h</p:attrName>
                                        </p:attrNameLst>
                                      </p:cBhvr>
                                      <p:tavLst>
                                        <p:tav tm="0">
                                          <p:val>
                                            <p:strVal val="#ppt_h*0.85"/>
                                          </p:val>
                                        </p:tav>
                                        <p:tav tm="100000">
                                          <p:val>
                                            <p:strVal val="#ppt_h"/>
                                          </p:val>
                                        </p:tav>
                                      </p:tavLst>
                                    </p:anim>
                                    <p:animEffect transition="in" filter="fade">
                                      <p:cBhvr>
                                        <p:cTn id="14" dur="700"/>
                                        <p:tgtEl>
                                          <p:spTgt spid="14"/>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 calcmode="lin" valueType="num">
                                      <p:cBhvr>
                                        <p:cTn id="17" dur="700" fill="hold"/>
                                        <p:tgtEl>
                                          <p:spTgt spid="15"/>
                                        </p:tgtEl>
                                        <p:attrNameLst>
                                          <p:attrName>ppt_w</p:attrName>
                                        </p:attrNameLst>
                                      </p:cBhvr>
                                      <p:tavLst>
                                        <p:tav tm="0">
                                          <p:val>
                                            <p:strVal val="#ppt_w*0.85"/>
                                          </p:val>
                                        </p:tav>
                                        <p:tav tm="100000">
                                          <p:val>
                                            <p:strVal val="#ppt_w"/>
                                          </p:val>
                                        </p:tav>
                                      </p:tavLst>
                                    </p:anim>
                                    <p:anim calcmode="lin" valueType="num">
                                      <p:cBhvr>
                                        <p:cTn id="18" dur="700" fill="hold"/>
                                        <p:tgtEl>
                                          <p:spTgt spid="15"/>
                                        </p:tgtEl>
                                        <p:attrNameLst>
                                          <p:attrName>ppt_h</p:attrName>
                                        </p:attrNameLst>
                                      </p:cBhvr>
                                      <p:tavLst>
                                        <p:tav tm="0">
                                          <p:val>
                                            <p:strVal val="#ppt_h*0.85"/>
                                          </p:val>
                                        </p:tav>
                                        <p:tav tm="100000">
                                          <p:val>
                                            <p:strVal val="#ppt_h"/>
                                          </p:val>
                                        </p:tav>
                                      </p:tavLst>
                                    </p:anim>
                                    <p:animEffect transition="in" filter="fade">
                                      <p:cBhvr>
                                        <p:cTn id="19" dur="700"/>
                                        <p:tgtEl>
                                          <p:spTgt spid="15"/>
                                        </p:tgtEl>
                                      </p:cBhvr>
                                    </p:animEffect>
                                  </p:childTnLst>
                                </p:cTn>
                              </p:par>
                            </p:childTnLst>
                          </p:cTn>
                        </p:par>
                        <p:par>
                          <p:cTn id="20" fill="hold">
                            <p:stCondLst>
                              <p:cond delay="700"/>
                            </p:stCondLst>
                            <p:childTnLst>
                              <p:par>
                                <p:cTn id="21" presetID="42" presetClass="entr" presetSubtype="0" fill="hold" grpId="0" nodeType="afterEffect">
                                  <p:stCondLst>
                                    <p:cond delay="5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500"/>
                                        <p:tgtEl>
                                          <p:spTgt spid="17"/>
                                        </p:tgtEl>
                                      </p:cBhvr>
                                    </p:animEffect>
                                    <p:anim calcmode="lin" valueType="num">
                                      <p:cBhvr>
                                        <p:cTn id="24" dur="500" fill="hold" decel="100000"/>
                                        <p:tgtEl>
                                          <p:spTgt spid="17"/>
                                        </p:tgtEl>
                                        <p:attrNameLst>
                                          <p:attrName>ppt_x</p:attrName>
                                        </p:attrNameLst>
                                      </p:cBhvr>
                                      <p:tavLst>
                                        <p:tav tm="0">
                                          <p:val>
                                            <p:strVal val="#ppt_x"/>
                                          </p:val>
                                        </p:tav>
                                        <p:tav tm="100000">
                                          <p:val>
                                            <p:strVal val="#ppt_x"/>
                                          </p:val>
                                        </p:tav>
                                      </p:tavLst>
                                    </p:anim>
                                    <p:anim calcmode="lin" valueType="num">
                                      <p:cBhvr>
                                        <p:cTn id="25" dur="500" fill="hold" decel="100000"/>
                                        <p:tgtEl>
                                          <p:spTgt spid="17"/>
                                        </p:tgtEl>
                                        <p:attrNameLst>
                                          <p:attrName>ppt_y</p:attrName>
                                        </p:attrNameLst>
                                      </p:cBhvr>
                                      <p:tavLst>
                                        <p:tav tm="0">
                                          <p:val>
                                            <p:strVal val="#ppt_y+.04"/>
                                          </p:val>
                                        </p:tav>
                                        <p:tav tm="100000">
                                          <p:val>
                                            <p:strVal val="#ppt_y"/>
                                          </p:val>
                                        </p:tav>
                                      </p:tavLst>
                                    </p:anim>
                                  </p:childTnLst>
                                </p:cTn>
                              </p:par>
                              <p:par>
                                <p:cTn id="26" presetID="42" presetClass="entr" presetSubtype="0" fill="hold" grpId="0" nodeType="withEffect">
                                  <p:stCondLst>
                                    <p:cond delay="5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500"/>
                                        <p:tgtEl>
                                          <p:spTgt spid="18"/>
                                        </p:tgtEl>
                                      </p:cBhvr>
                                    </p:animEffect>
                                    <p:anim calcmode="lin" valueType="num">
                                      <p:cBhvr>
                                        <p:cTn id="29" dur="500" fill="hold" decel="100000"/>
                                        <p:tgtEl>
                                          <p:spTgt spid="18"/>
                                        </p:tgtEl>
                                        <p:attrNameLst>
                                          <p:attrName>ppt_x</p:attrName>
                                        </p:attrNameLst>
                                      </p:cBhvr>
                                      <p:tavLst>
                                        <p:tav tm="0">
                                          <p:val>
                                            <p:strVal val="#ppt_x"/>
                                          </p:val>
                                        </p:tav>
                                        <p:tav tm="100000">
                                          <p:val>
                                            <p:strVal val="#ppt_x"/>
                                          </p:val>
                                        </p:tav>
                                      </p:tavLst>
                                    </p:anim>
                                    <p:anim calcmode="lin" valueType="num">
                                      <p:cBhvr>
                                        <p:cTn id="30" dur="500" fill="hold" decel="100000"/>
                                        <p:tgtEl>
                                          <p:spTgt spid="18"/>
                                        </p:tgtEl>
                                        <p:attrNameLst>
                                          <p:attrName>ppt_y</p:attrName>
                                        </p:attrNameLst>
                                      </p:cBhvr>
                                      <p:tavLst>
                                        <p:tav tm="0">
                                          <p:val>
                                            <p:strVal val="#ppt_y+.04"/>
                                          </p:val>
                                        </p:tav>
                                        <p:tav tm="100000">
                                          <p:val>
                                            <p:strVal val="#ppt_y"/>
                                          </p:val>
                                        </p:tav>
                                      </p:tavLst>
                                    </p:anim>
                                  </p:childTnLst>
                                </p:cTn>
                              </p:par>
                              <p:par>
                                <p:cTn id="31" presetID="42" presetClass="entr" presetSubtype="0" fill="hold" grpId="0" nodeType="withEffect">
                                  <p:stCondLst>
                                    <p:cond delay="5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500"/>
                                        <p:tgtEl>
                                          <p:spTgt spid="16"/>
                                        </p:tgtEl>
                                      </p:cBhvr>
                                    </p:animEffect>
                                    <p:anim calcmode="lin" valueType="num">
                                      <p:cBhvr>
                                        <p:cTn id="34" dur="500" fill="hold" decel="100000"/>
                                        <p:tgtEl>
                                          <p:spTgt spid="16"/>
                                        </p:tgtEl>
                                        <p:attrNameLst>
                                          <p:attrName>ppt_x</p:attrName>
                                        </p:attrNameLst>
                                      </p:cBhvr>
                                      <p:tavLst>
                                        <p:tav tm="0">
                                          <p:val>
                                            <p:strVal val="#ppt_x"/>
                                          </p:val>
                                        </p:tav>
                                        <p:tav tm="100000">
                                          <p:val>
                                            <p:strVal val="#ppt_x"/>
                                          </p:val>
                                        </p:tav>
                                      </p:tavLst>
                                    </p:anim>
                                    <p:anim calcmode="lin" valueType="num">
                                      <p:cBhvr>
                                        <p:cTn id="35" dur="500" fill="hold" decel="100000"/>
                                        <p:tgtEl>
                                          <p:spTgt spid="16"/>
                                        </p:tgtEl>
                                        <p:attrNameLst>
                                          <p:attrName>ppt_y</p:attrName>
                                        </p:attrNameLst>
                                      </p:cBhvr>
                                      <p:tavLst>
                                        <p:tav tm="0">
                                          <p:val>
                                            <p:strVal val="#ppt_y+.04"/>
                                          </p:val>
                                        </p:tav>
                                        <p:tav tm="100000">
                                          <p:val>
                                            <p:strVal val="#ppt_y"/>
                                          </p:val>
                                        </p:tav>
                                      </p:tavLst>
                                    </p:anim>
                                  </p:childTnLst>
                                </p:cTn>
                              </p:par>
                            </p:childTnLst>
                          </p:cTn>
                        </p:par>
                        <p:par>
                          <p:cTn id="36" fill="hold">
                            <p:stCondLst>
                              <p:cond delay="1250"/>
                            </p:stCondLst>
                            <p:childTnLst>
                              <p:par>
                                <p:cTn id="37" presetID="42" presetClass="entr" presetSubtype="0" fill="hold" grpId="0" nodeType="afterEffect">
                                  <p:stCondLst>
                                    <p:cond delay="50"/>
                                  </p:stCondLst>
                                  <p:childTnLst>
                                    <p:set>
                                      <p:cBhvr>
                                        <p:cTn id="38" dur="1" fill="hold">
                                          <p:stCondLst>
                                            <p:cond delay="0"/>
                                          </p:stCondLst>
                                        </p:cTn>
                                        <p:tgtEl>
                                          <p:spTgt spid="20"/>
                                        </p:tgtEl>
                                        <p:attrNameLst>
                                          <p:attrName>style.visibility</p:attrName>
                                        </p:attrNameLst>
                                      </p:cBhvr>
                                      <p:to>
                                        <p:strVal val="visible"/>
                                      </p:to>
                                    </p:set>
                                    <p:animEffect transition="in" filter="fade">
                                      <p:cBhvr>
                                        <p:cTn id="39" dur="500"/>
                                        <p:tgtEl>
                                          <p:spTgt spid="20"/>
                                        </p:tgtEl>
                                      </p:cBhvr>
                                    </p:animEffect>
                                    <p:anim calcmode="lin" valueType="num">
                                      <p:cBhvr>
                                        <p:cTn id="40" dur="500" fill="hold" decel="100000"/>
                                        <p:tgtEl>
                                          <p:spTgt spid="20"/>
                                        </p:tgtEl>
                                        <p:attrNameLst>
                                          <p:attrName>ppt_x</p:attrName>
                                        </p:attrNameLst>
                                      </p:cBhvr>
                                      <p:tavLst>
                                        <p:tav tm="0">
                                          <p:val>
                                            <p:strVal val="#ppt_x"/>
                                          </p:val>
                                        </p:tav>
                                        <p:tav tm="100000">
                                          <p:val>
                                            <p:strVal val="#ppt_x"/>
                                          </p:val>
                                        </p:tav>
                                      </p:tavLst>
                                    </p:anim>
                                    <p:anim calcmode="lin" valueType="num">
                                      <p:cBhvr>
                                        <p:cTn id="41" dur="500" fill="hold" decel="100000"/>
                                        <p:tgtEl>
                                          <p:spTgt spid="20"/>
                                        </p:tgtEl>
                                        <p:attrNameLst>
                                          <p:attrName>ppt_y</p:attrName>
                                        </p:attrNameLst>
                                      </p:cBhvr>
                                      <p:tavLst>
                                        <p:tav tm="0">
                                          <p:val>
                                            <p:strVal val="#ppt_y+.04"/>
                                          </p:val>
                                        </p:tav>
                                        <p:tav tm="100000">
                                          <p:val>
                                            <p:strVal val="#ppt_y"/>
                                          </p:val>
                                        </p:tav>
                                      </p:tavLst>
                                    </p:anim>
                                  </p:childTnLst>
                                </p:cTn>
                              </p:par>
                              <p:par>
                                <p:cTn id="42" presetID="42" presetClass="entr" presetSubtype="0" fill="hold" grpId="0" nodeType="withEffect">
                                  <p:stCondLst>
                                    <p:cond delay="50"/>
                                  </p:stCondLst>
                                  <p:childTnLst>
                                    <p:set>
                                      <p:cBhvr>
                                        <p:cTn id="43" dur="1" fill="hold">
                                          <p:stCondLst>
                                            <p:cond delay="0"/>
                                          </p:stCondLst>
                                        </p:cTn>
                                        <p:tgtEl>
                                          <p:spTgt spid="21"/>
                                        </p:tgtEl>
                                        <p:attrNameLst>
                                          <p:attrName>style.visibility</p:attrName>
                                        </p:attrNameLst>
                                      </p:cBhvr>
                                      <p:to>
                                        <p:strVal val="visible"/>
                                      </p:to>
                                    </p:set>
                                    <p:animEffect transition="in" filter="fade">
                                      <p:cBhvr>
                                        <p:cTn id="44" dur="500"/>
                                        <p:tgtEl>
                                          <p:spTgt spid="21"/>
                                        </p:tgtEl>
                                      </p:cBhvr>
                                    </p:animEffect>
                                    <p:anim calcmode="lin" valueType="num">
                                      <p:cBhvr>
                                        <p:cTn id="45" dur="500" fill="hold" decel="100000"/>
                                        <p:tgtEl>
                                          <p:spTgt spid="21"/>
                                        </p:tgtEl>
                                        <p:attrNameLst>
                                          <p:attrName>ppt_x</p:attrName>
                                        </p:attrNameLst>
                                      </p:cBhvr>
                                      <p:tavLst>
                                        <p:tav tm="0">
                                          <p:val>
                                            <p:strVal val="#ppt_x"/>
                                          </p:val>
                                        </p:tav>
                                        <p:tav tm="100000">
                                          <p:val>
                                            <p:strVal val="#ppt_x"/>
                                          </p:val>
                                        </p:tav>
                                      </p:tavLst>
                                    </p:anim>
                                    <p:anim calcmode="lin" valueType="num">
                                      <p:cBhvr>
                                        <p:cTn id="46" dur="500" fill="hold" decel="100000"/>
                                        <p:tgtEl>
                                          <p:spTgt spid="21"/>
                                        </p:tgtEl>
                                        <p:attrNameLst>
                                          <p:attrName>ppt_y</p:attrName>
                                        </p:attrNameLst>
                                      </p:cBhvr>
                                      <p:tavLst>
                                        <p:tav tm="0">
                                          <p:val>
                                            <p:strVal val="#ppt_y+.04"/>
                                          </p:val>
                                        </p:tav>
                                        <p:tav tm="100000">
                                          <p:val>
                                            <p:strVal val="#ppt_y"/>
                                          </p:val>
                                        </p:tav>
                                      </p:tavLst>
                                    </p:anim>
                                  </p:childTnLst>
                                </p:cTn>
                              </p:par>
                              <p:par>
                                <p:cTn id="47" presetID="42" presetClass="entr" presetSubtype="0" fill="hold" grpId="0" nodeType="withEffect">
                                  <p:stCondLst>
                                    <p:cond delay="5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anim calcmode="lin" valueType="num">
                                      <p:cBhvr>
                                        <p:cTn id="50" dur="500" fill="hold" decel="100000"/>
                                        <p:tgtEl>
                                          <p:spTgt spid="19"/>
                                        </p:tgtEl>
                                        <p:attrNameLst>
                                          <p:attrName>ppt_x</p:attrName>
                                        </p:attrNameLst>
                                      </p:cBhvr>
                                      <p:tavLst>
                                        <p:tav tm="0">
                                          <p:val>
                                            <p:strVal val="#ppt_x"/>
                                          </p:val>
                                        </p:tav>
                                        <p:tav tm="100000">
                                          <p:val>
                                            <p:strVal val="#ppt_x"/>
                                          </p:val>
                                        </p:tav>
                                      </p:tavLst>
                                    </p:anim>
                                    <p:anim calcmode="lin" valueType="num">
                                      <p:cBhvr>
                                        <p:cTn id="51" dur="500" fill="hold" decel="100000"/>
                                        <p:tgtEl>
                                          <p:spTgt spid="19"/>
                                        </p:tgtEl>
                                        <p:attrNameLst>
                                          <p:attrName>ppt_y</p:attrName>
                                        </p:attrNameLst>
                                      </p:cBhvr>
                                      <p:tavLst>
                                        <p:tav tm="0">
                                          <p:val>
                                            <p:strVal val="#ppt_y+.04"/>
                                          </p:val>
                                        </p:tav>
                                        <p:tav tm="100000">
                                          <p:val>
                                            <p:strVal val="#ppt_y"/>
                                          </p:val>
                                        </p:tav>
                                      </p:tavLst>
                                    </p:anim>
                                  </p:childTnLst>
                                </p:cTn>
                              </p:par>
                            </p:childTnLst>
                          </p:cTn>
                        </p:par>
                        <p:par>
                          <p:cTn id="52" fill="hold">
                            <p:stCondLst>
                              <p:cond delay="1800"/>
                            </p:stCondLst>
                            <p:childTnLst>
                              <p:par>
                                <p:cTn id="53" presetID="42" presetClass="entr" presetSubtype="0" fill="hold" grpId="0" nodeType="afterEffect">
                                  <p:stCondLst>
                                    <p:cond delay="5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500"/>
                                        <p:tgtEl>
                                          <p:spTgt spid="23"/>
                                        </p:tgtEl>
                                      </p:cBhvr>
                                    </p:animEffect>
                                    <p:anim calcmode="lin" valueType="num">
                                      <p:cBhvr>
                                        <p:cTn id="56" dur="500" fill="hold" decel="100000"/>
                                        <p:tgtEl>
                                          <p:spTgt spid="23"/>
                                        </p:tgtEl>
                                        <p:attrNameLst>
                                          <p:attrName>ppt_x</p:attrName>
                                        </p:attrNameLst>
                                      </p:cBhvr>
                                      <p:tavLst>
                                        <p:tav tm="0">
                                          <p:val>
                                            <p:strVal val="#ppt_x"/>
                                          </p:val>
                                        </p:tav>
                                        <p:tav tm="100000">
                                          <p:val>
                                            <p:strVal val="#ppt_x"/>
                                          </p:val>
                                        </p:tav>
                                      </p:tavLst>
                                    </p:anim>
                                    <p:anim calcmode="lin" valueType="num">
                                      <p:cBhvr>
                                        <p:cTn id="57" dur="500" fill="hold" decel="100000"/>
                                        <p:tgtEl>
                                          <p:spTgt spid="23"/>
                                        </p:tgtEl>
                                        <p:attrNameLst>
                                          <p:attrName>ppt_y</p:attrName>
                                        </p:attrNameLst>
                                      </p:cBhvr>
                                      <p:tavLst>
                                        <p:tav tm="0">
                                          <p:val>
                                            <p:strVal val="#ppt_y+.04"/>
                                          </p:val>
                                        </p:tav>
                                        <p:tav tm="100000">
                                          <p:val>
                                            <p:strVal val="#ppt_y"/>
                                          </p:val>
                                        </p:tav>
                                      </p:tavLst>
                                    </p:anim>
                                  </p:childTnLst>
                                </p:cTn>
                              </p:par>
                              <p:par>
                                <p:cTn id="58" presetID="42" presetClass="entr" presetSubtype="0" fill="hold" grpId="0" nodeType="withEffect">
                                  <p:stCondLst>
                                    <p:cond delay="50"/>
                                  </p:stCondLst>
                                  <p:childTnLst>
                                    <p:set>
                                      <p:cBhvr>
                                        <p:cTn id="59" dur="1" fill="hold">
                                          <p:stCondLst>
                                            <p:cond delay="0"/>
                                          </p:stCondLst>
                                        </p:cTn>
                                        <p:tgtEl>
                                          <p:spTgt spid="24"/>
                                        </p:tgtEl>
                                        <p:attrNameLst>
                                          <p:attrName>style.visibility</p:attrName>
                                        </p:attrNameLst>
                                      </p:cBhvr>
                                      <p:to>
                                        <p:strVal val="visible"/>
                                      </p:to>
                                    </p:set>
                                    <p:animEffect transition="in" filter="fade">
                                      <p:cBhvr>
                                        <p:cTn id="60" dur="500"/>
                                        <p:tgtEl>
                                          <p:spTgt spid="24"/>
                                        </p:tgtEl>
                                      </p:cBhvr>
                                    </p:animEffect>
                                    <p:anim calcmode="lin" valueType="num">
                                      <p:cBhvr>
                                        <p:cTn id="61" dur="500" fill="hold" decel="100000"/>
                                        <p:tgtEl>
                                          <p:spTgt spid="24"/>
                                        </p:tgtEl>
                                        <p:attrNameLst>
                                          <p:attrName>ppt_x</p:attrName>
                                        </p:attrNameLst>
                                      </p:cBhvr>
                                      <p:tavLst>
                                        <p:tav tm="0">
                                          <p:val>
                                            <p:strVal val="#ppt_x"/>
                                          </p:val>
                                        </p:tav>
                                        <p:tav tm="100000">
                                          <p:val>
                                            <p:strVal val="#ppt_x"/>
                                          </p:val>
                                        </p:tav>
                                      </p:tavLst>
                                    </p:anim>
                                    <p:anim calcmode="lin" valueType="num">
                                      <p:cBhvr>
                                        <p:cTn id="62" dur="500" fill="hold" decel="100000"/>
                                        <p:tgtEl>
                                          <p:spTgt spid="24"/>
                                        </p:tgtEl>
                                        <p:attrNameLst>
                                          <p:attrName>ppt_y</p:attrName>
                                        </p:attrNameLst>
                                      </p:cBhvr>
                                      <p:tavLst>
                                        <p:tav tm="0">
                                          <p:val>
                                            <p:strVal val="#ppt_y+.04"/>
                                          </p:val>
                                        </p:tav>
                                        <p:tav tm="100000">
                                          <p:val>
                                            <p:strVal val="#ppt_y"/>
                                          </p:val>
                                        </p:tav>
                                      </p:tavLst>
                                    </p:anim>
                                  </p:childTnLst>
                                </p:cTn>
                              </p:par>
                              <p:par>
                                <p:cTn id="63" presetID="42" presetClass="entr" presetSubtype="0" fill="hold" grpId="0" nodeType="withEffect">
                                  <p:stCondLst>
                                    <p:cond delay="5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500"/>
                                        <p:tgtEl>
                                          <p:spTgt spid="22"/>
                                        </p:tgtEl>
                                      </p:cBhvr>
                                    </p:animEffect>
                                    <p:anim calcmode="lin" valueType="num">
                                      <p:cBhvr>
                                        <p:cTn id="66" dur="500" fill="hold" decel="100000"/>
                                        <p:tgtEl>
                                          <p:spTgt spid="22"/>
                                        </p:tgtEl>
                                        <p:attrNameLst>
                                          <p:attrName>ppt_x</p:attrName>
                                        </p:attrNameLst>
                                      </p:cBhvr>
                                      <p:tavLst>
                                        <p:tav tm="0">
                                          <p:val>
                                            <p:strVal val="#ppt_x"/>
                                          </p:val>
                                        </p:tav>
                                        <p:tav tm="100000">
                                          <p:val>
                                            <p:strVal val="#ppt_x"/>
                                          </p:val>
                                        </p:tav>
                                      </p:tavLst>
                                    </p:anim>
                                    <p:anim calcmode="lin" valueType="num">
                                      <p:cBhvr>
                                        <p:cTn id="67" dur="500" fill="hold" decel="100000"/>
                                        <p:tgtEl>
                                          <p:spTgt spid="22"/>
                                        </p:tgtEl>
                                        <p:attrNameLst>
                                          <p:attrName>ppt_y</p:attrName>
                                        </p:attrNameLst>
                                      </p:cBhvr>
                                      <p:tavLst>
                                        <p:tav tm="0">
                                          <p:val>
                                            <p:strVal val="#ppt_y+.04"/>
                                          </p:val>
                                        </p:tav>
                                        <p:tav tm="100000">
                                          <p:val>
                                            <p:strVal val="#ppt_y"/>
                                          </p:val>
                                        </p:tav>
                                      </p:tavLst>
                                    </p:anim>
                                  </p:childTnLst>
                                </p:cTn>
                              </p:par>
                            </p:childTnLst>
                          </p:cTn>
                        </p:par>
                        <p:par>
                          <p:cTn id="68" fill="hold">
                            <p:stCondLst>
                              <p:cond delay="2350"/>
                            </p:stCondLst>
                            <p:childTnLst>
                              <p:par>
                                <p:cTn id="69" presetID="42" presetClass="entr" presetSubtype="0" fill="hold" grpId="0" nodeType="afterEffect">
                                  <p:stCondLst>
                                    <p:cond delay="50"/>
                                  </p:stCondLst>
                                  <p:childTnLst>
                                    <p:set>
                                      <p:cBhvr>
                                        <p:cTn id="70" dur="1" fill="hold">
                                          <p:stCondLst>
                                            <p:cond delay="0"/>
                                          </p:stCondLst>
                                        </p:cTn>
                                        <p:tgtEl>
                                          <p:spTgt spid="26"/>
                                        </p:tgtEl>
                                        <p:attrNameLst>
                                          <p:attrName>style.visibility</p:attrName>
                                        </p:attrNameLst>
                                      </p:cBhvr>
                                      <p:to>
                                        <p:strVal val="visible"/>
                                      </p:to>
                                    </p:set>
                                    <p:animEffect transition="in" filter="fade">
                                      <p:cBhvr>
                                        <p:cTn id="71" dur="500"/>
                                        <p:tgtEl>
                                          <p:spTgt spid="26"/>
                                        </p:tgtEl>
                                      </p:cBhvr>
                                    </p:animEffect>
                                    <p:anim calcmode="lin" valueType="num">
                                      <p:cBhvr>
                                        <p:cTn id="72" dur="500" fill="hold" decel="100000"/>
                                        <p:tgtEl>
                                          <p:spTgt spid="26"/>
                                        </p:tgtEl>
                                        <p:attrNameLst>
                                          <p:attrName>ppt_x</p:attrName>
                                        </p:attrNameLst>
                                      </p:cBhvr>
                                      <p:tavLst>
                                        <p:tav tm="0">
                                          <p:val>
                                            <p:strVal val="#ppt_x"/>
                                          </p:val>
                                        </p:tav>
                                        <p:tav tm="100000">
                                          <p:val>
                                            <p:strVal val="#ppt_x"/>
                                          </p:val>
                                        </p:tav>
                                      </p:tavLst>
                                    </p:anim>
                                    <p:anim calcmode="lin" valueType="num">
                                      <p:cBhvr>
                                        <p:cTn id="73" dur="500" fill="hold" decel="100000"/>
                                        <p:tgtEl>
                                          <p:spTgt spid="26"/>
                                        </p:tgtEl>
                                        <p:attrNameLst>
                                          <p:attrName>ppt_y</p:attrName>
                                        </p:attrNameLst>
                                      </p:cBhvr>
                                      <p:tavLst>
                                        <p:tav tm="0">
                                          <p:val>
                                            <p:strVal val="#ppt_y+.04"/>
                                          </p:val>
                                        </p:tav>
                                        <p:tav tm="100000">
                                          <p:val>
                                            <p:strVal val="#ppt_y"/>
                                          </p:val>
                                        </p:tav>
                                      </p:tavLst>
                                    </p:anim>
                                  </p:childTnLst>
                                </p:cTn>
                              </p:par>
                              <p:par>
                                <p:cTn id="74" presetID="42" presetClass="entr" presetSubtype="0" fill="hold" grpId="0" nodeType="withEffect">
                                  <p:stCondLst>
                                    <p:cond delay="5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500"/>
                                        <p:tgtEl>
                                          <p:spTgt spid="27"/>
                                        </p:tgtEl>
                                      </p:cBhvr>
                                    </p:animEffect>
                                    <p:anim calcmode="lin" valueType="num">
                                      <p:cBhvr>
                                        <p:cTn id="77" dur="500" fill="hold" decel="100000"/>
                                        <p:tgtEl>
                                          <p:spTgt spid="27"/>
                                        </p:tgtEl>
                                        <p:attrNameLst>
                                          <p:attrName>ppt_x</p:attrName>
                                        </p:attrNameLst>
                                      </p:cBhvr>
                                      <p:tavLst>
                                        <p:tav tm="0">
                                          <p:val>
                                            <p:strVal val="#ppt_x"/>
                                          </p:val>
                                        </p:tav>
                                        <p:tav tm="100000">
                                          <p:val>
                                            <p:strVal val="#ppt_x"/>
                                          </p:val>
                                        </p:tav>
                                      </p:tavLst>
                                    </p:anim>
                                    <p:anim calcmode="lin" valueType="num">
                                      <p:cBhvr>
                                        <p:cTn id="78" dur="500" fill="hold" decel="100000"/>
                                        <p:tgtEl>
                                          <p:spTgt spid="27"/>
                                        </p:tgtEl>
                                        <p:attrNameLst>
                                          <p:attrName>ppt_y</p:attrName>
                                        </p:attrNameLst>
                                      </p:cBhvr>
                                      <p:tavLst>
                                        <p:tav tm="0">
                                          <p:val>
                                            <p:strVal val="#ppt_y+.04"/>
                                          </p:val>
                                        </p:tav>
                                        <p:tav tm="100000">
                                          <p:val>
                                            <p:strVal val="#ppt_y"/>
                                          </p:val>
                                        </p:tav>
                                      </p:tavLst>
                                    </p:anim>
                                  </p:childTnLst>
                                </p:cTn>
                              </p:par>
                              <p:par>
                                <p:cTn id="79" presetID="42" presetClass="entr" presetSubtype="0" fill="hold" grpId="0" nodeType="withEffect">
                                  <p:stCondLst>
                                    <p:cond delay="50"/>
                                  </p:stCondLst>
                                  <p:childTnLst>
                                    <p:set>
                                      <p:cBhvr>
                                        <p:cTn id="80" dur="1" fill="hold">
                                          <p:stCondLst>
                                            <p:cond delay="0"/>
                                          </p:stCondLst>
                                        </p:cTn>
                                        <p:tgtEl>
                                          <p:spTgt spid="25"/>
                                        </p:tgtEl>
                                        <p:attrNameLst>
                                          <p:attrName>style.visibility</p:attrName>
                                        </p:attrNameLst>
                                      </p:cBhvr>
                                      <p:to>
                                        <p:strVal val="visible"/>
                                      </p:to>
                                    </p:set>
                                    <p:animEffect transition="in" filter="fade">
                                      <p:cBhvr>
                                        <p:cTn id="81" dur="500"/>
                                        <p:tgtEl>
                                          <p:spTgt spid="25"/>
                                        </p:tgtEl>
                                      </p:cBhvr>
                                    </p:animEffect>
                                    <p:anim calcmode="lin" valueType="num">
                                      <p:cBhvr>
                                        <p:cTn id="82" dur="500" fill="hold" decel="100000"/>
                                        <p:tgtEl>
                                          <p:spTgt spid="25"/>
                                        </p:tgtEl>
                                        <p:attrNameLst>
                                          <p:attrName>ppt_x</p:attrName>
                                        </p:attrNameLst>
                                      </p:cBhvr>
                                      <p:tavLst>
                                        <p:tav tm="0">
                                          <p:val>
                                            <p:strVal val="#ppt_x"/>
                                          </p:val>
                                        </p:tav>
                                        <p:tav tm="100000">
                                          <p:val>
                                            <p:strVal val="#ppt_x"/>
                                          </p:val>
                                        </p:tav>
                                      </p:tavLst>
                                    </p:anim>
                                    <p:anim calcmode="lin" valueType="num">
                                      <p:cBhvr>
                                        <p:cTn id="83" dur="500" fill="hold" decel="100000"/>
                                        <p:tgtEl>
                                          <p:spTgt spid="25"/>
                                        </p:tgtEl>
                                        <p:attrNameLst>
                                          <p:attrName>ppt_y</p:attrName>
                                        </p:attrNameLst>
                                      </p:cBhvr>
                                      <p:tavLst>
                                        <p:tav tm="0">
                                          <p:val>
                                            <p:strVal val="#ppt_y+.04"/>
                                          </p:val>
                                        </p:tav>
                                        <p:tav tm="100000">
                                          <p:val>
                                            <p:strVal val="#ppt_y"/>
                                          </p:val>
                                        </p:tav>
                                      </p:tavLst>
                                    </p:anim>
                                  </p:childTnLst>
                                </p:cTn>
                              </p:par>
                            </p:childTnLst>
                          </p:cTn>
                        </p:par>
                        <p:par>
                          <p:cTn id="84" fill="hold">
                            <p:stCondLst>
                              <p:cond delay="2900"/>
                            </p:stCondLst>
                            <p:childTnLst>
                              <p:par>
                                <p:cTn id="85" presetID="42" presetClass="entr" presetSubtype="0" fill="hold" grpId="0" nodeType="afterEffect">
                                  <p:stCondLst>
                                    <p:cond delay="5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500"/>
                                        <p:tgtEl>
                                          <p:spTgt spid="29"/>
                                        </p:tgtEl>
                                      </p:cBhvr>
                                    </p:animEffect>
                                    <p:anim calcmode="lin" valueType="num">
                                      <p:cBhvr>
                                        <p:cTn id="88" dur="500" fill="hold" decel="100000"/>
                                        <p:tgtEl>
                                          <p:spTgt spid="29"/>
                                        </p:tgtEl>
                                        <p:attrNameLst>
                                          <p:attrName>ppt_x</p:attrName>
                                        </p:attrNameLst>
                                      </p:cBhvr>
                                      <p:tavLst>
                                        <p:tav tm="0">
                                          <p:val>
                                            <p:strVal val="#ppt_x"/>
                                          </p:val>
                                        </p:tav>
                                        <p:tav tm="100000">
                                          <p:val>
                                            <p:strVal val="#ppt_x"/>
                                          </p:val>
                                        </p:tav>
                                      </p:tavLst>
                                    </p:anim>
                                    <p:anim calcmode="lin" valueType="num">
                                      <p:cBhvr>
                                        <p:cTn id="89" dur="500" fill="hold" decel="100000"/>
                                        <p:tgtEl>
                                          <p:spTgt spid="29"/>
                                        </p:tgtEl>
                                        <p:attrNameLst>
                                          <p:attrName>ppt_y</p:attrName>
                                        </p:attrNameLst>
                                      </p:cBhvr>
                                      <p:tavLst>
                                        <p:tav tm="0">
                                          <p:val>
                                            <p:strVal val="#ppt_y+.04"/>
                                          </p:val>
                                        </p:tav>
                                        <p:tav tm="100000">
                                          <p:val>
                                            <p:strVal val="#ppt_y"/>
                                          </p:val>
                                        </p:tav>
                                      </p:tavLst>
                                    </p:anim>
                                  </p:childTnLst>
                                </p:cTn>
                              </p:par>
                              <p:par>
                                <p:cTn id="90" presetID="42" presetClass="entr" presetSubtype="0" fill="hold" grpId="0" nodeType="withEffect">
                                  <p:stCondLst>
                                    <p:cond delay="50"/>
                                  </p:stCondLst>
                                  <p:childTnLst>
                                    <p:set>
                                      <p:cBhvr>
                                        <p:cTn id="91" dur="1" fill="hold">
                                          <p:stCondLst>
                                            <p:cond delay="0"/>
                                          </p:stCondLst>
                                        </p:cTn>
                                        <p:tgtEl>
                                          <p:spTgt spid="30"/>
                                        </p:tgtEl>
                                        <p:attrNameLst>
                                          <p:attrName>style.visibility</p:attrName>
                                        </p:attrNameLst>
                                      </p:cBhvr>
                                      <p:to>
                                        <p:strVal val="visible"/>
                                      </p:to>
                                    </p:set>
                                    <p:animEffect transition="in" filter="fade">
                                      <p:cBhvr>
                                        <p:cTn id="92" dur="500"/>
                                        <p:tgtEl>
                                          <p:spTgt spid="30"/>
                                        </p:tgtEl>
                                      </p:cBhvr>
                                    </p:animEffect>
                                    <p:anim calcmode="lin" valueType="num">
                                      <p:cBhvr>
                                        <p:cTn id="93" dur="500" fill="hold" decel="100000"/>
                                        <p:tgtEl>
                                          <p:spTgt spid="30"/>
                                        </p:tgtEl>
                                        <p:attrNameLst>
                                          <p:attrName>ppt_x</p:attrName>
                                        </p:attrNameLst>
                                      </p:cBhvr>
                                      <p:tavLst>
                                        <p:tav tm="0">
                                          <p:val>
                                            <p:strVal val="#ppt_x"/>
                                          </p:val>
                                        </p:tav>
                                        <p:tav tm="100000">
                                          <p:val>
                                            <p:strVal val="#ppt_x"/>
                                          </p:val>
                                        </p:tav>
                                      </p:tavLst>
                                    </p:anim>
                                    <p:anim calcmode="lin" valueType="num">
                                      <p:cBhvr>
                                        <p:cTn id="94" dur="500" fill="hold" decel="100000"/>
                                        <p:tgtEl>
                                          <p:spTgt spid="30"/>
                                        </p:tgtEl>
                                        <p:attrNameLst>
                                          <p:attrName>ppt_y</p:attrName>
                                        </p:attrNameLst>
                                      </p:cBhvr>
                                      <p:tavLst>
                                        <p:tav tm="0">
                                          <p:val>
                                            <p:strVal val="#ppt_y+.04"/>
                                          </p:val>
                                        </p:tav>
                                        <p:tav tm="100000">
                                          <p:val>
                                            <p:strVal val="#ppt_y"/>
                                          </p:val>
                                        </p:tav>
                                      </p:tavLst>
                                    </p:anim>
                                  </p:childTnLst>
                                </p:cTn>
                              </p:par>
                              <p:par>
                                <p:cTn id="95" presetID="42" presetClass="entr" presetSubtype="0" fill="hold" grpId="0" nodeType="withEffect">
                                  <p:stCondLst>
                                    <p:cond delay="50"/>
                                  </p:stCondLst>
                                  <p:childTnLst>
                                    <p:set>
                                      <p:cBhvr>
                                        <p:cTn id="96" dur="1" fill="hold">
                                          <p:stCondLst>
                                            <p:cond delay="0"/>
                                          </p:stCondLst>
                                        </p:cTn>
                                        <p:tgtEl>
                                          <p:spTgt spid="28"/>
                                        </p:tgtEl>
                                        <p:attrNameLst>
                                          <p:attrName>style.visibility</p:attrName>
                                        </p:attrNameLst>
                                      </p:cBhvr>
                                      <p:to>
                                        <p:strVal val="visible"/>
                                      </p:to>
                                    </p:set>
                                    <p:animEffect transition="in" filter="fade">
                                      <p:cBhvr>
                                        <p:cTn id="97" dur="500"/>
                                        <p:tgtEl>
                                          <p:spTgt spid="28"/>
                                        </p:tgtEl>
                                      </p:cBhvr>
                                    </p:animEffect>
                                    <p:anim calcmode="lin" valueType="num">
                                      <p:cBhvr>
                                        <p:cTn id="98" dur="500" fill="hold" decel="100000"/>
                                        <p:tgtEl>
                                          <p:spTgt spid="28"/>
                                        </p:tgtEl>
                                        <p:attrNameLst>
                                          <p:attrName>ppt_x</p:attrName>
                                        </p:attrNameLst>
                                      </p:cBhvr>
                                      <p:tavLst>
                                        <p:tav tm="0">
                                          <p:val>
                                            <p:strVal val="#ppt_x"/>
                                          </p:val>
                                        </p:tav>
                                        <p:tav tm="100000">
                                          <p:val>
                                            <p:strVal val="#ppt_x"/>
                                          </p:val>
                                        </p:tav>
                                      </p:tavLst>
                                    </p:anim>
                                    <p:anim calcmode="lin" valueType="num">
                                      <p:cBhvr>
                                        <p:cTn id="99" dur="500" fill="hold" decel="100000"/>
                                        <p:tgtEl>
                                          <p:spTgt spid="28"/>
                                        </p:tgtEl>
                                        <p:attrNameLst>
                                          <p:attrName>ppt_y</p:attrName>
                                        </p:attrNameLst>
                                      </p:cBhvr>
                                      <p:tavLst>
                                        <p:tav tm="0">
                                          <p:val>
                                            <p:strVal val="#ppt_y+.04"/>
                                          </p:val>
                                        </p:tav>
                                        <p:tav tm="100000">
                                          <p:val>
                                            <p:strVal val="#ppt_y"/>
                                          </p:val>
                                        </p:tav>
                                      </p:tavLst>
                                    </p:anim>
                                  </p:childTnLst>
                                </p:cTn>
                              </p:par>
                            </p:childTnLst>
                          </p:cTn>
                        </p:par>
                        <p:par>
                          <p:cTn id="100" fill="hold">
                            <p:stCondLst>
                              <p:cond delay="3450"/>
                            </p:stCondLst>
                            <p:childTnLst>
                              <p:par>
                                <p:cTn id="101" presetID="42" presetClass="entr" presetSubtype="0" fill="hold" grpId="0" nodeType="afterEffect">
                                  <p:stCondLst>
                                    <p:cond delay="50"/>
                                  </p:stCondLst>
                                  <p:childTnLst>
                                    <p:set>
                                      <p:cBhvr>
                                        <p:cTn id="102" dur="1" fill="hold">
                                          <p:stCondLst>
                                            <p:cond delay="0"/>
                                          </p:stCondLst>
                                        </p:cTn>
                                        <p:tgtEl>
                                          <p:spTgt spid="32"/>
                                        </p:tgtEl>
                                        <p:attrNameLst>
                                          <p:attrName>style.visibility</p:attrName>
                                        </p:attrNameLst>
                                      </p:cBhvr>
                                      <p:to>
                                        <p:strVal val="visible"/>
                                      </p:to>
                                    </p:set>
                                    <p:animEffect transition="in" filter="fade">
                                      <p:cBhvr>
                                        <p:cTn id="103" dur="500"/>
                                        <p:tgtEl>
                                          <p:spTgt spid="32"/>
                                        </p:tgtEl>
                                      </p:cBhvr>
                                    </p:animEffect>
                                    <p:anim calcmode="lin" valueType="num">
                                      <p:cBhvr>
                                        <p:cTn id="104" dur="500" fill="hold" decel="100000"/>
                                        <p:tgtEl>
                                          <p:spTgt spid="32"/>
                                        </p:tgtEl>
                                        <p:attrNameLst>
                                          <p:attrName>ppt_x</p:attrName>
                                        </p:attrNameLst>
                                      </p:cBhvr>
                                      <p:tavLst>
                                        <p:tav tm="0">
                                          <p:val>
                                            <p:strVal val="#ppt_x"/>
                                          </p:val>
                                        </p:tav>
                                        <p:tav tm="100000">
                                          <p:val>
                                            <p:strVal val="#ppt_x"/>
                                          </p:val>
                                        </p:tav>
                                      </p:tavLst>
                                    </p:anim>
                                    <p:anim calcmode="lin" valueType="num">
                                      <p:cBhvr>
                                        <p:cTn id="105" dur="500" fill="hold" decel="100000"/>
                                        <p:tgtEl>
                                          <p:spTgt spid="32"/>
                                        </p:tgtEl>
                                        <p:attrNameLst>
                                          <p:attrName>ppt_y</p:attrName>
                                        </p:attrNameLst>
                                      </p:cBhvr>
                                      <p:tavLst>
                                        <p:tav tm="0">
                                          <p:val>
                                            <p:strVal val="#ppt_y+.04"/>
                                          </p:val>
                                        </p:tav>
                                        <p:tav tm="100000">
                                          <p:val>
                                            <p:strVal val="#ppt_y"/>
                                          </p:val>
                                        </p:tav>
                                      </p:tavLst>
                                    </p:anim>
                                  </p:childTnLst>
                                </p:cTn>
                              </p:par>
                              <p:par>
                                <p:cTn id="106" presetID="42" presetClass="entr" presetSubtype="0" fill="hold" grpId="0" nodeType="withEffect">
                                  <p:stCondLst>
                                    <p:cond delay="50"/>
                                  </p:stCondLst>
                                  <p:childTnLst>
                                    <p:set>
                                      <p:cBhvr>
                                        <p:cTn id="107" dur="1" fill="hold">
                                          <p:stCondLst>
                                            <p:cond delay="0"/>
                                          </p:stCondLst>
                                        </p:cTn>
                                        <p:tgtEl>
                                          <p:spTgt spid="33"/>
                                        </p:tgtEl>
                                        <p:attrNameLst>
                                          <p:attrName>style.visibility</p:attrName>
                                        </p:attrNameLst>
                                      </p:cBhvr>
                                      <p:to>
                                        <p:strVal val="visible"/>
                                      </p:to>
                                    </p:set>
                                    <p:animEffect transition="in" filter="fade">
                                      <p:cBhvr>
                                        <p:cTn id="108" dur="500"/>
                                        <p:tgtEl>
                                          <p:spTgt spid="33"/>
                                        </p:tgtEl>
                                      </p:cBhvr>
                                    </p:animEffect>
                                    <p:anim calcmode="lin" valueType="num">
                                      <p:cBhvr>
                                        <p:cTn id="109" dur="500" fill="hold" decel="100000"/>
                                        <p:tgtEl>
                                          <p:spTgt spid="33"/>
                                        </p:tgtEl>
                                        <p:attrNameLst>
                                          <p:attrName>ppt_x</p:attrName>
                                        </p:attrNameLst>
                                      </p:cBhvr>
                                      <p:tavLst>
                                        <p:tav tm="0">
                                          <p:val>
                                            <p:strVal val="#ppt_x"/>
                                          </p:val>
                                        </p:tav>
                                        <p:tav tm="100000">
                                          <p:val>
                                            <p:strVal val="#ppt_x"/>
                                          </p:val>
                                        </p:tav>
                                      </p:tavLst>
                                    </p:anim>
                                    <p:anim calcmode="lin" valueType="num">
                                      <p:cBhvr>
                                        <p:cTn id="110" dur="500" fill="hold" decel="100000"/>
                                        <p:tgtEl>
                                          <p:spTgt spid="33"/>
                                        </p:tgtEl>
                                        <p:attrNameLst>
                                          <p:attrName>ppt_y</p:attrName>
                                        </p:attrNameLst>
                                      </p:cBhvr>
                                      <p:tavLst>
                                        <p:tav tm="0">
                                          <p:val>
                                            <p:strVal val="#ppt_y+.04"/>
                                          </p:val>
                                        </p:tav>
                                        <p:tav tm="100000">
                                          <p:val>
                                            <p:strVal val="#ppt_y"/>
                                          </p:val>
                                        </p:tav>
                                      </p:tavLst>
                                    </p:anim>
                                  </p:childTnLst>
                                </p:cTn>
                              </p:par>
                              <p:par>
                                <p:cTn id="111" presetID="42" presetClass="entr" presetSubtype="0" fill="hold" grpId="0" nodeType="withEffect">
                                  <p:stCondLst>
                                    <p:cond delay="50"/>
                                  </p:stCondLst>
                                  <p:childTnLst>
                                    <p:set>
                                      <p:cBhvr>
                                        <p:cTn id="112" dur="1" fill="hold">
                                          <p:stCondLst>
                                            <p:cond delay="0"/>
                                          </p:stCondLst>
                                        </p:cTn>
                                        <p:tgtEl>
                                          <p:spTgt spid="31"/>
                                        </p:tgtEl>
                                        <p:attrNameLst>
                                          <p:attrName>style.visibility</p:attrName>
                                        </p:attrNameLst>
                                      </p:cBhvr>
                                      <p:to>
                                        <p:strVal val="visible"/>
                                      </p:to>
                                    </p:set>
                                    <p:animEffect transition="in" filter="fade">
                                      <p:cBhvr>
                                        <p:cTn id="113" dur="500"/>
                                        <p:tgtEl>
                                          <p:spTgt spid="31"/>
                                        </p:tgtEl>
                                      </p:cBhvr>
                                    </p:animEffect>
                                    <p:anim calcmode="lin" valueType="num">
                                      <p:cBhvr>
                                        <p:cTn id="114" dur="500" fill="hold" decel="100000"/>
                                        <p:tgtEl>
                                          <p:spTgt spid="31"/>
                                        </p:tgtEl>
                                        <p:attrNameLst>
                                          <p:attrName>ppt_x</p:attrName>
                                        </p:attrNameLst>
                                      </p:cBhvr>
                                      <p:tavLst>
                                        <p:tav tm="0">
                                          <p:val>
                                            <p:strVal val="#ppt_x"/>
                                          </p:val>
                                        </p:tav>
                                        <p:tav tm="100000">
                                          <p:val>
                                            <p:strVal val="#ppt_x"/>
                                          </p:val>
                                        </p:tav>
                                      </p:tavLst>
                                    </p:anim>
                                    <p:anim calcmode="lin" valueType="num">
                                      <p:cBhvr>
                                        <p:cTn id="115" dur="500" fill="hold" decel="100000"/>
                                        <p:tgtEl>
                                          <p:spTgt spid="31"/>
                                        </p:tgtEl>
                                        <p:attrNameLst>
                                          <p:attrName>ppt_y</p:attrName>
                                        </p:attrNameLst>
                                      </p:cBhvr>
                                      <p:tavLst>
                                        <p:tav tm="0">
                                          <p:val>
                                            <p:strVal val="#ppt_y+.04"/>
                                          </p:val>
                                        </p:tav>
                                        <p:tav tm="100000">
                                          <p:val>
                                            <p:strVal val="#ppt_y"/>
                                          </p:val>
                                        </p:tav>
                                      </p:tavLst>
                                    </p:anim>
                                  </p:childTnLst>
                                </p:cTn>
                              </p:par>
                            </p:childTnLst>
                          </p:cTn>
                        </p:par>
                        <p:par>
                          <p:cTn id="116" fill="hold">
                            <p:stCondLst>
                              <p:cond delay="4000"/>
                            </p:stCondLst>
                            <p:childTnLst>
                              <p:par>
                                <p:cTn id="117" presetID="42" presetClass="entr" presetSubtype="0" fill="hold" grpId="0" nodeType="afterEffect">
                                  <p:stCondLst>
                                    <p:cond delay="0"/>
                                  </p:stCondLst>
                                  <p:childTnLst>
                                    <p:set>
                                      <p:cBhvr>
                                        <p:cTn id="118" dur="1" fill="hold">
                                          <p:stCondLst>
                                            <p:cond delay="0"/>
                                          </p:stCondLst>
                                        </p:cTn>
                                        <p:tgtEl>
                                          <p:spTgt spid="34"/>
                                        </p:tgtEl>
                                        <p:attrNameLst>
                                          <p:attrName>style.visibility</p:attrName>
                                        </p:attrNameLst>
                                      </p:cBhvr>
                                      <p:to>
                                        <p:strVal val="visible"/>
                                      </p:to>
                                    </p:set>
                                    <p:animEffect transition="in" filter="fade">
                                      <p:cBhvr>
                                        <p:cTn id="119" dur="700"/>
                                        <p:tgtEl>
                                          <p:spTgt spid="34"/>
                                        </p:tgtEl>
                                      </p:cBhvr>
                                    </p:animEffect>
                                    <p:anim calcmode="lin" valueType="num">
                                      <p:cBhvr>
                                        <p:cTn id="120" dur="700" fill="hold" decel="100000"/>
                                        <p:tgtEl>
                                          <p:spTgt spid="34"/>
                                        </p:tgtEl>
                                        <p:attrNameLst>
                                          <p:attrName>ppt_x</p:attrName>
                                        </p:attrNameLst>
                                      </p:cBhvr>
                                      <p:tavLst>
                                        <p:tav tm="0">
                                          <p:val>
                                            <p:strVal val="#ppt_x"/>
                                          </p:val>
                                        </p:tav>
                                        <p:tav tm="100000">
                                          <p:val>
                                            <p:strVal val="#ppt_x"/>
                                          </p:val>
                                        </p:tav>
                                      </p:tavLst>
                                    </p:anim>
                                    <p:anim calcmode="lin" valueType="num">
                                      <p:cBhvr>
                                        <p:cTn id="121" dur="700" fill="hold" decel="100000"/>
                                        <p:tgtEl>
                                          <p:spTgt spid="34"/>
                                        </p:tgtEl>
                                        <p:attrNameLst>
                                          <p:attrName>ppt_y</p:attrName>
                                        </p:attrNameLst>
                                      </p:cBhvr>
                                      <p:tavLst>
                                        <p:tav tm="0">
                                          <p:val>
                                            <p:strVal val="#ppt_y+.04"/>
                                          </p:val>
                                        </p:tav>
                                        <p:tav tm="100000">
                                          <p:val>
                                            <p:strVal val="#ppt_y"/>
                                          </p:val>
                                        </p:tav>
                                      </p:tavLst>
                                    </p:anim>
                                  </p:childTnLst>
                                </p:cTn>
                              </p:par>
                              <p:par>
                                <p:cTn id="122" presetID="42" presetClass="entr" presetSubtype="0" fill="hold" grpId="0" nodeType="withEffect">
                                  <p:stCondLst>
                                    <p:cond delay="0"/>
                                  </p:stCondLst>
                                  <p:childTnLst>
                                    <p:set>
                                      <p:cBhvr>
                                        <p:cTn id="123" dur="1" fill="hold">
                                          <p:stCondLst>
                                            <p:cond delay="0"/>
                                          </p:stCondLst>
                                        </p:cTn>
                                        <p:tgtEl>
                                          <p:spTgt spid="35"/>
                                        </p:tgtEl>
                                        <p:attrNameLst>
                                          <p:attrName>style.visibility</p:attrName>
                                        </p:attrNameLst>
                                      </p:cBhvr>
                                      <p:to>
                                        <p:strVal val="visible"/>
                                      </p:to>
                                    </p:set>
                                    <p:animEffect transition="in" filter="fade">
                                      <p:cBhvr>
                                        <p:cTn id="124" dur="700"/>
                                        <p:tgtEl>
                                          <p:spTgt spid="35"/>
                                        </p:tgtEl>
                                      </p:cBhvr>
                                    </p:animEffect>
                                    <p:anim calcmode="lin" valueType="num">
                                      <p:cBhvr>
                                        <p:cTn id="125" dur="700" fill="hold" decel="100000"/>
                                        <p:tgtEl>
                                          <p:spTgt spid="35"/>
                                        </p:tgtEl>
                                        <p:attrNameLst>
                                          <p:attrName>ppt_x</p:attrName>
                                        </p:attrNameLst>
                                      </p:cBhvr>
                                      <p:tavLst>
                                        <p:tav tm="0">
                                          <p:val>
                                            <p:strVal val="#ppt_x"/>
                                          </p:val>
                                        </p:tav>
                                        <p:tav tm="100000">
                                          <p:val>
                                            <p:strVal val="#ppt_x"/>
                                          </p:val>
                                        </p:tav>
                                      </p:tavLst>
                                    </p:anim>
                                    <p:anim calcmode="lin" valueType="num">
                                      <p:cBhvr>
                                        <p:cTn id="126" dur="700" fill="hold" decel="100000"/>
                                        <p:tgtEl>
                                          <p:spTgt spid="35"/>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p:bldP spid="15" grpId="0"/>
      <p:bldP spid="17" grpId="0"/>
      <p:bldP spid="18" grpId="0"/>
      <p:bldP spid="20" grpId="0"/>
      <p:bldP spid="21" grpId="0"/>
      <p:bldP spid="23" grpId="0"/>
      <p:bldP spid="24" grpId="0"/>
      <p:bldP spid="26" grpId="0"/>
      <p:bldP spid="27" grpId="0"/>
      <p:bldP spid="29" grpId="0"/>
      <p:bldP spid="30" grpId="0"/>
      <p:bldP spid="32" grpId="0"/>
      <p:bldP spid="33" grpId="0"/>
      <p:bldP spid="34" grpId="0" animBg="1"/>
      <p:bldP spid="35"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8F3"/>
        </a:solidFill>
        <a:effectLst/>
      </p:bgPr>
    </p:bg>
    <p:spTree>
      <p:nvGrpSpPr>
        <p:cNvPr id="1" name=""/>
        <p:cNvGrpSpPr/>
        <p:nvPr/>
      </p:nvGrpSpPr>
      <p:grpSpPr/>
      <p:sp>
        <p:nvSpPr>
          <p:cNvPr id="2" name="Trait or"/>
          <p:cNvSpPr/>
          <p:nvPr/>
        </p:nvSpPr>
        <p:spPr>
          <a:xfrm>
            <a:off x="609600" y="444500"/>
            <a:ext cx="406400" cy="38100"/>
          </a:xfrm>
          <a:prstGeom prst="rect">
            <a:avLst/>
          </a:prstGeom>
          <a:solidFill>
            <a:srgbClr val="D3A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brique"/>
          <p:cNvSpPr txBox="1"/>
          <p:nvPr/>
        </p:nvSpPr>
        <p:spPr>
          <a:xfrm>
            <a:off x="609600" y="508000"/>
            <a:ext cx="10160000" cy="304800"/>
          </a:xfrm>
          <a:prstGeom prst="rect">
            <a:avLst/>
          </a:prstGeom>
          <a:noFill/>
        </p:spPr>
        <p:txBody>
          <a:bodyPr wrap="square" lIns="0" tIns="0" rIns="0" bIns="0" anchor="ctr">
            <a:noAutofit/>
          </a:bodyPr>
          <a:lstStyle/>
          <a:p>
            <a:pPr algn="l">
              <a:lnSpc>
                <a:spcPct val="100000"/>
              </a:lnSpc>
              <a:spcBef>
                <a:spcPts val="0"/>
              </a:spcBef>
              <a:spcAft>
                <a:spcPts val="0"/>
              </a:spcAft>
            </a:pPr>
            <a:r>
              <a:rPr sz="2000" b="1" i="0" lang="fr-FR" spc="150">
                <a:solidFill>
                  <a:srgbClr val="1E7B67"/>
                </a:solidFill>
                <a:latin typeface="Calibri"/>
              </a:rPr>
              <a:t>05 / LE MÉCANISME</a:t>
            </a:r>
          </a:p>
        </p:txBody>
      </p:sp>
      <p:sp>
        <p:nvSpPr>
          <p:cNvPr id="4" name="Titre"/>
          <p:cNvSpPr txBox="1"/>
          <p:nvPr/>
        </p:nvSpPr>
        <p:spPr>
          <a:xfrm>
            <a:off x="609600" y="774700"/>
            <a:ext cx="10972800" cy="609600"/>
          </a:xfrm>
          <a:prstGeom prst="rect">
            <a:avLst/>
          </a:prstGeom>
          <a:noFill/>
        </p:spPr>
        <p:txBody>
          <a:bodyPr wrap="square" lIns="0" tIns="0" rIns="0" bIns="0" anchor="ctr">
            <a:noAutofit/>
          </a:bodyPr>
          <a:lstStyle/>
          <a:p>
            <a:pPr algn="l">
              <a:lnSpc>
                <a:spcPct val="100000"/>
              </a:lnSpc>
              <a:spcBef>
                <a:spcPts val="0"/>
              </a:spcBef>
              <a:spcAft>
                <a:spcPts val="0"/>
              </a:spcAft>
            </a:pPr>
            <a:r>
              <a:rPr sz="4000" b="1" i="0" lang="fr-FR">
                <a:solidFill>
                  <a:srgbClr val="12264A"/>
                </a:solidFill>
                <a:latin typeface="Calibri"/>
              </a:rPr>
              <a:t>Un mécanisme à deux niveaux</a:t>
            </a:r>
          </a:p>
        </p:txBody>
      </p:sp>
      <p:sp>
        <p:nvSpPr>
          <p:cNvPr id="5" name="Accroche"/>
          <p:cNvSpPr txBox="1"/>
          <p:nvPr/>
        </p:nvSpPr>
        <p:spPr>
          <a:xfrm>
            <a:off x="609600" y="1358900"/>
            <a:ext cx="10972800" cy="355600"/>
          </a:xfrm>
          <a:prstGeom prst="rect">
            <a:avLst/>
          </a:prstGeom>
          <a:noFill/>
        </p:spPr>
        <p:txBody>
          <a:bodyPr wrap="square" lIns="0" tIns="0" rIns="0" bIns="0" anchor="t">
            <a:noAutofit/>
          </a:bodyPr>
          <a:lstStyle/>
          <a:p>
            <a:pPr algn="l">
              <a:lnSpc>
                <a:spcPct val="100000"/>
              </a:lnSpc>
              <a:spcBef>
                <a:spcPts val="0"/>
              </a:spcBef>
              <a:spcAft>
                <a:spcPts val="0"/>
              </a:spcAft>
            </a:pPr>
            <a:r>
              <a:rPr sz="2200" b="0" i="0" lang="fr-FR">
                <a:solidFill>
                  <a:srgbClr val="1B2A41"/>
                </a:solidFill>
                <a:latin typeface="Calibri"/>
              </a:rPr>
              <a:t>Un plancher légal et une majoration proposée selon le résultat.</a:t>
            </a:r>
          </a:p>
        </p:txBody>
      </p:sp>
      <p:sp>
        <p:nvSpPr>
          <p:cNvPr id="6" name="Pied de page"/>
          <p:cNvSpPr txBox="1"/>
          <p:nvPr/>
        </p:nvSpPr>
        <p:spPr>
          <a:xfrm>
            <a:off x="609600" y="6413500"/>
            <a:ext cx="4826000" cy="241300"/>
          </a:xfrm>
          <a:prstGeom prst="rect">
            <a:avLst/>
          </a:prstGeom>
          <a:noFill/>
        </p:spPr>
        <p:txBody>
          <a:bodyPr wrap="square" lIns="0" tIns="0" rIns="0" bIns="0" anchor="ctr">
            <a:noAutofit/>
          </a:bodyPr>
          <a:lstStyle/>
          <a:p>
            <a:pPr algn="l">
              <a:lnSpc>
                <a:spcPct val="100000"/>
              </a:lnSpc>
              <a:spcBef>
                <a:spcPts val="0"/>
              </a:spcBef>
              <a:spcAft>
                <a:spcPts val="0"/>
              </a:spcAft>
            </a:pPr>
            <a:r>
              <a:rPr sz="1400" b="1" i="0" lang="fr-FR" spc="50">
                <a:solidFill>
                  <a:srgbClr val="1B2A41"/>
                </a:solidFill>
                <a:latin typeface="Calibri"/>
              </a:rPr>
              <a:t>FUTURA - KOUROUSSA | Octobre 2026</a:t>
            </a:r>
          </a:p>
        </p:txBody>
      </p:sp>
      <p:sp>
        <p:nvSpPr>
          <p:cNvPr id="7" name="Pied bandeau"/>
          <p:cNvSpPr/>
          <p:nvPr/>
        </p:nvSpPr>
        <p:spPr>
          <a:xfrm>
            <a:off x="9069742" y="6350000"/>
            <a:ext cx="2512658" cy="355600"/>
          </a:xfrm>
          <a:prstGeom prst="roundRect">
            <a:avLst>
              <a:gd name="adj" fmla="val 42857"/>
            </a:avLst>
          </a:prstGeom>
          <a:solidFill>
            <a:srgbClr val="FFFFFF"/>
          </a:solidFill>
          <a:ln w="9525">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ed logo futura-kouroussa" descr="futura-kouroussa.png"/>
          <p:cNvPicPr>
            <a:picLocks noChangeAspect="1"/>
          </p:cNvPicPr>
          <p:nvPr/>
        </p:nvPicPr>
        <p:blipFill>
          <a:blip r:embed="rId2"/>
          <a:stretch>
            <a:fillRect/>
          </a:stretch>
        </p:blipFill>
        <p:spPr>
          <a:xfrm>
            <a:off x="9184042" y="6419850"/>
            <a:ext cx="391970" cy="215900"/>
          </a:xfrm>
          <a:prstGeom prst="rect">
            <a:avLst/>
          </a:prstGeom>
        </p:spPr>
      </p:pic>
      <p:pic>
        <p:nvPicPr>
          <p:cNvPr id="9" name="Pied logo republique-de-guinee-armoiries" descr="republique-de-guinee-armoiries.png"/>
          <p:cNvPicPr>
            <a:picLocks noChangeAspect="1"/>
          </p:cNvPicPr>
          <p:nvPr/>
        </p:nvPicPr>
        <p:blipFill>
          <a:blip r:embed="rId3"/>
          <a:stretch>
            <a:fillRect/>
          </a:stretch>
        </p:blipFill>
        <p:spPr>
          <a:xfrm>
            <a:off x="9664912" y="6419850"/>
            <a:ext cx="179814" cy="215900"/>
          </a:xfrm>
          <a:prstGeom prst="rect">
            <a:avLst/>
          </a:prstGeom>
        </p:spPr>
      </p:pic>
      <p:pic>
        <p:nvPicPr>
          <p:cNvPr id="10" name="Pied logo assemblee-nationale" descr="assemblee-nationale.png"/>
          <p:cNvPicPr>
            <a:picLocks noChangeAspect="1"/>
          </p:cNvPicPr>
          <p:nvPr/>
        </p:nvPicPr>
        <p:blipFill>
          <a:blip r:embed="rId4"/>
          <a:stretch>
            <a:fillRect/>
          </a:stretch>
        </p:blipFill>
        <p:spPr>
          <a:xfrm>
            <a:off x="9933626" y="6419850"/>
            <a:ext cx="217442" cy="215900"/>
          </a:xfrm>
          <a:prstGeom prst="rect">
            <a:avLst/>
          </a:prstGeom>
        </p:spPr>
      </p:pic>
      <p:pic>
        <p:nvPicPr>
          <p:cNvPr id="11" name="Pied logo simandou-2040" descr="simandou-2040.png"/>
          <p:cNvPicPr>
            <a:picLocks noChangeAspect="1"/>
          </p:cNvPicPr>
          <p:nvPr/>
        </p:nvPicPr>
        <p:blipFill>
          <a:blip r:embed="rId5"/>
          <a:stretch>
            <a:fillRect/>
          </a:stretch>
        </p:blipFill>
        <p:spPr>
          <a:xfrm>
            <a:off x="10239968" y="6419850"/>
            <a:ext cx="674774" cy="215900"/>
          </a:xfrm>
          <a:prstGeom prst="rect">
            <a:avLst/>
          </a:prstGeom>
        </p:spPr>
      </p:pic>
      <p:pic>
        <p:nvPicPr>
          <p:cNvPr id="12" name="Pied logo guinee" descr="guinee.png"/>
          <p:cNvPicPr>
            <a:picLocks noChangeAspect="1"/>
          </p:cNvPicPr>
          <p:nvPr/>
        </p:nvPicPr>
        <p:blipFill>
          <a:blip r:embed="rId6"/>
          <a:stretch>
            <a:fillRect/>
          </a:stretch>
        </p:blipFill>
        <p:spPr>
          <a:xfrm>
            <a:off x="11003643" y="6419850"/>
            <a:ext cx="464457" cy="215900"/>
          </a:xfrm>
          <a:prstGeom prst="rect">
            <a:avLst/>
          </a:prstGeom>
        </p:spPr>
      </p:pic>
      <p:sp>
        <p:nvSpPr>
          <p:cNvPr id="13" name="Numéro"/>
          <p:cNvSpPr txBox="1"/>
          <p:nvPr/>
        </p:nvSpPr>
        <p:spPr>
          <a:xfrm>
            <a:off x="7990242" y="6413500"/>
            <a:ext cx="952500" cy="241300"/>
          </a:xfrm>
          <a:prstGeom prst="rect">
            <a:avLst/>
          </a:prstGeom>
          <a:noFill/>
        </p:spPr>
        <p:txBody>
          <a:bodyPr wrap="square" lIns="0" tIns="0" rIns="0" bIns="0" anchor="ctr">
            <a:noAutofit/>
          </a:bodyPr>
          <a:lstStyle/>
          <a:p>
            <a:pPr algn="r">
              <a:lnSpc>
                <a:spcPct val="100000"/>
              </a:lnSpc>
              <a:spcBef>
                <a:spcPts val="0"/>
              </a:spcBef>
              <a:spcAft>
                <a:spcPts val="0"/>
              </a:spcAft>
            </a:pPr>
            <a:r>
              <a:rPr sz="1400" b="1" i="0" lang="fr-FR">
                <a:solidFill>
                  <a:srgbClr val="12264A"/>
                </a:solidFill>
                <a:latin typeface="Calibri"/>
              </a:rPr>
              <a:t>06 / 15</a:t>
            </a:r>
          </a:p>
        </p:txBody>
      </p:sp>
      <p:sp>
        <p:nvSpPr>
          <p:cNvPr id="14" name="s06 carte NIVEAU 1"/>
          <p:cNvSpPr/>
          <p:nvPr/>
        </p:nvSpPr>
        <p:spPr>
          <a:xfrm>
            <a:off x="609600" y="1828800"/>
            <a:ext cx="4826000" cy="2933700"/>
          </a:xfrm>
          <a:prstGeom prst="roundRect">
            <a:avLst>
              <a:gd name="adj" fmla="val 3463"/>
            </a:avLst>
          </a:prstGeom>
          <a:solidFill>
            <a:srgbClr val="FFFFFF"/>
          </a:solidFill>
          <a:ln w="9525">
            <a:solidFill>
              <a:srgbClr val="E3DED3"/>
            </a:solidFill>
          </a:ln>
          <a:effectLst>
            <a:outerShdw blurRad="165100" dist="38100" dir="5400000" algn="t" rotWithShape="0">
              <a:srgbClr val="12264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06 carte NIVEAU 1 filet"/>
          <p:cNvSpPr/>
          <p:nvPr/>
        </p:nvSpPr>
        <p:spPr>
          <a:xfrm>
            <a:off x="609600" y="1930400"/>
            <a:ext cx="50800" cy="2730500"/>
          </a:xfrm>
          <a:prstGeom prst="rect">
            <a:avLst/>
          </a:prstGeom>
          <a:solidFill>
            <a:srgbClr val="1E7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06 étiquette NIVEAU 1"/>
          <p:cNvSpPr/>
          <p:nvPr/>
        </p:nvSpPr>
        <p:spPr>
          <a:xfrm>
            <a:off x="889000" y="1993900"/>
            <a:ext cx="1358900" cy="304800"/>
          </a:xfrm>
          <a:prstGeom prst="roundRect">
            <a:avLst>
              <a:gd name="adj" fmla="val 50000"/>
            </a:avLst>
          </a:prstGeom>
          <a:solidFill>
            <a:srgbClr val="1E7B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00000"/>
              </a:lnSpc>
              <a:spcBef>
                <a:spcPts val="0"/>
              </a:spcBef>
              <a:spcAft>
                <a:spcPts val="0"/>
              </a:spcAft>
            </a:pPr>
            <a:r>
              <a:rPr sz="2000" b="1" i="0" lang="fr-FR" spc="150">
                <a:solidFill>
                  <a:srgbClr val="FFFFFF"/>
                </a:solidFill>
                <a:latin typeface="Calibri"/>
              </a:rPr>
              <a:t>NIVEAU 1</a:t>
            </a:r>
          </a:p>
        </p:txBody>
      </p:sp>
      <p:sp>
        <p:nvSpPr>
          <p:cNvPr id="17" name="s06 taux NIVEAU 1"/>
          <p:cNvSpPr txBox="1"/>
          <p:nvPr/>
        </p:nvSpPr>
        <p:spPr>
          <a:xfrm>
            <a:off x="889000" y="2324100"/>
            <a:ext cx="4381500" cy="1333500"/>
          </a:xfrm>
          <a:prstGeom prst="rect">
            <a:avLst/>
          </a:prstGeom>
          <a:noFill/>
        </p:spPr>
        <p:txBody>
          <a:bodyPr wrap="square" lIns="0" tIns="0" rIns="0" bIns="0" anchor="ctr">
            <a:noAutofit/>
          </a:bodyPr>
          <a:lstStyle/>
          <a:p>
            <a:pPr algn="l">
              <a:lnSpc>
                <a:spcPct val="95000"/>
              </a:lnSpc>
              <a:spcBef>
                <a:spcPts val="0"/>
              </a:spcBef>
              <a:spcAft>
                <a:spcPts val="0"/>
              </a:spcAft>
            </a:pPr>
            <a:r>
              <a:rPr sz="6400" b="1" i="0" lang="fr-FR">
                <a:solidFill>
                  <a:srgbClr val="12264A"/>
                </a:solidFill>
                <a:latin typeface="Calibri"/>
              </a:rPr>
              <a:t>1,0 %</a:t>
            </a:r>
          </a:p>
          <a:p>
            <a:pPr algn="l">
              <a:lnSpc>
                <a:spcPct val="100000"/>
              </a:lnSpc>
              <a:spcBef>
                <a:spcPts val="0"/>
              </a:spcBef>
              <a:spcAft>
                <a:spcPts val="0"/>
              </a:spcAft>
            </a:pPr>
            <a:r>
              <a:rPr sz="2600" b="1" i="0" lang="fr-FR">
                <a:solidFill>
                  <a:srgbClr val="1B2A41"/>
                </a:solidFill>
                <a:latin typeface="Calibri"/>
              </a:rPr>
              <a:t>du CA brut hors taxe</a:t>
            </a:r>
          </a:p>
        </p:txBody>
      </p:sp>
      <p:sp>
        <p:nvSpPr>
          <p:cNvPr id="18" name="s06 texte NIVEAU 1"/>
          <p:cNvSpPr txBox="1"/>
          <p:nvPr/>
        </p:nvSpPr>
        <p:spPr>
          <a:xfrm>
            <a:off x="889000" y="3708400"/>
            <a:ext cx="4381500" cy="990600"/>
          </a:xfrm>
          <a:prstGeom prst="rect">
            <a:avLst/>
          </a:prstGeom>
          <a:noFill/>
        </p:spPr>
        <p:txBody>
          <a:bodyPr wrap="square" lIns="0" tIns="0" rIns="0" bIns="0" anchor="t">
            <a:noAutofit/>
          </a:bodyPr>
          <a:lstStyle/>
          <a:p>
            <a:pPr algn="l">
              <a:lnSpc>
                <a:spcPct val="100000"/>
              </a:lnSpc>
              <a:spcBef>
                <a:spcPts val="0"/>
              </a:spcBef>
              <a:spcAft>
                <a:spcPts val="0"/>
              </a:spcAft>
            </a:pPr>
            <a:r>
              <a:rPr sz="2200" b="0" i="0" lang="fr-FR">
                <a:solidFill>
                  <a:srgbClr val="1B2A41"/>
                </a:solidFill>
                <a:latin typeface="Calibri"/>
              </a:rPr>
              <a:t>Plancher légal, applicable en toutes circonstances.</a:t>
            </a:r>
          </a:p>
        </p:txBody>
      </p:sp>
      <p:sp>
        <p:nvSpPr>
          <p:cNvPr id="19" name="s06 carte NIVEAU 2"/>
          <p:cNvSpPr/>
          <p:nvPr/>
        </p:nvSpPr>
        <p:spPr>
          <a:xfrm>
            <a:off x="6756400" y="1828800"/>
            <a:ext cx="4826000" cy="2933700"/>
          </a:xfrm>
          <a:prstGeom prst="roundRect">
            <a:avLst>
              <a:gd name="adj" fmla="val 3463"/>
            </a:avLst>
          </a:prstGeom>
          <a:solidFill>
            <a:srgbClr val="FFFFFF"/>
          </a:solidFill>
          <a:ln w="9525">
            <a:solidFill>
              <a:srgbClr val="E3DED3"/>
            </a:solidFill>
          </a:ln>
          <a:effectLst>
            <a:outerShdw blurRad="165100" dist="38100" dir="5400000" algn="t" rotWithShape="0">
              <a:srgbClr val="12264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06 carte NIVEAU 2 filet"/>
          <p:cNvSpPr/>
          <p:nvPr/>
        </p:nvSpPr>
        <p:spPr>
          <a:xfrm>
            <a:off x="6756400" y="1930400"/>
            <a:ext cx="50800" cy="2730500"/>
          </a:xfrm>
          <a:prstGeom prst="rect">
            <a:avLst/>
          </a:prstGeom>
          <a:solidFill>
            <a:srgbClr val="D3A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06 étiquette NIVEAU 2"/>
          <p:cNvSpPr/>
          <p:nvPr/>
        </p:nvSpPr>
        <p:spPr>
          <a:xfrm>
            <a:off x="7035800" y="1993900"/>
            <a:ext cx="1358900" cy="304800"/>
          </a:xfrm>
          <a:prstGeom prst="roundRect">
            <a:avLst>
              <a:gd name="adj" fmla="val 50000"/>
            </a:avLst>
          </a:prstGeom>
          <a:solidFill>
            <a:srgbClr val="D3A0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00000"/>
              </a:lnSpc>
              <a:spcBef>
                <a:spcPts val="0"/>
              </a:spcBef>
              <a:spcAft>
                <a:spcPts val="0"/>
              </a:spcAft>
            </a:pPr>
            <a:r>
              <a:rPr sz="2000" b="1" i="0" lang="fr-FR" spc="150">
                <a:solidFill>
                  <a:srgbClr val="12264A"/>
                </a:solidFill>
                <a:latin typeface="Calibri"/>
              </a:rPr>
              <a:t>NIVEAU 2</a:t>
            </a:r>
          </a:p>
        </p:txBody>
      </p:sp>
      <p:sp>
        <p:nvSpPr>
          <p:cNvPr id="22" name="s06 taux NIVEAU 2"/>
          <p:cNvSpPr txBox="1"/>
          <p:nvPr/>
        </p:nvSpPr>
        <p:spPr>
          <a:xfrm>
            <a:off x="7035800" y="2324100"/>
            <a:ext cx="4381500" cy="1333500"/>
          </a:xfrm>
          <a:prstGeom prst="rect">
            <a:avLst/>
          </a:prstGeom>
          <a:noFill/>
        </p:spPr>
        <p:txBody>
          <a:bodyPr wrap="square" lIns="0" tIns="0" rIns="0" bIns="0" anchor="ctr">
            <a:noAutofit/>
          </a:bodyPr>
          <a:lstStyle/>
          <a:p>
            <a:pPr algn="l">
              <a:lnSpc>
                <a:spcPct val="95000"/>
              </a:lnSpc>
              <a:spcBef>
                <a:spcPts val="0"/>
              </a:spcBef>
              <a:spcAft>
                <a:spcPts val="0"/>
              </a:spcAft>
            </a:pPr>
            <a:r>
              <a:rPr sz="6400" b="1" i="0" lang="fr-FR">
                <a:solidFill>
                  <a:srgbClr val="12264A"/>
                </a:solidFill>
                <a:latin typeface="Calibri"/>
              </a:rPr>
              <a:t>1,5 %</a:t>
            </a:r>
          </a:p>
          <a:p>
            <a:pPr algn="l">
              <a:lnSpc>
                <a:spcPct val="100000"/>
              </a:lnSpc>
              <a:spcBef>
                <a:spcPts val="0"/>
              </a:spcBef>
              <a:spcAft>
                <a:spcPts val="0"/>
              </a:spcAft>
            </a:pPr>
            <a:r>
              <a:rPr sz="2600" b="1" i="0" lang="fr-FR">
                <a:solidFill>
                  <a:srgbClr val="1B2A41"/>
                </a:solidFill>
                <a:latin typeface="Calibri"/>
              </a:rPr>
              <a:t>du CA brut hors taxe</a:t>
            </a:r>
          </a:p>
        </p:txBody>
      </p:sp>
      <p:sp>
        <p:nvSpPr>
          <p:cNvPr id="23" name="s06 texte NIVEAU 2"/>
          <p:cNvSpPr txBox="1"/>
          <p:nvPr/>
        </p:nvSpPr>
        <p:spPr>
          <a:xfrm>
            <a:off x="7035800" y="3708400"/>
            <a:ext cx="4381500" cy="990600"/>
          </a:xfrm>
          <a:prstGeom prst="rect">
            <a:avLst/>
          </a:prstGeom>
          <a:noFill/>
        </p:spPr>
        <p:txBody>
          <a:bodyPr wrap="square" lIns="0" tIns="0" rIns="0" bIns="0" anchor="t">
            <a:noAutofit/>
          </a:bodyPr>
          <a:lstStyle/>
          <a:p>
            <a:pPr algn="l">
              <a:lnSpc>
                <a:spcPct val="100000"/>
              </a:lnSpc>
              <a:spcBef>
                <a:spcPts val="0"/>
              </a:spcBef>
              <a:spcAft>
                <a:spcPts val="0"/>
              </a:spcAft>
            </a:pPr>
            <a:r>
              <a:rPr sz="2200" b="0" i="0" lang="fr-FR">
                <a:solidFill>
                  <a:srgbClr val="1B2A41"/>
                </a:solidFill>
                <a:latin typeface="Calibri"/>
              </a:rPr>
              <a:t>Proposition si le résultat net certifié de l’exercice précédent atteint ou dépasse 350 M USD.</a:t>
            </a:r>
          </a:p>
        </p:txBody>
      </p:sp>
      <p:cxnSp>
        <p:nvCxnSpPr>
          <p:cNvPr id="24" name="s06 flèche"/>
          <p:cNvCxnSpPr/>
          <p:nvPr/>
        </p:nvCxnSpPr>
        <p:spPr>
          <a:xfrm>
            <a:off x="5562600" y="3429000"/>
            <a:ext cx="1066800" cy="0"/>
          </a:xfrm>
          <a:prstGeom prst="line">
            <a:avLst/>
          </a:prstGeom>
          <a:ln w="50800">
            <a:solidFill>
              <a:srgbClr val="D3A04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s06 seuil"/>
          <p:cNvSpPr txBox="1"/>
          <p:nvPr/>
        </p:nvSpPr>
        <p:spPr>
          <a:xfrm>
            <a:off x="5308600" y="2755900"/>
            <a:ext cx="1574800" cy="584200"/>
          </a:xfrm>
          <a:prstGeom prst="rect">
            <a:avLst/>
          </a:prstGeom>
          <a:noFill/>
        </p:spPr>
        <p:txBody>
          <a:bodyPr wrap="square" lIns="0" tIns="0" rIns="0" bIns="0" anchor="b">
            <a:noAutofit/>
          </a:bodyPr>
          <a:lstStyle/>
          <a:p>
            <a:pPr algn="ctr">
              <a:lnSpc>
                <a:spcPct val="100000"/>
              </a:lnSpc>
              <a:spcBef>
                <a:spcPts val="0"/>
              </a:spcBef>
              <a:spcAft>
                <a:spcPts val="0"/>
              </a:spcAft>
            </a:pPr>
            <a:r>
              <a:rPr sz="2000" b="0" i="0" lang="fr-FR">
                <a:solidFill>
                  <a:srgbClr val="1B2A41"/>
                </a:solidFill>
                <a:latin typeface="Calibri"/>
              </a:rPr>
              <a:t>seuil de</a:t>
            </a:r>
          </a:p>
          <a:p>
            <a:pPr algn="ctr">
              <a:lnSpc>
                <a:spcPct val="100000"/>
              </a:lnSpc>
              <a:spcBef>
                <a:spcPts val="0"/>
              </a:spcBef>
              <a:spcAft>
                <a:spcPts val="0"/>
              </a:spcAft>
            </a:pPr>
            <a:r>
              <a:rPr sz="2200" b="1" i="0" lang="fr-FR">
                <a:solidFill>
                  <a:srgbClr val="12264A"/>
                </a:solidFill>
                <a:latin typeface="Calibri"/>
              </a:rPr>
              <a:t>350 M USD</a:t>
            </a:r>
          </a:p>
        </p:txBody>
      </p:sp>
      <p:sp>
        <p:nvSpPr>
          <p:cNvPr id="26" name="s06 pastille 1"/>
          <p:cNvSpPr/>
          <p:nvPr/>
        </p:nvSpPr>
        <p:spPr>
          <a:xfrm>
            <a:off x="609600" y="4914900"/>
            <a:ext cx="3556000" cy="787400"/>
          </a:xfrm>
          <a:prstGeom prst="roundRect">
            <a:avLst>
              <a:gd name="adj" fmla="val 32258"/>
            </a:avLst>
          </a:prstGeom>
          <a:solidFill>
            <a:srgbClr val="FFFFFF"/>
          </a:solidFill>
          <a:ln w="9525">
            <a:solidFill>
              <a:srgbClr val="E3DED3"/>
            </a:solidFill>
          </a:ln>
          <a:effectLst>
            <a:outerShdw blurRad="165100" dist="38100" dir="5400000" algn="t" rotWithShape="0">
              <a:srgbClr val="12264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15900" tIns="63500" rIns="177800" bIns="63500">
            <a:noAutofit/>
          </a:bodyPr>
          <a:lstStyle/>
          <a:p>
            <a:pPr algn="l">
              <a:lnSpc>
                <a:spcPct val="100000"/>
              </a:lnSpc>
              <a:spcBef>
                <a:spcPts val="0"/>
              </a:spcBef>
              <a:spcAft>
                <a:spcPts val="0"/>
              </a:spcAft>
            </a:pPr>
            <a:r>
              <a:rPr sz="2000" b="0" i="0" lang="fr-FR">
                <a:solidFill>
                  <a:srgbClr val="1B2A41"/>
                </a:solidFill>
                <a:latin typeface="Calibri"/>
              </a:rPr>
              <a:t>Vérification sur les comptes certifiés (Article 187)</a:t>
            </a:r>
          </a:p>
        </p:txBody>
      </p:sp>
      <p:sp>
        <p:nvSpPr>
          <p:cNvPr id="27" name="s06 pastille 2"/>
          <p:cNvSpPr/>
          <p:nvPr/>
        </p:nvSpPr>
        <p:spPr>
          <a:xfrm>
            <a:off x="4318000" y="4914900"/>
            <a:ext cx="2413000" cy="787400"/>
          </a:xfrm>
          <a:prstGeom prst="roundRect">
            <a:avLst>
              <a:gd name="adj" fmla="val 32258"/>
            </a:avLst>
          </a:prstGeom>
          <a:solidFill>
            <a:srgbClr val="FFFFFF"/>
          </a:solidFill>
          <a:ln w="9525">
            <a:solidFill>
              <a:srgbClr val="E3DED3"/>
            </a:solidFill>
          </a:ln>
          <a:effectLst>
            <a:outerShdw blurRad="165100" dist="38100" dir="5400000" algn="t" rotWithShape="0">
              <a:srgbClr val="12264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15900" tIns="63500" rIns="177800" bIns="63500">
            <a:noAutofit/>
          </a:bodyPr>
          <a:lstStyle/>
          <a:p>
            <a:pPr algn="l">
              <a:lnSpc>
                <a:spcPct val="100000"/>
              </a:lnSpc>
              <a:spcBef>
                <a:spcPts val="0"/>
              </a:spcBef>
              <a:spcAft>
                <a:spcPts val="0"/>
              </a:spcAft>
            </a:pPr>
            <a:r>
              <a:rPr sz="2000" b="0" i="0" lang="fr-FR">
                <a:solidFill>
                  <a:srgbClr val="1B2A41"/>
                </a:solidFill>
                <a:latin typeface="Calibri"/>
              </a:rPr>
              <a:t>Copie transmise à FUTURA</a:t>
            </a:r>
          </a:p>
        </p:txBody>
      </p:sp>
      <p:sp>
        <p:nvSpPr>
          <p:cNvPr id="28" name="s06 pastille 3"/>
          <p:cNvSpPr/>
          <p:nvPr/>
        </p:nvSpPr>
        <p:spPr>
          <a:xfrm>
            <a:off x="6883400" y="4914900"/>
            <a:ext cx="4699000" cy="787400"/>
          </a:xfrm>
          <a:prstGeom prst="roundRect">
            <a:avLst>
              <a:gd name="adj" fmla="val 32258"/>
            </a:avLst>
          </a:prstGeom>
          <a:solidFill>
            <a:srgbClr val="FFFFFF"/>
          </a:solidFill>
          <a:ln w="9525">
            <a:solidFill>
              <a:srgbClr val="E3DED3"/>
            </a:solidFill>
          </a:ln>
          <a:effectLst>
            <a:outerShdw blurRad="165100" dist="38100" dir="5400000" algn="t" rotWithShape="0">
              <a:srgbClr val="12264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215900" tIns="63500" rIns="177800" bIns="63500">
            <a:noAutofit/>
          </a:bodyPr>
          <a:lstStyle/>
          <a:p>
            <a:pPr algn="l">
              <a:lnSpc>
                <a:spcPct val="100000"/>
              </a:lnSpc>
              <a:spcBef>
                <a:spcPts val="0"/>
              </a:spcBef>
              <a:spcAft>
                <a:spcPts val="0"/>
              </a:spcAft>
            </a:pPr>
            <a:r>
              <a:rPr sz="2000" b="0" i="0" lang="fr-FR">
                <a:solidFill>
                  <a:srgbClr val="1B2A41"/>
                </a:solidFill>
                <a:latin typeface="Calibri"/>
              </a:rPr>
              <a:t>Arbitrage d’un cabinet indépendant sous 60 jours en cas de désaccord</a:t>
            </a:r>
          </a:p>
        </p:txBody>
      </p:sp>
      <p:sp>
        <p:nvSpPr>
          <p:cNvPr id="29" name="s06 mention"/>
          <p:cNvSpPr txBox="1"/>
          <p:nvPr/>
        </p:nvSpPr>
        <p:spPr>
          <a:xfrm>
            <a:off x="609600" y="5791200"/>
            <a:ext cx="10972800" cy="317500"/>
          </a:xfrm>
          <a:prstGeom prst="rect">
            <a:avLst/>
          </a:prstGeom>
          <a:noFill/>
        </p:spPr>
        <p:txBody>
          <a:bodyPr wrap="square" lIns="0" tIns="0" rIns="0" bIns="0" anchor="ctr">
            <a:noAutofit/>
          </a:bodyPr>
          <a:lstStyle/>
          <a:p>
            <a:pPr algn="l">
              <a:lnSpc>
                <a:spcPct val="100000"/>
              </a:lnSpc>
              <a:spcBef>
                <a:spcPts val="0"/>
              </a:spcBef>
              <a:spcAft>
                <a:spcPts val="0"/>
              </a:spcAft>
            </a:pPr>
            <a:r>
              <a:rPr sz="2200" b="1" i="1" lang="fr-FR">
                <a:solidFill>
                  <a:srgbClr val="A9553E"/>
                </a:solidFill>
                <a:latin typeface="Calibri"/>
              </a:rPr>
              <a:t>La majoration de 0,5 point est une proposition à négocier, pas un versement acquis.</a:t>
            </a:r>
          </a:p>
        </p:txBody>
      </p:sp>
    </p:spTree>
  </p:cSld>
  <p:clrMapOvr>
    <a:masterClrMapping/>
  </p:clrMapOvr>
  <mc:AlternateContent xmlns:mc="http://schemas.openxmlformats.org/markup-compatibility/2006">
    <mc:Choice xmlns:p14="http://schemas.microsoft.com/office/powerpoint/2010/main" Requires="p14">
      <p:transition spd="med" p14:dur="700" advTm="25000">
        <p:fade/>
      </p:transition>
    </mc:Choice>
    <mc:Fallback>
      <p:transition spd="med" advTm="2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childTnLst>
                          </p:cTn>
                        </p:par>
                        <p:par>
                          <p:cTn id="8" fill="hold">
                            <p:stCondLst>
                              <p:cond delay="600"/>
                            </p:stCondLst>
                            <p:childTnLst>
                              <p:par>
                                <p:cTn id="9" presetID="42" presetClass="entr" presetSubtype="0"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700"/>
                                        <p:tgtEl>
                                          <p:spTgt spid="14"/>
                                        </p:tgtEl>
                                      </p:cBhvr>
                                    </p:animEffect>
                                    <p:anim calcmode="lin" valueType="num">
                                      <p:cBhvr>
                                        <p:cTn id="12" dur="700" fill="hold" decel="100000"/>
                                        <p:tgtEl>
                                          <p:spTgt spid="14"/>
                                        </p:tgtEl>
                                        <p:attrNameLst>
                                          <p:attrName>ppt_x</p:attrName>
                                        </p:attrNameLst>
                                      </p:cBhvr>
                                      <p:tavLst>
                                        <p:tav tm="0">
                                          <p:val>
                                            <p:strVal val="#ppt_x"/>
                                          </p:val>
                                        </p:tav>
                                        <p:tav tm="100000">
                                          <p:val>
                                            <p:strVal val="#ppt_x"/>
                                          </p:val>
                                        </p:tav>
                                      </p:tavLst>
                                    </p:anim>
                                    <p:anim calcmode="lin" valueType="num">
                                      <p:cBhvr>
                                        <p:cTn id="13" dur="700" fill="hold" decel="100000"/>
                                        <p:tgtEl>
                                          <p:spTgt spid="14"/>
                                        </p:tgtEl>
                                        <p:attrNameLst>
                                          <p:attrName>ppt_y</p:attrName>
                                        </p:attrNameLst>
                                      </p:cBhvr>
                                      <p:tavLst>
                                        <p:tav tm="0">
                                          <p:val>
                                            <p:strVal val="#ppt_y+.04"/>
                                          </p:val>
                                        </p:tav>
                                        <p:tav tm="100000">
                                          <p:val>
                                            <p:strVal val="#ppt_y"/>
                                          </p:val>
                                        </p:tav>
                                      </p:tavLst>
                                    </p:anim>
                                  </p:childTnLst>
                                </p:cTn>
                              </p:par>
                              <p:par>
                                <p:cTn id="14" presetID="42"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700"/>
                                        <p:tgtEl>
                                          <p:spTgt spid="15"/>
                                        </p:tgtEl>
                                      </p:cBhvr>
                                    </p:animEffect>
                                    <p:anim calcmode="lin" valueType="num">
                                      <p:cBhvr>
                                        <p:cTn id="17" dur="700" fill="hold" decel="100000"/>
                                        <p:tgtEl>
                                          <p:spTgt spid="15"/>
                                        </p:tgtEl>
                                        <p:attrNameLst>
                                          <p:attrName>ppt_x</p:attrName>
                                        </p:attrNameLst>
                                      </p:cBhvr>
                                      <p:tavLst>
                                        <p:tav tm="0">
                                          <p:val>
                                            <p:strVal val="#ppt_x"/>
                                          </p:val>
                                        </p:tav>
                                        <p:tav tm="100000">
                                          <p:val>
                                            <p:strVal val="#ppt_x"/>
                                          </p:val>
                                        </p:tav>
                                      </p:tavLst>
                                    </p:anim>
                                    <p:anim calcmode="lin" valueType="num">
                                      <p:cBhvr>
                                        <p:cTn id="18" dur="700" fill="hold" decel="100000"/>
                                        <p:tgtEl>
                                          <p:spTgt spid="15"/>
                                        </p:tgtEl>
                                        <p:attrNameLst>
                                          <p:attrName>ppt_y</p:attrName>
                                        </p:attrNameLst>
                                      </p:cBhvr>
                                      <p:tavLst>
                                        <p:tav tm="0">
                                          <p:val>
                                            <p:strVal val="#ppt_y+.04"/>
                                          </p:val>
                                        </p:tav>
                                        <p:tav tm="100000">
                                          <p:val>
                                            <p:strVal val="#ppt_y"/>
                                          </p:val>
                                        </p:tav>
                                      </p:tavLst>
                                    </p:anim>
                                  </p:childTnLst>
                                </p:cTn>
                              </p:par>
                              <p:par>
                                <p:cTn id="19" presetID="42"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700"/>
                                        <p:tgtEl>
                                          <p:spTgt spid="16"/>
                                        </p:tgtEl>
                                      </p:cBhvr>
                                    </p:animEffect>
                                    <p:anim calcmode="lin" valueType="num">
                                      <p:cBhvr>
                                        <p:cTn id="22" dur="700" fill="hold" decel="100000"/>
                                        <p:tgtEl>
                                          <p:spTgt spid="16"/>
                                        </p:tgtEl>
                                        <p:attrNameLst>
                                          <p:attrName>ppt_x</p:attrName>
                                        </p:attrNameLst>
                                      </p:cBhvr>
                                      <p:tavLst>
                                        <p:tav tm="0">
                                          <p:val>
                                            <p:strVal val="#ppt_x"/>
                                          </p:val>
                                        </p:tav>
                                        <p:tav tm="100000">
                                          <p:val>
                                            <p:strVal val="#ppt_x"/>
                                          </p:val>
                                        </p:tav>
                                      </p:tavLst>
                                    </p:anim>
                                    <p:anim calcmode="lin" valueType="num">
                                      <p:cBhvr>
                                        <p:cTn id="23" dur="700" fill="hold" decel="100000"/>
                                        <p:tgtEl>
                                          <p:spTgt spid="16"/>
                                        </p:tgtEl>
                                        <p:attrNameLst>
                                          <p:attrName>ppt_y</p:attrName>
                                        </p:attrNameLst>
                                      </p:cBhvr>
                                      <p:tavLst>
                                        <p:tav tm="0">
                                          <p:val>
                                            <p:strVal val="#ppt_y+.04"/>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700"/>
                                        <p:tgtEl>
                                          <p:spTgt spid="17"/>
                                        </p:tgtEl>
                                      </p:cBhvr>
                                    </p:animEffect>
                                    <p:anim calcmode="lin" valueType="num">
                                      <p:cBhvr>
                                        <p:cTn id="27" dur="700" fill="hold" decel="100000"/>
                                        <p:tgtEl>
                                          <p:spTgt spid="17"/>
                                        </p:tgtEl>
                                        <p:attrNameLst>
                                          <p:attrName>ppt_x</p:attrName>
                                        </p:attrNameLst>
                                      </p:cBhvr>
                                      <p:tavLst>
                                        <p:tav tm="0">
                                          <p:val>
                                            <p:strVal val="#ppt_x"/>
                                          </p:val>
                                        </p:tav>
                                        <p:tav tm="100000">
                                          <p:val>
                                            <p:strVal val="#ppt_x"/>
                                          </p:val>
                                        </p:tav>
                                      </p:tavLst>
                                    </p:anim>
                                    <p:anim calcmode="lin" valueType="num">
                                      <p:cBhvr>
                                        <p:cTn id="28" dur="700" fill="hold" decel="100000"/>
                                        <p:tgtEl>
                                          <p:spTgt spid="17"/>
                                        </p:tgtEl>
                                        <p:attrNameLst>
                                          <p:attrName>ppt_y</p:attrName>
                                        </p:attrNameLst>
                                      </p:cBhvr>
                                      <p:tavLst>
                                        <p:tav tm="0">
                                          <p:val>
                                            <p:strVal val="#ppt_y+.04"/>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700"/>
                                        <p:tgtEl>
                                          <p:spTgt spid="18"/>
                                        </p:tgtEl>
                                      </p:cBhvr>
                                    </p:animEffect>
                                    <p:anim calcmode="lin" valueType="num">
                                      <p:cBhvr>
                                        <p:cTn id="32" dur="700" fill="hold" decel="100000"/>
                                        <p:tgtEl>
                                          <p:spTgt spid="18"/>
                                        </p:tgtEl>
                                        <p:attrNameLst>
                                          <p:attrName>ppt_x</p:attrName>
                                        </p:attrNameLst>
                                      </p:cBhvr>
                                      <p:tavLst>
                                        <p:tav tm="0">
                                          <p:val>
                                            <p:strVal val="#ppt_x"/>
                                          </p:val>
                                        </p:tav>
                                        <p:tav tm="100000">
                                          <p:val>
                                            <p:strVal val="#ppt_x"/>
                                          </p:val>
                                        </p:tav>
                                      </p:tavLst>
                                    </p:anim>
                                    <p:anim calcmode="lin" valueType="num">
                                      <p:cBhvr>
                                        <p:cTn id="33" dur="700" fill="hold" decel="100000"/>
                                        <p:tgtEl>
                                          <p:spTgt spid="18"/>
                                        </p:tgtEl>
                                        <p:attrNameLst>
                                          <p:attrName>ppt_y</p:attrName>
                                        </p:attrNameLst>
                                      </p:cBhvr>
                                      <p:tavLst>
                                        <p:tav tm="0">
                                          <p:val>
                                            <p:strVal val="#ppt_y+.04"/>
                                          </p:val>
                                        </p:tav>
                                        <p:tav tm="100000">
                                          <p:val>
                                            <p:strVal val="#ppt_y"/>
                                          </p:val>
                                        </p:tav>
                                      </p:tavLst>
                                    </p:anim>
                                  </p:childTnLst>
                                </p:cTn>
                              </p:par>
                            </p:childTnLst>
                          </p:cTn>
                        </p:par>
                        <p:par>
                          <p:cTn id="34" fill="hold">
                            <p:stCondLst>
                              <p:cond delay="1300"/>
                            </p:stCondLst>
                            <p:childTnLst>
                              <p:par>
                                <p:cTn id="35" presetID="22" presetClass="entr" presetSubtype="8" fill="hold" grpId="0" nodeType="after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wipe(right)">
                                      <p:cBhvr>
                                        <p:cTn id="37" dur="600"/>
                                        <p:tgtEl>
                                          <p:spTgt spid="24"/>
                                        </p:tgtEl>
                                      </p:cBhvr>
                                    </p:animEffect>
                                  </p:childTnLst>
                                </p:cTn>
                              </p:par>
                              <p:par>
                                <p:cTn id="38" presetID="10" presetClass="entr" presetSubtype="0" fill="hold" grpId="0" nodeType="withEffect">
                                  <p:stCondLst>
                                    <p:cond delay="20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500"/>
                                        <p:tgtEl>
                                          <p:spTgt spid="25"/>
                                        </p:tgtEl>
                                      </p:cBhvr>
                                    </p:animEffect>
                                  </p:childTnLst>
                                </p:cTn>
                              </p:par>
                            </p:childTnLst>
                          </p:cTn>
                        </p:par>
                        <p:par>
                          <p:cTn id="41" fill="hold">
                            <p:stCondLst>
                              <p:cond delay="2000"/>
                            </p:stCondLst>
                            <p:childTnLst>
                              <p:par>
                                <p:cTn id="42" presetID="42" presetClass="entr" presetSubtype="0" fill="hold" grpId="0" nodeType="after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700"/>
                                        <p:tgtEl>
                                          <p:spTgt spid="19"/>
                                        </p:tgtEl>
                                      </p:cBhvr>
                                    </p:animEffect>
                                    <p:anim calcmode="lin" valueType="num">
                                      <p:cBhvr>
                                        <p:cTn id="45" dur="700" fill="hold" decel="100000"/>
                                        <p:tgtEl>
                                          <p:spTgt spid="19"/>
                                        </p:tgtEl>
                                        <p:attrNameLst>
                                          <p:attrName>ppt_x</p:attrName>
                                        </p:attrNameLst>
                                      </p:cBhvr>
                                      <p:tavLst>
                                        <p:tav tm="0">
                                          <p:val>
                                            <p:strVal val="#ppt_x"/>
                                          </p:val>
                                        </p:tav>
                                        <p:tav tm="100000">
                                          <p:val>
                                            <p:strVal val="#ppt_x"/>
                                          </p:val>
                                        </p:tav>
                                      </p:tavLst>
                                    </p:anim>
                                    <p:anim calcmode="lin" valueType="num">
                                      <p:cBhvr>
                                        <p:cTn id="46" dur="700" fill="hold" decel="100000"/>
                                        <p:tgtEl>
                                          <p:spTgt spid="19"/>
                                        </p:tgtEl>
                                        <p:attrNameLst>
                                          <p:attrName>ppt_y</p:attrName>
                                        </p:attrNameLst>
                                      </p:cBhvr>
                                      <p:tavLst>
                                        <p:tav tm="0">
                                          <p:val>
                                            <p:strVal val="#ppt_y+.04"/>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700"/>
                                        <p:tgtEl>
                                          <p:spTgt spid="20"/>
                                        </p:tgtEl>
                                      </p:cBhvr>
                                    </p:animEffect>
                                    <p:anim calcmode="lin" valueType="num">
                                      <p:cBhvr>
                                        <p:cTn id="50" dur="700" fill="hold" decel="100000"/>
                                        <p:tgtEl>
                                          <p:spTgt spid="20"/>
                                        </p:tgtEl>
                                        <p:attrNameLst>
                                          <p:attrName>ppt_x</p:attrName>
                                        </p:attrNameLst>
                                      </p:cBhvr>
                                      <p:tavLst>
                                        <p:tav tm="0">
                                          <p:val>
                                            <p:strVal val="#ppt_x"/>
                                          </p:val>
                                        </p:tav>
                                        <p:tav tm="100000">
                                          <p:val>
                                            <p:strVal val="#ppt_x"/>
                                          </p:val>
                                        </p:tav>
                                      </p:tavLst>
                                    </p:anim>
                                    <p:anim calcmode="lin" valueType="num">
                                      <p:cBhvr>
                                        <p:cTn id="51" dur="700" fill="hold" decel="100000"/>
                                        <p:tgtEl>
                                          <p:spTgt spid="20"/>
                                        </p:tgtEl>
                                        <p:attrNameLst>
                                          <p:attrName>ppt_y</p:attrName>
                                        </p:attrNameLst>
                                      </p:cBhvr>
                                      <p:tavLst>
                                        <p:tav tm="0">
                                          <p:val>
                                            <p:strVal val="#ppt_y+.04"/>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700"/>
                                        <p:tgtEl>
                                          <p:spTgt spid="21"/>
                                        </p:tgtEl>
                                      </p:cBhvr>
                                    </p:animEffect>
                                    <p:anim calcmode="lin" valueType="num">
                                      <p:cBhvr>
                                        <p:cTn id="55" dur="700" fill="hold" decel="100000"/>
                                        <p:tgtEl>
                                          <p:spTgt spid="21"/>
                                        </p:tgtEl>
                                        <p:attrNameLst>
                                          <p:attrName>ppt_x</p:attrName>
                                        </p:attrNameLst>
                                      </p:cBhvr>
                                      <p:tavLst>
                                        <p:tav tm="0">
                                          <p:val>
                                            <p:strVal val="#ppt_x"/>
                                          </p:val>
                                        </p:tav>
                                        <p:tav tm="100000">
                                          <p:val>
                                            <p:strVal val="#ppt_x"/>
                                          </p:val>
                                        </p:tav>
                                      </p:tavLst>
                                    </p:anim>
                                    <p:anim calcmode="lin" valueType="num">
                                      <p:cBhvr>
                                        <p:cTn id="56" dur="700" fill="hold" decel="100000"/>
                                        <p:tgtEl>
                                          <p:spTgt spid="21"/>
                                        </p:tgtEl>
                                        <p:attrNameLst>
                                          <p:attrName>ppt_y</p:attrName>
                                        </p:attrNameLst>
                                      </p:cBhvr>
                                      <p:tavLst>
                                        <p:tav tm="0">
                                          <p:val>
                                            <p:strVal val="#ppt_y+.04"/>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700"/>
                                        <p:tgtEl>
                                          <p:spTgt spid="22"/>
                                        </p:tgtEl>
                                      </p:cBhvr>
                                    </p:animEffect>
                                    <p:anim calcmode="lin" valueType="num">
                                      <p:cBhvr>
                                        <p:cTn id="60" dur="700" fill="hold" decel="100000"/>
                                        <p:tgtEl>
                                          <p:spTgt spid="22"/>
                                        </p:tgtEl>
                                        <p:attrNameLst>
                                          <p:attrName>ppt_x</p:attrName>
                                        </p:attrNameLst>
                                      </p:cBhvr>
                                      <p:tavLst>
                                        <p:tav tm="0">
                                          <p:val>
                                            <p:strVal val="#ppt_x"/>
                                          </p:val>
                                        </p:tav>
                                        <p:tav tm="100000">
                                          <p:val>
                                            <p:strVal val="#ppt_x"/>
                                          </p:val>
                                        </p:tav>
                                      </p:tavLst>
                                    </p:anim>
                                    <p:anim calcmode="lin" valueType="num">
                                      <p:cBhvr>
                                        <p:cTn id="61" dur="700" fill="hold" decel="100000"/>
                                        <p:tgtEl>
                                          <p:spTgt spid="22"/>
                                        </p:tgtEl>
                                        <p:attrNameLst>
                                          <p:attrName>ppt_y</p:attrName>
                                        </p:attrNameLst>
                                      </p:cBhvr>
                                      <p:tavLst>
                                        <p:tav tm="0">
                                          <p:val>
                                            <p:strVal val="#ppt_y+.04"/>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700"/>
                                        <p:tgtEl>
                                          <p:spTgt spid="23"/>
                                        </p:tgtEl>
                                      </p:cBhvr>
                                    </p:animEffect>
                                    <p:anim calcmode="lin" valueType="num">
                                      <p:cBhvr>
                                        <p:cTn id="65" dur="700" fill="hold" decel="100000"/>
                                        <p:tgtEl>
                                          <p:spTgt spid="23"/>
                                        </p:tgtEl>
                                        <p:attrNameLst>
                                          <p:attrName>ppt_x</p:attrName>
                                        </p:attrNameLst>
                                      </p:cBhvr>
                                      <p:tavLst>
                                        <p:tav tm="0">
                                          <p:val>
                                            <p:strVal val="#ppt_x"/>
                                          </p:val>
                                        </p:tav>
                                        <p:tav tm="100000">
                                          <p:val>
                                            <p:strVal val="#ppt_x"/>
                                          </p:val>
                                        </p:tav>
                                      </p:tavLst>
                                    </p:anim>
                                    <p:anim calcmode="lin" valueType="num">
                                      <p:cBhvr>
                                        <p:cTn id="66" dur="700" fill="hold" decel="100000"/>
                                        <p:tgtEl>
                                          <p:spTgt spid="23"/>
                                        </p:tgtEl>
                                        <p:attrNameLst>
                                          <p:attrName>ppt_y</p:attrName>
                                        </p:attrNameLst>
                                      </p:cBhvr>
                                      <p:tavLst>
                                        <p:tav tm="0">
                                          <p:val>
                                            <p:strVal val="#ppt_y+.04"/>
                                          </p:val>
                                        </p:tav>
                                        <p:tav tm="100000">
                                          <p:val>
                                            <p:strVal val="#ppt_y"/>
                                          </p:val>
                                        </p:tav>
                                      </p:tavLst>
                                    </p:anim>
                                  </p:childTnLst>
                                </p:cTn>
                              </p:par>
                            </p:childTnLst>
                          </p:cTn>
                        </p:par>
                        <p:par>
                          <p:cTn id="67" fill="hold">
                            <p:stCondLst>
                              <p:cond delay="2700"/>
                            </p:stCondLst>
                            <p:childTnLst>
                              <p:par>
                                <p:cTn id="68" presetID="10" presetClass="entr" presetSubtype="0" fill="hold" grpId="0" nodeType="after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500"/>
                                        <p:tgtEl>
                                          <p:spTgt spid="26"/>
                                        </p:tgtEl>
                                      </p:cBhvr>
                                    </p:animEffect>
                                  </p:childTnLst>
                                </p:cTn>
                              </p:par>
                              <p:par>
                                <p:cTn id="71" presetID="10" presetClass="entr" presetSubtype="0" fill="hold" grpId="0" nodeType="withEffect">
                                  <p:stCondLst>
                                    <p:cond delay="25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500"/>
                                        <p:tgtEl>
                                          <p:spTgt spid="27"/>
                                        </p:tgtEl>
                                      </p:cBhvr>
                                    </p:animEffect>
                                  </p:childTnLst>
                                </p:cTn>
                              </p:par>
                              <p:par>
                                <p:cTn id="74" presetID="10" presetClass="entr" presetSubtype="0" fill="hold" grpId="0" nodeType="withEffect">
                                  <p:stCondLst>
                                    <p:cond delay="50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500"/>
                                        <p:tgtEl>
                                          <p:spTgt spid="28"/>
                                        </p:tgtEl>
                                      </p:cBhvr>
                                    </p:animEffect>
                                  </p:childTnLst>
                                </p:cTn>
                              </p:par>
                            </p:childTnLst>
                          </p:cTn>
                        </p:par>
                        <p:par>
                          <p:cTn id="77" fill="hold">
                            <p:stCondLst>
                              <p:cond delay="3700"/>
                            </p:stCondLst>
                            <p:childTnLst>
                              <p:par>
                                <p:cTn id="78" presetID="10" presetClass="entr" presetSubtype="0" fill="hold" grpId="0" nodeType="afterEffect">
                                  <p:stCondLst>
                                    <p:cond delay="0"/>
                                  </p:stCondLst>
                                  <p:childTnLst>
                                    <p:set>
                                      <p:cBhvr>
                                        <p:cTn id="79" dur="1" fill="hold">
                                          <p:stCondLst>
                                            <p:cond delay="0"/>
                                          </p:stCondLst>
                                        </p:cTn>
                                        <p:tgtEl>
                                          <p:spTgt spid="29"/>
                                        </p:tgtEl>
                                        <p:attrNameLst>
                                          <p:attrName>style.visibility</p:attrName>
                                        </p:attrNameLst>
                                      </p:cBhvr>
                                      <p:to>
                                        <p:strVal val="visible"/>
                                      </p:to>
                                    </p:set>
                                    <p:animEffect transition="in" filter="fade">
                                      <p:cBhvr>
                                        <p:cTn id="80" dur="6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4" grpId="0" animBg="1"/>
      <p:bldP spid="15" grpId="0" animBg="1"/>
      <p:bldP spid="16" grpId="0" animBg="1"/>
      <p:bldP spid="17" grpId="0"/>
      <p:bldP spid="18" grpId="0"/>
      <p:bldP spid="25" grpId="0"/>
      <p:bldP spid="19" grpId="0" animBg="1"/>
      <p:bldP spid="20" grpId="0" animBg="1"/>
      <p:bldP spid="21" grpId="0" animBg="1"/>
      <p:bldP spid="22" grpId="0"/>
      <p:bldP spid="23" grpId="0"/>
      <p:bldP spid="26" grpId="0" animBg="1"/>
      <p:bldP spid="27" grpId="0" animBg="1"/>
      <p:bldP spid="28" grpId="0" animBg="1"/>
      <p:bldP spid="29" grpId="0"/>
    </p:bld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8F3"/>
        </a:solidFill>
        <a:effectLst/>
      </p:bgPr>
    </p:bg>
    <p:spTree>
      <p:nvGrpSpPr>
        <p:cNvPr id="1" name=""/>
        <p:cNvGrpSpPr/>
        <p:nvPr/>
      </p:nvGrpSpPr>
      <p:grpSpPr/>
      <p:sp>
        <p:nvSpPr>
          <p:cNvPr id="2" name="Trait or"/>
          <p:cNvSpPr/>
          <p:nvPr/>
        </p:nvSpPr>
        <p:spPr>
          <a:xfrm>
            <a:off x="609600" y="444500"/>
            <a:ext cx="406400" cy="38100"/>
          </a:xfrm>
          <a:prstGeom prst="rect">
            <a:avLst/>
          </a:prstGeom>
          <a:solidFill>
            <a:srgbClr val="D3A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brique"/>
          <p:cNvSpPr txBox="1"/>
          <p:nvPr/>
        </p:nvSpPr>
        <p:spPr>
          <a:xfrm>
            <a:off x="609600" y="508000"/>
            <a:ext cx="10160000" cy="304800"/>
          </a:xfrm>
          <a:prstGeom prst="rect">
            <a:avLst/>
          </a:prstGeom>
          <a:noFill/>
        </p:spPr>
        <p:txBody>
          <a:bodyPr wrap="square" lIns="0" tIns="0" rIns="0" bIns="0" anchor="ctr">
            <a:noAutofit/>
          </a:bodyPr>
          <a:lstStyle/>
          <a:p>
            <a:pPr algn="l">
              <a:lnSpc>
                <a:spcPct val="100000"/>
              </a:lnSpc>
              <a:spcBef>
                <a:spcPts val="0"/>
              </a:spcBef>
              <a:spcAft>
                <a:spcPts val="0"/>
              </a:spcAft>
            </a:pPr>
            <a:r>
              <a:rPr sz="2000" b="1" i="0" lang="fr-FR" spc="150">
                <a:solidFill>
                  <a:srgbClr val="1E7B67"/>
                </a:solidFill>
                <a:latin typeface="Calibri"/>
              </a:rPr>
              <a:t>06 / LES SIMULATIONS</a:t>
            </a:r>
          </a:p>
        </p:txBody>
      </p:sp>
      <p:sp>
        <p:nvSpPr>
          <p:cNvPr id="4" name="Titre"/>
          <p:cNvSpPr txBox="1"/>
          <p:nvPr/>
        </p:nvSpPr>
        <p:spPr>
          <a:xfrm>
            <a:off x="609600" y="774700"/>
            <a:ext cx="10972800" cy="609600"/>
          </a:xfrm>
          <a:prstGeom prst="rect">
            <a:avLst/>
          </a:prstGeom>
          <a:noFill/>
        </p:spPr>
        <p:txBody>
          <a:bodyPr wrap="square" lIns="0" tIns="0" rIns="0" bIns="0" anchor="ctr">
            <a:noAutofit/>
          </a:bodyPr>
          <a:lstStyle/>
          <a:p>
            <a:pPr algn="l">
              <a:lnSpc>
                <a:spcPct val="100000"/>
              </a:lnSpc>
              <a:spcBef>
                <a:spcPts val="0"/>
              </a:spcBef>
              <a:spcAft>
                <a:spcPts val="0"/>
              </a:spcAft>
            </a:pPr>
            <a:r>
              <a:rPr sz="4000" b="1" i="0" lang="fr-FR">
                <a:solidFill>
                  <a:srgbClr val="12264A"/>
                </a:solidFill>
                <a:latin typeface="Calibri"/>
              </a:rPr>
              <a:t>Simulations 2028 et 2029</a:t>
            </a:r>
          </a:p>
        </p:txBody>
      </p:sp>
      <p:sp>
        <p:nvSpPr>
          <p:cNvPr id="5" name="Accroche"/>
          <p:cNvSpPr txBox="1"/>
          <p:nvPr/>
        </p:nvSpPr>
        <p:spPr>
          <a:xfrm>
            <a:off x="609600" y="1358900"/>
            <a:ext cx="10972800" cy="355600"/>
          </a:xfrm>
          <a:prstGeom prst="rect">
            <a:avLst/>
          </a:prstGeom>
          <a:noFill/>
        </p:spPr>
        <p:txBody>
          <a:bodyPr wrap="square" lIns="0" tIns="0" rIns="0" bIns="0" anchor="t">
            <a:noAutofit/>
          </a:bodyPr>
          <a:lstStyle/>
          <a:p>
            <a:pPr algn="l">
              <a:lnSpc>
                <a:spcPct val="100000"/>
              </a:lnSpc>
              <a:spcBef>
                <a:spcPts val="0"/>
              </a:spcBef>
              <a:spcAft>
                <a:spcPts val="0"/>
              </a:spcAft>
            </a:pPr>
            <a:r>
              <a:rPr sz="2200" b="0" i="0" lang="fr-FR">
                <a:solidFill>
                  <a:srgbClr val="1B2A41"/>
                </a:solidFill>
                <a:latin typeface="Calibri"/>
              </a:rPr>
              <a:t>Contribution simulée par mine, en millions USD.</a:t>
            </a:r>
          </a:p>
        </p:txBody>
      </p:sp>
      <p:sp>
        <p:nvSpPr>
          <p:cNvPr id="6" name="Note prospective"/>
          <p:cNvSpPr txBox="1"/>
          <p:nvPr/>
        </p:nvSpPr>
        <p:spPr>
          <a:xfrm>
            <a:off x="609600" y="6032500"/>
            <a:ext cx="10972800" cy="228600"/>
          </a:xfrm>
          <a:prstGeom prst="rect">
            <a:avLst/>
          </a:prstGeom>
          <a:noFill/>
        </p:spPr>
        <p:txBody>
          <a:bodyPr wrap="square" lIns="0" tIns="0" rIns="0" bIns="0" anchor="ctr">
            <a:noAutofit/>
          </a:bodyPr>
          <a:lstStyle/>
          <a:p>
            <a:pPr algn="l">
              <a:lnSpc>
                <a:spcPct val="100000"/>
              </a:lnSpc>
              <a:spcBef>
                <a:spcPts val="0"/>
              </a:spcBef>
              <a:spcAft>
                <a:spcPts val="0"/>
              </a:spcAft>
            </a:pPr>
            <a:r>
              <a:rPr sz="1600" b="0" i="1" lang="fr-FR">
                <a:solidFill>
                  <a:srgbClr val="1B2A41"/>
                </a:solidFill>
                <a:latin typeface="Calibri"/>
              </a:rPr>
              <a:t>Projections prospectives du dossier FUTURA-Kouroussa, hypothèse 4 400 USD l’once, non vérifiées de façon indépendante.</a:t>
            </a:r>
          </a:p>
        </p:txBody>
      </p:sp>
      <p:sp>
        <p:nvSpPr>
          <p:cNvPr id="7" name="Pied de page"/>
          <p:cNvSpPr txBox="1"/>
          <p:nvPr/>
        </p:nvSpPr>
        <p:spPr>
          <a:xfrm>
            <a:off x="609600" y="6413500"/>
            <a:ext cx="4826000" cy="241300"/>
          </a:xfrm>
          <a:prstGeom prst="rect">
            <a:avLst/>
          </a:prstGeom>
          <a:noFill/>
        </p:spPr>
        <p:txBody>
          <a:bodyPr wrap="square" lIns="0" tIns="0" rIns="0" bIns="0" anchor="ctr">
            <a:noAutofit/>
          </a:bodyPr>
          <a:lstStyle/>
          <a:p>
            <a:pPr algn="l">
              <a:lnSpc>
                <a:spcPct val="100000"/>
              </a:lnSpc>
              <a:spcBef>
                <a:spcPts val="0"/>
              </a:spcBef>
              <a:spcAft>
                <a:spcPts val="0"/>
              </a:spcAft>
            </a:pPr>
            <a:r>
              <a:rPr sz="1400" b="1" i="0" lang="fr-FR" spc="50">
                <a:solidFill>
                  <a:srgbClr val="1B2A41"/>
                </a:solidFill>
                <a:latin typeface="Calibri"/>
              </a:rPr>
              <a:t>FUTURA - KOUROUSSA | Octobre 2026</a:t>
            </a:r>
          </a:p>
        </p:txBody>
      </p:sp>
      <p:sp>
        <p:nvSpPr>
          <p:cNvPr id="8" name="Pied bandeau"/>
          <p:cNvSpPr/>
          <p:nvPr/>
        </p:nvSpPr>
        <p:spPr>
          <a:xfrm>
            <a:off x="9069742" y="6350000"/>
            <a:ext cx="2512658" cy="355600"/>
          </a:xfrm>
          <a:prstGeom prst="roundRect">
            <a:avLst>
              <a:gd name="adj" fmla="val 42857"/>
            </a:avLst>
          </a:prstGeom>
          <a:solidFill>
            <a:srgbClr val="FFFFFF"/>
          </a:solidFill>
          <a:ln w="9525">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ed logo futura-kouroussa" descr="futura-kouroussa.png"/>
          <p:cNvPicPr>
            <a:picLocks noChangeAspect="1"/>
          </p:cNvPicPr>
          <p:nvPr/>
        </p:nvPicPr>
        <p:blipFill>
          <a:blip r:embed="rId2"/>
          <a:stretch>
            <a:fillRect/>
          </a:stretch>
        </p:blipFill>
        <p:spPr>
          <a:xfrm>
            <a:off x="9184042" y="6419850"/>
            <a:ext cx="391970" cy="215900"/>
          </a:xfrm>
          <a:prstGeom prst="rect">
            <a:avLst/>
          </a:prstGeom>
        </p:spPr>
      </p:pic>
      <p:pic>
        <p:nvPicPr>
          <p:cNvPr id="10" name="Pied logo republique-de-guinee-armoiries" descr="republique-de-guinee-armoiries.png"/>
          <p:cNvPicPr>
            <a:picLocks noChangeAspect="1"/>
          </p:cNvPicPr>
          <p:nvPr/>
        </p:nvPicPr>
        <p:blipFill>
          <a:blip r:embed="rId3"/>
          <a:stretch>
            <a:fillRect/>
          </a:stretch>
        </p:blipFill>
        <p:spPr>
          <a:xfrm>
            <a:off x="9664912" y="6419850"/>
            <a:ext cx="179814" cy="215900"/>
          </a:xfrm>
          <a:prstGeom prst="rect">
            <a:avLst/>
          </a:prstGeom>
        </p:spPr>
      </p:pic>
      <p:pic>
        <p:nvPicPr>
          <p:cNvPr id="11" name="Pied logo assemblee-nationale" descr="assemblee-nationale.png"/>
          <p:cNvPicPr>
            <a:picLocks noChangeAspect="1"/>
          </p:cNvPicPr>
          <p:nvPr/>
        </p:nvPicPr>
        <p:blipFill>
          <a:blip r:embed="rId4"/>
          <a:stretch>
            <a:fillRect/>
          </a:stretch>
        </p:blipFill>
        <p:spPr>
          <a:xfrm>
            <a:off x="9933626" y="6419850"/>
            <a:ext cx="217442" cy="215900"/>
          </a:xfrm>
          <a:prstGeom prst="rect">
            <a:avLst/>
          </a:prstGeom>
        </p:spPr>
      </p:pic>
      <p:pic>
        <p:nvPicPr>
          <p:cNvPr id="12" name="Pied logo simandou-2040" descr="simandou-2040.png"/>
          <p:cNvPicPr>
            <a:picLocks noChangeAspect="1"/>
          </p:cNvPicPr>
          <p:nvPr/>
        </p:nvPicPr>
        <p:blipFill>
          <a:blip r:embed="rId5"/>
          <a:stretch>
            <a:fillRect/>
          </a:stretch>
        </p:blipFill>
        <p:spPr>
          <a:xfrm>
            <a:off x="10239968" y="6419850"/>
            <a:ext cx="674774" cy="215900"/>
          </a:xfrm>
          <a:prstGeom prst="rect">
            <a:avLst/>
          </a:prstGeom>
        </p:spPr>
      </p:pic>
      <p:pic>
        <p:nvPicPr>
          <p:cNvPr id="13" name="Pied logo guinee" descr="guinee.png"/>
          <p:cNvPicPr>
            <a:picLocks noChangeAspect="1"/>
          </p:cNvPicPr>
          <p:nvPr/>
        </p:nvPicPr>
        <p:blipFill>
          <a:blip r:embed="rId6"/>
          <a:stretch>
            <a:fillRect/>
          </a:stretch>
        </p:blipFill>
        <p:spPr>
          <a:xfrm>
            <a:off x="11003643" y="6419850"/>
            <a:ext cx="464457" cy="215900"/>
          </a:xfrm>
          <a:prstGeom prst="rect">
            <a:avLst/>
          </a:prstGeom>
        </p:spPr>
      </p:pic>
      <p:sp>
        <p:nvSpPr>
          <p:cNvPr id="14" name="Numéro"/>
          <p:cNvSpPr txBox="1"/>
          <p:nvPr/>
        </p:nvSpPr>
        <p:spPr>
          <a:xfrm>
            <a:off x="7990242" y="6413500"/>
            <a:ext cx="952500" cy="241300"/>
          </a:xfrm>
          <a:prstGeom prst="rect">
            <a:avLst/>
          </a:prstGeom>
          <a:noFill/>
        </p:spPr>
        <p:txBody>
          <a:bodyPr wrap="square" lIns="0" tIns="0" rIns="0" bIns="0" anchor="ctr">
            <a:noAutofit/>
          </a:bodyPr>
          <a:lstStyle/>
          <a:p>
            <a:pPr algn="r">
              <a:lnSpc>
                <a:spcPct val="100000"/>
              </a:lnSpc>
              <a:spcBef>
                <a:spcPts val="0"/>
              </a:spcBef>
              <a:spcAft>
                <a:spcPts val="0"/>
              </a:spcAft>
            </a:pPr>
            <a:r>
              <a:rPr sz="1400" b="1" i="0" lang="fr-FR">
                <a:solidFill>
                  <a:srgbClr val="12264A"/>
                </a:solidFill>
                <a:latin typeface="Calibri"/>
              </a:rPr>
              <a:t>07 / 15</a:t>
            </a:r>
          </a:p>
        </p:txBody>
      </p:sp>
      <p:sp>
        <p:nvSpPr>
          <p:cNvPr id="15" name="s07 année 2028"/>
          <p:cNvSpPr txBox="1"/>
          <p:nvPr/>
        </p:nvSpPr>
        <p:spPr>
          <a:xfrm>
            <a:off x="609600" y="1816100"/>
            <a:ext cx="7620000" cy="317500"/>
          </a:xfrm>
          <a:prstGeom prst="rect">
            <a:avLst/>
          </a:prstGeom>
          <a:noFill/>
        </p:spPr>
        <p:txBody>
          <a:bodyPr wrap="square" lIns="0" tIns="0" rIns="0" bIns="0" anchor="ctr">
            <a:noAutofit/>
          </a:bodyPr>
          <a:lstStyle/>
          <a:p>
            <a:pPr algn="l">
              <a:lnSpc>
                <a:spcPct val="100000"/>
              </a:lnSpc>
              <a:spcBef>
                <a:spcPts val="0"/>
              </a:spcBef>
              <a:spcAft>
                <a:spcPts val="0"/>
              </a:spcAft>
            </a:pPr>
            <a:r>
              <a:rPr sz="2800" b="1" i="0" lang="fr-FR">
                <a:solidFill>
                  <a:srgbClr val="12264A"/>
                </a:solidFill>
                <a:latin typeface="Calibri"/>
              </a:rPr>
              <a:t>2028</a:t>
            </a:r>
          </a:p>
        </p:txBody>
      </p:sp>
      <p:graphicFrame>
        <p:nvGraphicFramePr>
          <p:cNvPr id="16" name="s07 tableau 2028"/>
          <p:cNvGraphicFramePr>
            <a:graphicFrameLocks noGrp="1"/>
          </p:cNvGraphicFramePr>
          <p:nvPr/>
        </p:nvGraphicFramePr>
        <p:xfrm>
          <a:off x="609600" y="2159000"/>
          <a:ext cx="7620000" cy="1511300"/>
        </p:xfrm>
        <a:graphic>
          <a:graphicData uri="http://schemas.openxmlformats.org/drawingml/2006/table">
            <a:tbl>
              <a:tblPr firstRow="1">
                <a:tableStyleId>{5C22544A-7EE6-4342-B048-85BDC9FD1C3A}</a:tableStyleId>
              </a:tblPr>
              <a:tblGrid>
                <a:gridCol w="1651000"/>
                <a:gridCol w="1270000"/>
                <a:gridCol w="1651000"/>
                <a:gridCol w="1270000"/>
                <a:gridCol w="1778000"/>
              </a:tblGrid>
              <a:tr h="368300">
                <a:tc>
                  <a:txBody>
                    <a:bodyPr wrap="square" lIns="101600" tIns="0" rIns="101600" bIns="0" anchor="ctr">
                      <a:noAutofit/>
                    </a:bodyPr>
                    <a:lstStyle/>
                    <a:p>
                      <a:pPr algn="l">
                        <a:lnSpc>
                          <a:spcPct val="100000"/>
                        </a:lnSpc>
                        <a:spcBef>
                          <a:spcPts val="0"/>
                        </a:spcBef>
                        <a:spcAft>
                          <a:spcPts val="0"/>
                        </a:spcAft>
                      </a:pPr>
                      <a:r>
                        <a:rPr sz="2000" b="1" i="0" lang="fr-FR">
                          <a:solidFill>
                            <a:srgbClr val="FFFFFF"/>
                          </a:solidFill>
                          <a:latin typeface="Calibri"/>
                        </a:rPr>
                        <a:t>Mine</a:t>
                      </a:r>
                    </a:p>
                  </a:txBody>
                  <a:tcPr marL="101600" marR="101600" anchor="ctr">
                    <a:solidFill>
                      <a:srgbClr val="12264A"/>
                    </a:solidFill>
                  </a:tcPr>
                </a:tc>
                <a:tc>
                  <a:txBody>
                    <a:bodyPr wrap="square" lIns="101600" tIns="0" rIns="101600" bIns="0" anchor="ctr">
                      <a:noAutofit/>
                    </a:bodyPr>
                    <a:lstStyle/>
                    <a:p>
                      <a:pPr algn="r">
                        <a:lnSpc>
                          <a:spcPct val="100000"/>
                        </a:lnSpc>
                        <a:spcBef>
                          <a:spcPts val="0"/>
                        </a:spcBef>
                        <a:spcAft>
                          <a:spcPts val="0"/>
                        </a:spcAft>
                      </a:pPr>
                      <a:r>
                        <a:rPr sz="2000" b="1" i="0" lang="fr-FR">
                          <a:solidFill>
                            <a:srgbClr val="FFFFFF"/>
                          </a:solidFill>
                          <a:latin typeface="Calibri"/>
                        </a:rPr>
                        <a:t>CA</a:t>
                      </a:r>
                    </a:p>
                  </a:txBody>
                  <a:tcPr marL="101600" marR="101600" anchor="ctr">
                    <a:solidFill>
                      <a:srgbClr val="12264A"/>
                    </a:solidFill>
                  </a:tcPr>
                </a:tc>
                <a:tc>
                  <a:txBody>
                    <a:bodyPr wrap="square" lIns="101600" tIns="0" rIns="101600" bIns="0" anchor="ctr">
                      <a:noAutofit/>
                    </a:bodyPr>
                    <a:lstStyle/>
                    <a:p>
                      <a:pPr algn="r">
                        <a:lnSpc>
                          <a:spcPct val="100000"/>
                        </a:lnSpc>
                        <a:spcBef>
                          <a:spcPts val="0"/>
                        </a:spcBef>
                        <a:spcAft>
                          <a:spcPts val="0"/>
                        </a:spcAft>
                      </a:pPr>
                      <a:r>
                        <a:rPr sz="2000" b="1" i="0" lang="fr-FR">
                          <a:solidFill>
                            <a:srgbClr val="FFFFFF"/>
                          </a:solidFill>
                          <a:latin typeface="Calibri"/>
                        </a:rPr>
                        <a:t>Résultat net</a:t>
                      </a:r>
                    </a:p>
                  </a:txBody>
                  <a:tcPr marL="101600" marR="101600" anchor="ctr">
                    <a:solidFill>
                      <a:srgbClr val="12264A"/>
                    </a:solidFill>
                  </a:tcPr>
                </a:tc>
                <a:tc>
                  <a:txBody>
                    <a:bodyPr wrap="square" lIns="101600" tIns="0" rIns="101600" bIns="0" anchor="ctr">
                      <a:noAutofit/>
                    </a:bodyPr>
                    <a:lstStyle/>
                    <a:p>
                      <a:pPr algn="r">
                        <a:lnSpc>
                          <a:spcPct val="100000"/>
                        </a:lnSpc>
                        <a:spcBef>
                          <a:spcPts val="0"/>
                        </a:spcBef>
                        <a:spcAft>
                          <a:spcPts val="0"/>
                        </a:spcAft>
                      </a:pPr>
                      <a:r>
                        <a:rPr sz="2000" b="1" i="0" lang="fr-FR">
                          <a:solidFill>
                            <a:srgbClr val="FFFFFF"/>
                          </a:solidFill>
                          <a:latin typeface="Calibri"/>
                        </a:rPr>
                        <a:t>Taux</a:t>
                      </a:r>
                    </a:p>
                  </a:txBody>
                  <a:tcPr marL="101600" marR="101600" anchor="ctr">
                    <a:solidFill>
                      <a:srgbClr val="12264A"/>
                    </a:solidFill>
                  </a:tcPr>
                </a:tc>
                <a:tc>
                  <a:txBody>
                    <a:bodyPr wrap="square" lIns="101600" tIns="0" rIns="101600" bIns="0" anchor="ctr">
                      <a:noAutofit/>
                    </a:bodyPr>
                    <a:lstStyle/>
                    <a:p>
                      <a:pPr algn="r">
                        <a:lnSpc>
                          <a:spcPct val="100000"/>
                        </a:lnSpc>
                        <a:spcBef>
                          <a:spcPts val="0"/>
                        </a:spcBef>
                        <a:spcAft>
                          <a:spcPts val="0"/>
                        </a:spcAft>
                      </a:pPr>
                      <a:r>
                        <a:rPr sz="2000" b="1" i="0" lang="fr-FR">
                          <a:solidFill>
                            <a:srgbClr val="FFFFFF"/>
                          </a:solidFill>
                          <a:latin typeface="Calibri"/>
                        </a:rPr>
                        <a:t>Contribution</a:t>
                      </a:r>
                    </a:p>
                  </a:txBody>
                  <a:tcPr marL="101600" marR="101600" anchor="ctr">
                    <a:solidFill>
                      <a:srgbClr val="12264A"/>
                    </a:solidFill>
                  </a:tcPr>
                </a:tc>
              </a:tr>
              <a:tr h="381000">
                <a:tc>
                  <a:txBody>
                    <a:bodyPr wrap="square" lIns="101600" tIns="0" rIns="101600" bIns="0" anchor="ctr">
                      <a:noAutofit/>
                    </a:bodyPr>
                    <a:lstStyle/>
                    <a:p>
                      <a:pPr algn="l">
                        <a:lnSpc>
                          <a:spcPct val="100000"/>
                        </a:lnSpc>
                        <a:spcBef>
                          <a:spcPts val="0"/>
                        </a:spcBef>
                        <a:spcAft>
                          <a:spcPts val="0"/>
                        </a:spcAft>
                      </a:pPr>
                      <a:r>
                        <a:rPr sz="2000" b="1" i="0" lang="fr-FR">
                          <a:solidFill>
                            <a:srgbClr val="1B2A41"/>
                          </a:solidFill>
                          <a:latin typeface="Calibri"/>
                        </a:rPr>
                        <a:t>KGM</a:t>
                      </a:r>
                    </a:p>
                  </a:txBody>
                  <a:tcPr marL="101600" marR="101600" anchor="ctr">
                    <a:solidFill>
                      <a:srgbClr val="FFFFFF"/>
                    </a:solidFill>
                  </a:tcPr>
                </a:tc>
                <a:tc>
                  <a:txBody>
                    <a:bodyPr wrap="square" lIns="101600" tIns="0" rIns="101600" bIns="0" anchor="ctr">
                      <a:noAutofit/>
                    </a:bodyPr>
                    <a:lstStyle/>
                    <a:p>
                      <a:pPr algn="r">
                        <a:lnSpc>
                          <a:spcPct val="100000"/>
                        </a:lnSpc>
                        <a:spcBef>
                          <a:spcPts val="0"/>
                        </a:spcBef>
                        <a:spcAft>
                          <a:spcPts val="0"/>
                        </a:spcAft>
                      </a:pPr>
                      <a:r>
                        <a:rPr sz="2000" b="0" i="0" lang="fr-FR">
                          <a:solidFill>
                            <a:srgbClr val="1B2A41"/>
                          </a:solidFill>
                          <a:latin typeface="Calibri"/>
                        </a:rPr>
                        <a:t>572</a:t>
                      </a:r>
                    </a:p>
                  </a:txBody>
                  <a:tcPr marL="101600" marR="101600" anchor="ctr">
                    <a:solidFill>
                      <a:srgbClr val="FFFFFF"/>
                    </a:solidFill>
                  </a:tcPr>
                </a:tc>
                <a:tc>
                  <a:txBody>
                    <a:bodyPr wrap="square" lIns="101600" tIns="0" rIns="101600" bIns="0" anchor="ctr">
                      <a:noAutofit/>
                    </a:bodyPr>
                    <a:lstStyle/>
                    <a:p>
                      <a:pPr algn="r">
                        <a:lnSpc>
                          <a:spcPct val="100000"/>
                        </a:lnSpc>
                        <a:spcBef>
                          <a:spcPts val="0"/>
                        </a:spcBef>
                        <a:spcAft>
                          <a:spcPts val="0"/>
                        </a:spcAft>
                      </a:pPr>
                      <a:r>
                        <a:rPr sz="2000" b="0" i="0" lang="fr-FR">
                          <a:solidFill>
                            <a:srgbClr val="1B2A41"/>
                          </a:solidFill>
                          <a:latin typeface="Calibri"/>
                        </a:rPr>
                        <a:t>165</a:t>
                      </a:r>
                    </a:p>
                  </a:txBody>
                  <a:tcPr marL="101600" marR="101600" anchor="ctr">
                    <a:solidFill>
                      <a:srgbClr val="FFFFFF"/>
                    </a:solidFill>
                  </a:tcPr>
                </a:tc>
                <a:tc>
                  <a:txBody>
                    <a:bodyPr wrap="square" lIns="101600" tIns="0" rIns="101600" bIns="0" anchor="ctr">
                      <a:noAutofit/>
                    </a:bodyPr>
                    <a:lstStyle/>
                    <a:p>
                      <a:pPr algn="r">
                        <a:lnSpc>
                          <a:spcPct val="100000"/>
                        </a:lnSpc>
                        <a:spcBef>
                          <a:spcPts val="0"/>
                        </a:spcBef>
                        <a:spcAft>
                          <a:spcPts val="0"/>
                        </a:spcAft>
                      </a:pPr>
                      <a:r>
                        <a:rPr sz="2000" b="0" i="0" lang="fr-FR">
                          <a:solidFill>
                            <a:srgbClr val="1B2A41"/>
                          </a:solidFill>
                          <a:latin typeface="Calibri"/>
                        </a:rPr>
                        <a:t>1 %</a:t>
                      </a:r>
                    </a:p>
                  </a:txBody>
                  <a:tcPr marL="101600" marR="101600" anchor="ctr">
                    <a:solidFill>
                      <a:srgbClr val="FFFFFF"/>
                    </a:solidFill>
                  </a:tcPr>
                </a:tc>
                <a:tc>
                  <a:txBody>
                    <a:bodyPr wrap="square" lIns="101600" tIns="0" rIns="101600" bIns="0" anchor="ctr">
                      <a:noAutofit/>
                    </a:bodyPr>
                    <a:lstStyle/>
                    <a:p>
                      <a:pPr algn="r">
                        <a:lnSpc>
                          <a:spcPct val="100000"/>
                        </a:lnSpc>
                        <a:spcBef>
                          <a:spcPts val="0"/>
                        </a:spcBef>
                        <a:spcAft>
                          <a:spcPts val="0"/>
                        </a:spcAft>
                      </a:pPr>
                      <a:r>
                        <a:rPr sz="2000" b="1" i="0" lang="fr-FR">
                          <a:solidFill>
                            <a:srgbClr val="12264A"/>
                          </a:solidFill>
                          <a:latin typeface="Calibri"/>
                        </a:rPr>
                        <a:t>5,7</a:t>
                      </a:r>
                    </a:p>
                  </a:txBody>
                  <a:tcPr marL="101600" marR="101600" anchor="ctr">
                    <a:solidFill>
                      <a:srgbClr val="FFFFFF"/>
                    </a:solidFill>
                  </a:tcPr>
                </a:tc>
              </a:tr>
              <a:tr h="381000">
                <a:tc>
                  <a:txBody>
                    <a:bodyPr wrap="square" lIns="101600" tIns="0" rIns="101600" bIns="0" anchor="ctr">
                      <a:noAutofit/>
                    </a:bodyPr>
                    <a:lstStyle/>
                    <a:p>
                      <a:pPr algn="l">
                        <a:lnSpc>
                          <a:spcPct val="100000"/>
                        </a:lnSpc>
                        <a:spcBef>
                          <a:spcPts val="0"/>
                        </a:spcBef>
                        <a:spcAft>
                          <a:spcPts val="0"/>
                        </a:spcAft>
                      </a:pPr>
                      <a:r>
                        <a:rPr sz="2000" b="1" i="0" lang="fr-FR">
                          <a:solidFill>
                            <a:srgbClr val="1B2A41"/>
                          </a:solidFill>
                          <a:latin typeface="Calibri"/>
                        </a:rPr>
                        <a:t>Kiniero</a:t>
                      </a:r>
                    </a:p>
                  </a:txBody>
                  <a:tcPr marL="101600" marR="101600" anchor="ctr">
                    <a:solidFill>
                      <a:srgbClr val="F3EFE6"/>
                    </a:solidFill>
                  </a:tcPr>
                </a:tc>
                <a:tc>
                  <a:txBody>
                    <a:bodyPr wrap="square" lIns="101600" tIns="0" rIns="101600" bIns="0" anchor="ctr">
                      <a:noAutofit/>
                    </a:bodyPr>
                    <a:lstStyle/>
                    <a:p>
                      <a:pPr algn="r">
                        <a:lnSpc>
                          <a:spcPct val="100000"/>
                        </a:lnSpc>
                        <a:spcBef>
                          <a:spcPts val="0"/>
                        </a:spcBef>
                        <a:spcAft>
                          <a:spcPts val="0"/>
                        </a:spcAft>
                      </a:pPr>
                      <a:r>
                        <a:rPr sz="2000" b="0" i="0" lang="fr-FR">
                          <a:solidFill>
                            <a:srgbClr val="1B2A41"/>
                          </a:solidFill>
                          <a:latin typeface="Calibri"/>
                        </a:rPr>
                        <a:t>726</a:t>
                      </a:r>
                    </a:p>
                  </a:txBody>
                  <a:tcPr marL="101600" marR="101600" anchor="ctr">
                    <a:solidFill>
                      <a:srgbClr val="F3EFE6"/>
                    </a:solidFill>
                  </a:tcPr>
                </a:tc>
                <a:tc>
                  <a:txBody>
                    <a:bodyPr wrap="square" lIns="101600" tIns="0" rIns="101600" bIns="0" anchor="ctr">
                      <a:noAutofit/>
                    </a:bodyPr>
                    <a:lstStyle/>
                    <a:p>
                      <a:pPr algn="r">
                        <a:lnSpc>
                          <a:spcPct val="100000"/>
                        </a:lnSpc>
                        <a:spcBef>
                          <a:spcPts val="0"/>
                        </a:spcBef>
                        <a:spcAft>
                          <a:spcPts val="0"/>
                        </a:spcAft>
                      </a:pPr>
                      <a:r>
                        <a:rPr sz="2000" b="0" i="0" lang="fr-FR">
                          <a:solidFill>
                            <a:srgbClr val="1B2A41"/>
                          </a:solidFill>
                          <a:latin typeface="Calibri"/>
                        </a:rPr>
                        <a:t>395</a:t>
                      </a:r>
                    </a:p>
                  </a:txBody>
                  <a:tcPr marL="101600" marR="101600" anchor="ctr">
                    <a:solidFill>
                      <a:srgbClr val="F3EFE6"/>
                    </a:solidFill>
                  </a:tcPr>
                </a:tc>
                <a:tc>
                  <a:txBody>
                    <a:bodyPr wrap="square" lIns="101600" tIns="0" rIns="101600" bIns="0" anchor="ctr">
                      <a:noAutofit/>
                    </a:bodyPr>
                    <a:lstStyle/>
                    <a:p>
                      <a:pPr algn="r">
                        <a:lnSpc>
                          <a:spcPct val="100000"/>
                        </a:lnSpc>
                        <a:spcBef>
                          <a:spcPts val="0"/>
                        </a:spcBef>
                        <a:spcAft>
                          <a:spcPts val="0"/>
                        </a:spcAft>
                      </a:pPr>
                      <a:r>
                        <a:rPr sz="2000" b="0" i="0" lang="fr-FR">
                          <a:solidFill>
                            <a:srgbClr val="1B2A41"/>
                          </a:solidFill>
                          <a:latin typeface="Calibri"/>
                        </a:rPr>
                        <a:t>1,5 %</a:t>
                      </a:r>
                    </a:p>
                  </a:txBody>
                  <a:tcPr marL="101600" marR="101600" anchor="ctr">
                    <a:solidFill>
                      <a:srgbClr val="F3EFE6"/>
                    </a:solidFill>
                  </a:tcPr>
                </a:tc>
                <a:tc>
                  <a:txBody>
                    <a:bodyPr wrap="square" lIns="101600" tIns="0" rIns="101600" bIns="0" anchor="ctr">
                      <a:noAutofit/>
                    </a:bodyPr>
                    <a:lstStyle/>
                    <a:p>
                      <a:pPr algn="r">
                        <a:lnSpc>
                          <a:spcPct val="100000"/>
                        </a:lnSpc>
                        <a:spcBef>
                          <a:spcPts val="0"/>
                        </a:spcBef>
                        <a:spcAft>
                          <a:spcPts val="0"/>
                        </a:spcAft>
                      </a:pPr>
                      <a:r>
                        <a:rPr sz="2000" b="1" i="0" lang="fr-FR">
                          <a:solidFill>
                            <a:srgbClr val="12264A"/>
                          </a:solidFill>
                          <a:latin typeface="Calibri"/>
                        </a:rPr>
                        <a:t>10,9</a:t>
                      </a:r>
                    </a:p>
                  </a:txBody>
                  <a:tcPr marL="101600" marR="101600" anchor="ctr">
                    <a:solidFill>
                      <a:srgbClr val="F3EFE6"/>
                    </a:solidFill>
                  </a:tcPr>
                </a:tc>
              </a:tr>
              <a:tr h="381000">
                <a:tc>
                  <a:txBody>
                    <a:bodyPr wrap="square" lIns="101600" tIns="0" rIns="101600" bIns="0" anchor="ctr">
                      <a:noAutofit/>
                    </a:bodyPr>
                    <a:lstStyle/>
                    <a:p>
                      <a:pPr algn="l">
                        <a:lnSpc>
                          <a:spcPct val="100000"/>
                        </a:lnSpc>
                        <a:spcBef>
                          <a:spcPts val="0"/>
                        </a:spcBef>
                        <a:spcAft>
                          <a:spcPts val="0"/>
                        </a:spcAft>
                      </a:pPr>
                      <a:r>
                        <a:rPr sz="2000" b="1" i="0" lang="fr-FR">
                          <a:solidFill>
                            <a:srgbClr val="1B2A41"/>
                          </a:solidFill>
                          <a:latin typeface="Calibri"/>
                        </a:rPr>
                        <a:t>Bankan</a:t>
                      </a:r>
                    </a:p>
                  </a:txBody>
                  <a:tcPr marL="101600" marR="101600" anchor="ctr">
                    <a:solidFill>
                      <a:srgbClr val="FFFFFF"/>
                    </a:solidFill>
                  </a:tcPr>
                </a:tc>
                <a:tc>
                  <a:txBody>
                    <a:bodyPr wrap="square" lIns="101600" tIns="0" rIns="101600" bIns="0" anchor="ctr">
                      <a:noAutofit/>
                    </a:bodyPr>
                    <a:lstStyle/>
                    <a:p>
                      <a:pPr algn="r">
                        <a:lnSpc>
                          <a:spcPct val="100000"/>
                        </a:lnSpc>
                        <a:spcBef>
                          <a:spcPts val="0"/>
                        </a:spcBef>
                        <a:spcAft>
                          <a:spcPts val="0"/>
                        </a:spcAft>
                      </a:pPr>
                      <a:r>
                        <a:rPr sz="2000" b="0" i="0" lang="fr-FR">
                          <a:solidFill>
                            <a:srgbClr val="1B2A41"/>
                          </a:solidFill>
                          <a:latin typeface="Calibri"/>
                        </a:rPr>
                        <a:t>880</a:t>
                      </a:r>
                    </a:p>
                  </a:txBody>
                  <a:tcPr marL="101600" marR="101600" anchor="ctr">
                    <a:solidFill>
                      <a:srgbClr val="FFFFFF"/>
                    </a:solidFill>
                  </a:tcPr>
                </a:tc>
                <a:tc>
                  <a:txBody>
                    <a:bodyPr wrap="square" lIns="101600" tIns="0" rIns="101600" bIns="0" anchor="ctr">
                      <a:noAutofit/>
                    </a:bodyPr>
                    <a:lstStyle/>
                    <a:p>
                      <a:pPr algn="r">
                        <a:lnSpc>
                          <a:spcPct val="100000"/>
                        </a:lnSpc>
                        <a:spcBef>
                          <a:spcPts val="0"/>
                        </a:spcBef>
                        <a:spcAft>
                          <a:spcPts val="0"/>
                        </a:spcAft>
                      </a:pPr>
                      <a:r>
                        <a:rPr sz="2000" b="0" i="0" lang="fr-FR">
                          <a:solidFill>
                            <a:srgbClr val="1B2A41"/>
                          </a:solidFill>
                          <a:latin typeface="Calibri"/>
                        </a:rPr>
                        <a:t>710</a:t>
                      </a:r>
                    </a:p>
                  </a:txBody>
                  <a:tcPr marL="101600" marR="101600" anchor="ctr">
                    <a:solidFill>
                      <a:srgbClr val="FFFFFF"/>
                    </a:solidFill>
                  </a:tcPr>
                </a:tc>
                <a:tc>
                  <a:txBody>
                    <a:bodyPr wrap="square" lIns="101600" tIns="0" rIns="101600" bIns="0" anchor="ctr">
                      <a:noAutofit/>
                    </a:bodyPr>
                    <a:lstStyle/>
                    <a:p>
                      <a:pPr algn="r">
                        <a:lnSpc>
                          <a:spcPct val="100000"/>
                        </a:lnSpc>
                        <a:spcBef>
                          <a:spcPts val="0"/>
                        </a:spcBef>
                        <a:spcAft>
                          <a:spcPts val="0"/>
                        </a:spcAft>
                      </a:pPr>
                      <a:r>
                        <a:rPr sz="2000" b="0" i="0" lang="fr-FR">
                          <a:solidFill>
                            <a:srgbClr val="1B2A41"/>
                          </a:solidFill>
                          <a:latin typeface="Calibri"/>
                        </a:rPr>
                        <a:t>1,5 %</a:t>
                      </a:r>
                    </a:p>
                  </a:txBody>
                  <a:tcPr marL="101600" marR="101600" anchor="ctr">
                    <a:solidFill>
                      <a:srgbClr val="FFFFFF"/>
                    </a:solidFill>
                  </a:tcPr>
                </a:tc>
                <a:tc>
                  <a:txBody>
                    <a:bodyPr wrap="square" lIns="101600" tIns="0" rIns="101600" bIns="0" anchor="ctr">
                      <a:noAutofit/>
                    </a:bodyPr>
                    <a:lstStyle/>
                    <a:p>
                      <a:pPr algn="r">
                        <a:lnSpc>
                          <a:spcPct val="100000"/>
                        </a:lnSpc>
                        <a:spcBef>
                          <a:spcPts val="0"/>
                        </a:spcBef>
                        <a:spcAft>
                          <a:spcPts val="0"/>
                        </a:spcAft>
                      </a:pPr>
                      <a:r>
                        <a:rPr sz="2000" b="1" i="0" lang="fr-FR">
                          <a:solidFill>
                            <a:srgbClr val="12264A"/>
                          </a:solidFill>
                          <a:latin typeface="Calibri"/>
                        </a:rPr>
                        <a:t>13,2</a:t>
                      </a:r>
                    </a:p>
                  </a:txBody>
                  <a:tcPr marL="101600" marR="101600" anchor="ctr">
                    <a:solidFill>
                      <a:srgbClr val="FFFFFF"/>
                    </a:solidFill>
                  </a:tcPr>
                </a:tc>
              </a:tr>
            </a:tbl>
          </a:graphicData>
        </a:graphic>
      </p:graphicFrame>
      <p:sp>
        <p:nvSpPr>
          <p:cNvPr id="17" name="s07 total 2028"/>
          <p:cNvSpPr/>
          <p:nvPr/>
        </p:nvSpPr>
        <p:spPr>
          <a:xfrm>
            <a:off x="8483600" y="2159000"/>
            <a:ext cx="3098800" cy="1511300"/>
          </a:xfrm>
          <a:prstGeom prst="roundRect">
            <a:avLst>
              <a:gd name="adj" fmla="val 7563"/>
            </a:avLst>
          </a:prstGeom>
          <a:solidFill>
            <a:srgbClr val="1226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00000"/>
              </a:lnSpc>
              <a:spcBef>
                <a:spcPts val="0"/>
              </a:spcBef>
              <a:spcAft>
                <a:spcPts val="400"/>
              </a:spcAft>
            </a:pPr>
            <a:r>
              <a:rPr sz="2400" b="1" i="0" lang="fr-FR" spc="150">
                <a:solidFill>
                  <a:srgbClr val="FFFFFF"/>
                </a:solidFill>
                <a:latin typeface="Calibri"/>
              </a:rPr>
              <a:t>TOTAL 2028</a:t>
            </a:r>
          </a:p>
          <a:p>
            <a:pPr algn="ctr">
              <a:lnSpc>
                <a:spcPct val="100000"/>
              </a:lnSpc>
              <a:spcBef>
                <a:spcPts val="0"/>
              </a:spcBef>
              <a:spcAft>
                <a:spcPts val="0"/>
              </a:spcAft>
            </a:pPr>
            <a:r>
              <a:rPr sz="4800" b="1" i="0" lang="fr-FR">
                <a:solidFill>
                  <a:srgbClr val="D3A04D"/>
                </a:solidFill>
                <a:latin typeface="Calibri"/>
              </a:rPr>
              <a:t>29,8 M USD</a:t>
            </a:r>
          </a:p>
        </p:txBody>
      </p:sp>
      <p:sp>
        <p:nvSpPr>
          <p:cNvPr id="18" name="s07 année 2029"/>
          <p:cNvSpPr txBox="1"/>
          <p:nvPr/>
        </p:nvSpPr>
        <p:spPr>
          <a:xfrm>
            <a:off x="609600" y="3911600"/>
            <a:ext cx="7620000" cy="317500"/>
          </a:xfrm>
          <a:prstGeom prst="rect">
            <a:avLst/>
          </a:prstGeom>
          <a:noFill/>
        </p:spPr>
        <p:txBody>
          <a:bodyPr wrap="square" lIns="0" tIns="0" rIns="0" bIns="0" anchor="ctr">
            <a:noAutofit/>
          </a:bodyPr>
          <a:lstStyle/>
          <a:p>
            <a:pPr algn="l">
              <a:lnSpc>
                <a:spcPct val="100000"/>
              </a:lnSpc>
              <a:spcBef>
                <a:spcPts val="0"/>
              </a:spcBef>
              <a:spcAft>
                <a:spcPts val="0"/>
              </a:spcAft>
            </a:pPr>
            <a:r>
              <a:rPr sz="2800" b="1" i="0" lang="fr-FR">
                <a:solidFill>
                  <a:srgbClr val="12264A"/>
                </a:solidFill>
                <a:latin typeface="Calibri"/>
              </a:rPr>
              <a:t>2029</a:t>
            </a:r>
          </a:p>
        </p:txBody>
      </p:sp>
      <p:graphicFrame>
        <p:nvGraphicFramePr>
          <p:cNvPr id="19" name="s07 tableau 2029"/>
          <p:cNvGraphicFramePr>
            <a:graphicFrameLocks noGrp="1"/>
          </p:cNvGraphicFramePr>
          <p:nvPr/>
        </p:nvGraphicFramePr>
        <p:xfrm>
          <a:off x="609600" y="4254500"/>
          <a:ext cx="7620000" cy="1511300"/>
        </p:xfrm>
        <a:graphic>
          <a:graphicData uri="http://schemas.openxmlformats.org/drawingml/2006/table">
            <a:tbl>
              <a:tblPr firstRow="1">
                <a:tableStyleId>{5C22544A-7EE6-4342-B048-85BDC9FD1C3A}</a:tableStyleId>
              </a:tblPr>
              <a:tblGrid>
                <a:gridCol w="1651000"/>
                <a:gridCol w="1270000"/>
                <a:gridCol w="1651000"/>
                <a:gridCol w="1270000"/>
                <a:gridCol w="1778000"/>
              </a:tblGrid>
              <a:tr h="368300">
                <a:tc>
                  <a:txBody>
                    <a:bodyPr wrap="square" lIns="101600" tIns="0" rIns="101600" bIns="0" anchor="ctr">
                      <a:noAutofit/>
                    </a:bodyPr>
                    <a:lstStyle/>
                    <a:p>
                      <a:pPr algn="l">
                        <a:lnSpc>
                          <a:spcPct val="100000"/>
                        </a:lnSpc>
                        <a:spcBef>
                          <a:spcPts val="0"/>
                        </a:spcBef>
                        <a:spcAft>
                          <a:spcPts val="0"/>
                        </a:spcAft>
                      </a:pPr>
                      <a:r>
                        <a:rPr sz="2000" b="1" i="0" lang="fr-FR">
                          <a:solidFill>
                            <a:srgbClr val="FFFFFF"/>
                          </a:solidFill>
                          <a:latin typeface="Calibri"/>
                        </a:rPr>
                        <a:t>Mine</a:t>
                      </a:r>
                    </a:p>
                  </a:txBody>
                  <a:tcPr marL="101600" marR="101600" anchor="ctr">
                    <a:solidFill>
                      <a:srgbClr val="12264A"/>
                    </a:solidFill>
                  </a:tcPr>
                </a:tc>
                <a:tc>
                  <a:txBody>
                    <a:bodyPr wrap="square" lIns="101600" tIns="0" rIns="101600" bIns="0" anchor="ctr">
                      <a:noAutofit/>
                    </a:bodyPr>
                    <a:lstStyle/>
                    <a:p>
                      <a:pPr algn="r">
                        <a:lnSpc>
                          <a:spcPct val="100000"/>
                        </a:lnSpc>
                        <a:spcBef>
                          <a:spcPts val="0"/>
                        </a:spcBef>
                        <a:spcAft>
                          <a:spcPts val="0"/>
                        </a:spcAft>
                      </a:pPr>
                      <a:r>
                        <a:rPr sz="2000" b="1" i="0" lang="fr-FR">
                          <a:solidFill>
                            <a:srgbClr val="FFFFFF"/>
                          </a:solidFill>
                          <a:latin typeface="Calibri"/>
                        </a:rPr>
                        <a:t>CA</a:t>
                      </a:r>
                    </a:p>
                  </a:txBody>
                  <a:tcPr marL="101600" marR="101600" anchor="ctr">
                    <a:solidFill>
                      <a:srgbClr val="12264A"/>
                    </a:solidFill>
                  </a:tcPr>
                </a:tc>
                <a:tc>
                  <a:txBody>
                    <a:bodyPr wrap="square" lIns="101600" tIns="0" rIns="101600" bIns="0" anchor="ctr">
                      <a:noAutofit/>
                    </a:bodyPr>
                    <a:lstStyle/>
                    <a:p>
                      <a:pPr algn="r">
                        <a:lnSpc>
                          <a:spcPct val="100000"/>
                        </a:lnSpc>
                        <a:spcBef>
                          <a:spcPts val="0"/>
                        </a:spcBef>
                        <a:spcAft>
                          <a:spcPts val="0"/>
                        </a:spcAft>
                      </a:pPr>
                      <a:r>
                        <a:rPr sz="2000" b="1" i="0" lang="fr-FR">
                          <a:solidFill>
                            <a:srgbClr val="FFFFFF"/>
                          </a:solidFill>
                          <a:latin typeface="Calibri"/>
                        </a:rPr>
                        <a:t>Résultat net</a:t>
                      </a:r>
                    </a:p>
                  </a:txBody>
                  <a:tcPr marL="101600" marR="101600" anchor="ctr">
                    <a:solidFill>
                      <a:srgbClr val="12264A"/>
                    </a:solidFill>
                  </a:tcPr>
                </a:tc>
                <a:tc>
                  <a:txBody>
                    <a:bodyPr wrap="square" lIns="101600" tIns="0" rIns="101600" bIns="0" anchor="ctr">
                      <a:noAutofit/>
                    </a:bodyPr>
                    <a:lstStyle/>
                    <a:p>
                      <a:pPr algn="r">
                        <a:lnSpc>
                          <a:spcPct val="100000"/>
                        </a:lnSpc>
                        <a:spcBef>
                          <a:spcPts val="0"/>
                        </a:spcBef>
                        <a:spcAft>
                          <a:spcPts val="0"/>
                        </a:spcAft>
                      </a:pPr>
                      <a:r>
                        <a:rPr sz="2000" b="1" i="0" lang="fr-FR">
                          <a:solidFill>
                            <a:srgbClr val="FFFFFF"/>
                          </a:solidFill>
                          <a:latin typeface="Calibri"/>
                        </a:rPr>
                        <a:t>Taux</a:t>
                      </a:r>
                    </a:p>
                  </a:txBody>
                  <a:tcPr marL="101600" marR="101600" anchor="ctr">
                    <a:solidFill>
                      <a:srgbClr val="12264A"/>
                    </a:solidFill>
                  </a:tcPr>
                </a:tc>
                <a:tc>
                  <a:txBody>
                    <a:bodyPr wrap="square" lIns="101600" tIns="0" rIns="101600" bIns="0" anchor="ctr">
                      <a:noAutofit/>
                    </a:bodyPr>
                    <a:lstStyle/>
                    <a:p>
                      <a:pPr algn="r">
                        <a:lnSpc>
                          <a:spcPct val="100000"/>
                        </a:lnSpc>
                        <a:spcBef>
                          <a:spcPts val="0"/>
                        </a:spcBef>
                        <a:spcAft>
                          <a:spcPts val="0"/>
                        </a:spcAft>
                      </a:pPr>
                      <a:r>
                        <a:rPr sz="2000" b="1" i="0" lang="fr-FR">
                          <a:solidFill>
                            <a:srgbClr val="FFFFFF"/>
                          </a:solidFill>
                          <a:latin typeface="Calibri"/>
                        </a:rPr>
                        <a:t>Contribution</a:t>
                      </a:r>
                    </a:p>
                  </a:txBody>
                  <a:tcPr marL="101600" marR="101600" anchor="ctr">
                    <a:solidFill>
                      <a:srgbClr val="12264A"/>
                    </a:solidFill>
                  </a:tcPr>
                </a:tc>
              </a:tr>
              <a:tr h="381000">
                <a:tc>
                  <a:txBody>
                    <a:bodyPr wrap="square" lIns="101600" tIns="0" rIns="101600" bIns="0" anchor="ctr">
                      <a:noAutofit/>
                    </a:bodyPr>
                    <a:lstStyle/>
                    <a:p>
                      <a:pPr algn="l">
                        <a:lnSpc>
                          <a:spcPct val="100000"/>
                        </a:lnSpc>
                        <a:spcBef>
                          <a:spcPts val="0"/>
                        </a:spcBef>
                        <a:spcAft>
                          <a:spcPts val="0"/>
                        </a:spcAft>
                      </a:pPr>
                      <a:r>
                        <a:rPr sz="2000" b="1" i="0" lang="fr-FR">
                          <a:solidFill>
                            <a:srgbClr val="1B2A41"/>
                          </a:solidFill>
                          <a:latin typeface="Calibri"/>
                        </a:rPr>
                        <a:t>KGM</a:t>
                      </a:r>
                    </a:p>
                  </a:txBody>
                  <a:tcPr marL="101600" marR="101600" anchor="ctr">
                    <a:solidFill>
                      <a:srgbClr val="FFFFFF"/>
                    </a:solidFill>
                  </a:tcPr>
                </a:tc>
                <a:tc>
                  <a:txBody>
                    <a:bodyPr wrap="square" lIns="101600" tIns="0" rIns="101600" bIns="0" anchor="ctr">
                      <a:noAutofit/>
                    </a:bodyPr>
                    <a:lstStyle/>
                    <a:p>
                      <a:pPr algn="r">
                        <a:lnSpc>
                          <a:spcPct val="100000"/>
                        </a:lnSpc>
                        <a:spcBef>
                          <a:spcPts val="0"/>
                        </a:spcBef>
                        <a:spcAft>
                          <a:spcPts val="0"/>
                        </a:spcAft>
                      </a:pPr>
                      <a:r>
                        <a:rPr sz="2000" b="0" i="0" lang="fr-FR">
                          <a:solidFill>
                            <a:srgbClr val="1B2A41"/>
                          </a:solidFill>
                          <a:latin typeface="Calibri"/>
                        </a:rPr>
                        <a:t>484</a:t>
                      </a:r>
                    </a:p>
                  </a:txBody>
                  <a:tcPr marL="101600" marR="101600" anchor="ctr">
                    <a:solidFill>
                      <a:srgbClr val="FFFFFF"/>
                    </a:solidFill>
                  </a:tcPr>
                </a:tc>
                <a:tc>
                  <a:txBody>
                    <a:bodyPr wrap="square" lIns="101600" tIns="0" rIns="101600" bIns="0" anchor="ctr">
                      <a:noAutofit/>
                    </a:bodyPr>
                    <a:lstStyle/>
                    <a:p>
                      <a:pPr algn="r">
                        <a:lnSpc>
                          <a:spcPct val="100000"/>
                        </a:lnSpc>
                        <a:spcBef>
                          <a:spcPts val="0"/>
                        </a:spcBef>
                        <a:spcAft>
                          <a:spcPts val="0"/>
                        </a:spcAft>
                      </a:pPr>
                      <a:r>
                        <a:rPr sz="2000" b="0" i="0" lang="fr-FR">
                          <a:solidFill>
                            <a:srgbClr val="1B2A41"/>
                          </a:solidFill>
                          <a:latin typeface="Calibri"/>
                        </a:rPr>
                        <a:t>130</a:t>
                      </a:r>
                    </a:p>
                  </a:txBody>
                  <a:tcPr marL="101600" marR="101600" anchor="ctr">
                    <a:solidFill>
                      <a:srgbClr val="FFFFFF"/>
                    </a:solidFill>
                  </a:tcPr>
                </a:tc>
                <a:tc>
                  <a:txBody>
                    <a:bodyPr wrap="square" lIns="101600" tIns="0" rIns="101600" bIns="0" anchor="ctr">
                      <a:noAutofit/>
                    </a:bodyPr>
                    <a:lstStyle/>
                    <a:p>
                      <a:pPr algn="r">
                        <a:lnSpc>
                          <a:spcPct val="100000"/>
                        </a:lnSpc>
                        <a:spcBef>
                          <a:spcPts val="0"/>
                        </a:spcBef>
                        <a:spcAft>
                          <a:spcPts val="0"/>
                        </a:spcAft>
                      </a:pPr>
                      <a:r>
                        <a:rPr sz="2000" b="0" i="0" lang="fr-FR">
                          <a:solidFill>
                            <a:srgbClr val="1B2A41"/>
                          </a:solidFill>
                          <a:latin typeface="Calibri"/>
                        </a:rPr>
                        <a:t>1 %</a:t>
                      </a:r>
                    </a:p>
                  </a:txBody>
                  <a:tcPr marL="101600" marR="101600" anchor="ctr">
                    <a:solidFill>
                      <a:srgbClr val="FFFFFF"/>
                    </a:solidFill>
                  </a:tcPr>
                </a:tc>
                <a:tc>
                  <a:txBody>
                    <a:bodyPr wrap="square" lIns="101600" tIns="0" rIns="101600" bIns="0" anchor="ctr">
                      <a:noAutofit/>
                    </a:bodyPr>
                    <a:lstStyle/>
                    <a:p>
                      <a:pPr algn="r">
                        <a:lnSpc>
                          <a:spcPct val="100000"/>
                        </a:lnSpc>
                        <a:spcBef>
                          <a:spcPts val="0"/>
                        </a:spcBef>
                        <a:spcAft>
                          <a:spcPts val="0"/>
                        </a:spcAft>
                      </a:pPr>
                      <a:r>
                        <a:rPr sz="2000" b="1" i="0" lang="fr-FR">
                          <a:solidFill>
                            <a:srgbClr val="12264A"/>
                          </a:solidFill>
                          <a:latin typeface="Calibri"/>
                        </a:rPr>
                        <a:t>4,8</a:t>
                      </a:r>
                    </a:p>
                  </a:txBody>
                  <a:tcPr marL="101600" marR="101600" anchor="ctr">
                    <a:solidFill>
                      <a:srgbClr val="FFFFFF"/>
                    </a:solidFill>
                  </a:tcPr>
                </a:tc>
              </a:tr>
              <a:tr h="381000">
                <a:tc>
                  <a:txBody>
                    <a:bodyPr wrap="square" lIns="101600" tIns="0" rIns="101600" bIns="0" anchor="ctr">
                      <a:noAutofit/>
                    </a:bodyPr>
                    <a:lstStyle/>
                    <a:p>
                      <a:pPr algn="l">
                        <a:lnSpc>
                          <a:spcPct val="100000"/>
                        </a:lnSpc>
                        <a:spcBef>
                          <a:spcPts val="0"/>
                        </a:spcBef>
                        <a:spcAft>
                          <a:spcPts val="0"/>
                        </a:spcAft>
                      </a:pPr>
                      <a:r>
                        <a:rPr sz="2000" b="1" i="0" lang="fr-FR">
                          <a:solidFill>
                            <a:srgbClr val="1B2A41"/>
                          </a:solidFill>
                          <a:latin typeface="Calibri"/>
                        </a:rPr>
                        <a:t>Kiniero</a:t>
                      </a:r>
                    </a:p>
                  </a:txBody>
                  <a:tcPr marL="101600" marR="101600" anchor="ctr">
                    <a:solidFill>
                      <a:srgbClr val="F3EFE6"/>
                    </a:solidFill>
                  </a:tcPr>
                </a:tc>
                <a:tc>
                  <a:txBody>
                    <a:bodyPr wrap="square" lIns="101600" tIns="0" rIns="101600" bIns="0" anchor="ctr">
                      <a:noAutofit/>
                    </a:bodyPr>
                    <a:lstStyle/>
                    <a:p>
                      <a:pPr algn="r">
                        <a:lnSpc>
                          <a:spcPct val="100000"/>
                        </a:lnSpc>
                        <a:spcBef>
                          <a:spcPts val="0"/>
                        </a:spcBef>
                        <a:spcAft>
                          <a:spcPts val="0"/>
                        </a:spcAft>
                      </a:pPr>
                      <a:r>
                        <a:rPr sz="2000" b="0" i="0" lang="fr-FR">
                          <a:solidFill>
                            <a:srgbClr val="1B2A41"/>
                          </a:solidFill>
                          <a:latin typeface="Calibri"/>
                        </a:rPr>
                        <a:t>678</a:t>
                      </a:r>
                    </a:p>
                  </a:txBody>
                  <a:tcPr marL="101600" marR="101600" anchor="ctr">
                    <a:solidFill>
                      <a:srgbClr val="F3EFE6"/>
                    </a:solidFill>
                  </a:tcPr>
                </a:tc>
                <a:tc>
                  <a:txBody>
                    <a:bodyPr wrap="square" lIns="101600" tIns="0" rIns="101600" bIns="0" anchor="ctr">
                      <a:noAutofit/>
                    </a:bodyPr>
                    <a:lstStyle/>
                    <a:p>
                      <a:pPr algn="r">
                        <a:lnSpc>
                          <a:spcPct val="100000"/>
                        </a:lnSpc>
                        <a:spcBef>
                          <a:spcPts val="0"/>
                        </a:spcBef>
                        <a:spcAft>
                          <a:spcPts val="0"/>
                        </a:spcAft>
                      </a:pPr>
                      <a:r>
                        <a:rPr sz="2000" b="0" i="0" lang="fr-FR">
                          <a:solidFill>
                            <a:srgbClr val="1B2A41"/>
                          </a:solidFill>
                          <a:latin typeface="Calibri"/>
                        </a:rPr>
                        <a:t>360</a:t>
                      </a:r>
                    </a:p>
                  </a:txBody>
                  <a:tcPr marL="101600" marR="101600" anchor="ctr">
                    <a:solidFill>
                      <a:srgbClr val="F3EFE6"/>
                    </a:solidFill>
                  </a:tcPr>
                </a:tc>
                <a:tc>
                  <a:txBody>
                    <a:bodyPr wrap="square" lIns="101600" tIns="0" rIns="101600" bIns="0" anchor="ctr">
                      <a:noAutofit/>
                    </a:bodyPr>
                    <a:lstStyle/>
                    <a:p>
                      <a:pPr algn="r">
                        <a:lnSpc>
                          <a:spcPct val="100000"/>
                        </a:lnSpc>
                        <a:spcBef>
                          <a:spcPts val="0"/>
                        </a:spcBef>
                        <a:spcAft>
                          <a:spcPts val="0"/>
                        </a:spcAft>
                      </a:pPr>
                      <a:r>
                        <a:rPr sz="2000" b="0" i="0" lang="fr-FR">
                          <a:solidFill>
                            <a:srgbClr val="1B2A41"/>
                          </a:solidFill>
                          <a:latin typeface="Calibri"/>
                        </a:rPr>
                        <a:t>1,5 %</a:t>
                      </a:r>
                    </a:p>
                  </a:txBody>
                  <a:tcPr marL="101600" marR="101600" anchor="ctr">
                    <a:solidFill>
                      <a:srgbClr val="F3EFE6"/>
                    </a:solidFill>
                  </a:tcPr>
                </a:tc>
                <a:tc>
                  <a:txBody>
                    <a:bodyPr wrap="square" lIns="101600" tIns="0" rIns="101600" bIns="0" anchor="ctr">
                      <a:noAutofit/>
                    </a:bodyPr>
                    <a:lstStyle/>
                    <a:p>
                      <a:pPr algn="r">
                        <a:lnSpc>
                          <a:spcPct val="100000"/>
                        </a:lnSpc>
                        <a:spcBef>
                          <a:spcPts val="0"/>
                        </a:spcBef>
                        <a:spcAft>
                          <a:spcPts val="0"/>
                        </a:spcAft>
                      </a:pPr>
                      <a:r>
                        <a:rPr sz="2000" b="1" i="0" lang="fr-FR">
                          <a:solidFill>
                            <a:srgbClr val="12264A"/>
                          </a:solidFill>
                          <a:latin typeface="Calibri"/>
                        </a:rPr>
                        <a:t>10,2</a:t>
                      </a:r>
                    </a:p>
                  </a:txBody>
                  <a:tcPr marL="101600" marR="101600" anchor="ctr">
                    <a:solidFill>
                      <a:srgbClr val="F3EFE6"/>
                    </a:solidFill>
                  </a:tcPr>
                </a:tc>
              </a:tr>
              <a:tr h="381000">
                <a:tc>
                  <a:txBody>
                    <a:bodyPr wrap="square" lIns="101600" tIns="0" rIns="101600" bIns="0" anchor="ctr">
                      <a:noAutofit/>
                    </a:bodyPr>
                    <a:lstStyle/>
                    <a:p>
                      <a:pPr algn="l">
                        <a:lnSpc>
                          <a:spcPct val="100000"/>
                        </a:lnSpc>
                        <a:spcBef>
                          <a:spcPts val="0"/>
                        </a:spcBef>
                        <a:spcAft>
                          <a:spcPts val="0"/>
                        </a:spcAft>
                      </a:pPr>
                      <a:r>
                        <a:rPr sz="2000" b="1" i="0" lang="fr-FR">
                          <a:solidFill>
                            <a:srgbClr val="1B2A41"/>
                          </a:solidFill>
                          <a:latin typeface="Calibri"/>
                        </a:rPr>
                        <a:t>Bankan</a:t>
                      </a:r>
                    </a:p>
                  </a:txBody>
                  <a:tcPr marL="101600" marR="101600" anchor="ctr">
                    <a:solidFill>
                      <a:srgbClr val="FFFFFF"/>
                    </a:solidFill>
                  </a:tcPr>
                </a:tc>
                <a:tc>
                  <a:txBody>
                    <a:bodyPr wrap="square" lIns="101600" tIns="0" rIns="101600" bIns="0" anchor="ctr">
                      <a:noAutofit/>
                    </a:bodyPr>
                    <a:lstStyle/>
                    <a:p>
                      <a:pPr algn="r">
                        <a:lnSpc>
                          <a:spcPct val="100000"/>
                        </a:lnSpc>
                        <a:spcBef>
                          <a:spcPts val="0"/>
                        </a:spcBef>
                        <a:spcAft>
                          <a:spcPts val="0"/>
                        </a:spcAft>
                      </a:pPr>
                      <a:r>
                        <a:rPr sz="2000" b="0" i="0" lang="fr-FR">
                          <a:solidFill>
                            <a:srgbClr val="1B2A41"/>
                          </a:solidFill>
                          <a:latin typeface="Calibri"/>
                        </a:rPr>
                        <a:t>1 184</a:t>
                      </a:r>
                    </a:p>
                  </a:txBody>
                  <a:tcPr marL="101600" marR="101600" anchor="ctr">
                    <a:solidFill>
                      <a:srgbClr val="FFFFFF"/>
                    </a:solidFill>
                  </a:tcPr>
                </a:tc>
                <a:tc>
                  <a:txBody>
                    <a:bodyPr wrap="square" lIns="101600" tIns="0" rIns="101600" bIns="0" anchor="ctr">
                      <a:noAutofit/>
                    </a:bodyPr>
                    <a:lstStyle/>
                    <a:p>
                      <a:pPr algn="r">
                        <a:lnSpc>
                          <a:spcPct val="100000"/>
                        </a:lnSpc>
                        <a:spcBef>
                          <a:spcPts val="0"/>
                        </a:spcBef>
                        <a:spcAft>
                          <a:spcPts val="0"/>
                        </a:spcAft>
                      </a:pPr>
                      <a:r>
                        <a:rPr sz="2000" b="0" i="0" lang="fr-FR">
                          <a:solidFill>
                            <a:srgbClr val="1B2A41"/>
                          </a:solidFill>
                          <a:latin typeface="Calibri"/>
                        </a:rPr>
                        <a:t>960</a:t>
                      </a:r>
                    </a:p>
                  </a:txBody>
                  <a:tcPr marL="101600" marR="101600" anchor="ctr">
                    <a:solidFill>
                      <a:srgbClr val="FFFFFF"/>
                    </a:solidFill>
                  </a:tcPr>
                </a:tc>
                <a:tc>
                  <a:txBody>
                    <a:bodyPr wrap="square" lIns="101600" tIns="0" rIns="101600" bIns="0" anchor="ctr">
                      <a:noAutofit/>
                    </a:bodyPr>
                    <a:lstStyle/>
                    <a:p>
                      <a:pPr algn="r">
                        <a:lnSpc>
                          <a:spcPct val="100000"/>
                        </a:lnSpc>
                        <a:spcBef>
                          <a:spcPts val="0"/>
                        </a:spcBef>
                        <a:spcAft>
                          <a:spcPts val="0"/>
                        </a:spcAft>
                      </a:pPr>
                      <a:r>
                        <a:rPr sz="2000" b="0" i="0" lang="fr-FR">
                          <a:solidFill>
                            <a:srgbClr val="1B2A41"/>
                          </a:solidFill>
                          <a:latin typeface="Calibri"/>
                        </a:rPr>
                        <a:t>1,5 %</a:t>
                      </a:r>
                    </a:p>
                  </a:txBody>
                  <a:tcPr marL="101600" marR="101600" anchor="ctr">
                    <a:solidFill>
                      <a:srgbClr val="FFFFFF"/>
                    </a:solidFill>
                  </a:tcPr>
                </a:tc>
                <a:tc>
                  <a:txBody>
                    <a:bodyPr wrap="square" lIns="101600" tIns="0" rIns="101600" bIns="0" anchor="ctr">
                      <a:noAutofit/>
                    </a:bodyPr>
                    <a:lstStyle/>
                    <a:p>
                      <a:pPr algn="r">
                        <a:lnSpc>
                          <a:spcPct val="100000"/>
                        </a:lnSpc>
                        <a:spcBef>
                          <a:spcPts val="0"/>
                        </a:spcBef>
                        <a:spcAft>
                          <a:spcPts val="0"/>
                        </a:spcAft>
                      </a:pPr>
                      <a:r>
                        <a:rPr sz="2000" b="1" i="0" lang="fr-FR">
                          <a:solidFill>
                            <a:srgbClr val="12264A"/>
                          </a:solidFill>
                          <a:latin typeface="Calibri"/>
                        </a:rPr>
                        <a:t>17,8</a:t>
                      </a:r>
                    </a:p>
                  </a:txBody>
                  <a:tcPr marL="101600" marR="101600" anchor="ctr">
                    <a:solidFill>
                      <a:srgbClr val="FFFFFF"/>
                    </a:solidFill>
                  </a:tcPr>
                </a:tc>
              </a:tr>
            </a:tbl>
          </a:graphicData>
        </a:graphic>
      </p:graphicFrame>
      <p:sp>
        <p:nvSpPr>
          <p:cNvPr id="20" name="s07 total 2029"/>
          <p:cNvSpPr/>
          <p:nvPr/>
        </p:nvSpPr>
        <p:spPr>
          <a:xfrm>
            <a:off x="8483600" y="4254500"/>
            <a:ext cx="3098800" cy="1511300"/>
          </a:xfrm>
          <a:prstGeom prst="roundRect">
            <a:avLst>
              <a:gd name="adj" fmla="val 7563"/>
            </a:avLst>
          </a:prstGeom>
          <a:solidFill>
            <a:srgbClr val="1226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00000"/>
              </a:lnSpc>
              <a:spcBef>
                <a:spcPts val="0"/>
              </a:spcBef>
              <a:spcAft>
                <a:spcPts val="400"/>
              </a:spcAft>
            </a:pPr>
            <a:r>
              <a:rPr sz="2400" b="1" i="0" lang="fr-FR" spc="150">
                <a:solidFill>
                  <a:srgbClr val="FFFFFF"/>
                </a:solidFill>
                <a:latin typeface="Calibri"/>
              </a:rPr>
              <a:t>TOTAL 2029</a:t>
            </a:r>
          </a:p>
          <a:p>
            <a:pPr algn="ctr">
              <a:lnSpc>
                <a:spcPct val="100000"/>
              </a:lnSpc>
              <a:spcBef>
                <a:spcPts val="0"/>
              </a:spcBef>
              <a:spcAft>
                <a:spcPts val="0"/>
              </a:spcAft>
            </a:pPr>
            <a:r>
              <a:rPr sz="4800" b="1" i="0" lang="fr-FR">
                <a:solidFill>
                  <a:srgbClr val="D3A04D"/>
                </a:solidFill>
                <a:latin typeface="Calibri"/>
              </a:rPr>
              <a:t>32,8 M USD</a:t>
            </a:r>
          </a:p>
        </p:txBody>
      </p:sp>
    </p:spTree>
  </p:cSld>
  <p:clrMapOvr>
    <a:masterClrMapping/>
  </p:clrMapOvr>
  <mc:AlternateContent xmlns:mc="http://schemas.openxmlformats.org/markup-compatibility/2006">
    <mc:Choice xmlns:p14="http://schemas.microsoft.com/office/powerpoint/2010/main" Requires="p14">
      <p:transition spd="med" p14:dur="700" advTm="25000">
        <p:fade/>
      </p:transition>
    </mc:Choice>
    <mc:Fallback>
      <p:transition spd="med" advTm="2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childTnLst>
                          </p:cTn>
                        </p:par>
                        <p:par>
                          <p:cTn id="8" fill="hold">
                            <p:stCondLst>
                              <p:cond delay="600"/>
                            </p:stCondLst>
                            <p:childTnLst>
                              <p:par>
                                <p:cTn id="9" presetID="10" presetClass="entr" presetSubtype="0"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500"/>
                                        <p:tgtEl>
                                          <p:spTgt spid="15"/>
                                        </p:tgtEl>
                                      </p:cBhvr>
                                    </p:animEffect>
                                  </p:childTnLst>
                                </p:cTn>
                              </p:par>
                              <p:par>
                                <p:cTn id="12" presetID="22" presetClass="entr" presetSubtype="1" fill="hold" grpId="0" nodeType="withEffect">
                                  <p:stCondLst>
                                    <p:cond delay="200"/>
                                  </p:stCondLst>
                                  <p:childTnLst>
                                    <p:set>
                                      <p:cBhvr>
                                        <p:cTn id="13" dur="1" fill="hold">
                                          <p:stCondLst>
                                            <p:cond delay="0"/>
                                          </p:stCondLst>
                                        </p:cTn>
                                        <p:tgtEl>
                                          <p:spTgt spid="16"/>
                                        </p:tgtEl>
                                        <p:attrNameLst>
                                          <p:attrName>style.visibility</p:attrName>
                                        </p:attrNameLst>
                                      </p:cBhvr>
                                      <p:to>
                                        <p:strVal val="visible"/>
                                      </p:to>
                                    </p:set>
                                    <p:animEffect transition="in" filter="wipe(down)">
                                      <p:cBhvr>
                                        <p:cTn id="14" dur="800"/>
                                        <p:tgtEl>
                                          <p:spTgt spid="16"/>
                                        </p:tgtEl>
                                      </p:cBhvr>
                                    </p:animEffect>
                                  </p:childTnLst>
                                </p:cTn>
                              </p:par>
                            </p:childTnLst>
                          </p:cTn>
                        </p:par>
                        <p:par>
                          <p:cTn id="15" fill="hold">
                            <p:stCondLst>
                              <p:cond delay="1600"/>
                            </p:stCondLst>
                            <p:childTnLst>
                              <p:par>
                                <p:cTn id="16" presetID="10" presetClass="entr" presetSubtype="0" fill="hold" grpId="0" nodeType="after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fade">
                                      <p:cBhvr>
                                        <p:cTn id="18" dur="500"/>
                                        <p:tgtEl>
                                          <p:spTgt spid="18"/>
                                        </p:tgtEl>
                                      </p:cBhvr>
                                    </p:animEffect>
                                  </p:childTnLst>
                                </p:cTn>
                              </p:par>
                              <p:par>
                                <p:cTn id="19" presetID="22" presetClass="entr" presetSubtype="1" fill="hold" grpId="0" nodeType="withEffect">
                                  <p:stCondLst>
                                    <p:cond delay="200"/>
                                  </p:stCondLst>
                                  <p:childTnLst>
                                    <p:set>
                                      <p:cBhvr>
                                        <p:cTn id="20" dur="1" fill="hold">
                                          <p:stCondLst>
                                            <p:cond delay="0"/>
                                          </p:stCondLst>
                                        </p:cTn>
                                        <p:tgtEl>
                                          <p:spTgt spid="19"/>
                                        </p:tgtEl>
                                        <p:attrNameLst>
                                          <p:attrName>style.visibility</p:attrName>
                                        </p:attrNameLst>
                                      </p:cBhvr>
                                      <p:to>
                                        <p:strVal val="visible"/>
                                      </p:to>
                                    </p:set>
                                    <p:animEffect transition="in" filter="wipe(down)">
                                      <p:cBhvr>
                                        <p:cTn id="21" dur="800"/>
                                        <p:tgtEl>
                                          <p:spTgt spid="19"/>
                                        </p:tgtEl>
                                      </p:cBhvr>
                                    </p:animEffect>
                                  </p:childTnLst>
                                </p:cTn>
                              </p:par>
                            </p:childTnLst>
                          </p:cTn>
                        </p:par>
                        <p:par>
                          <p:cTn id="22" fill="hold">
                            <p:stCondLst>
                              <p:cond delay="2600"/>
                            </p:stCondLst>
                            <p:childTnLst>
                              <p:par>
                                <p:cTn id="23" presetID="42" presetClass="entr" presetSubtype="0" fill="hold" grpId="0" nodeType="after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600"/>
                                        <p:tgtEl>
                                          <p:spTgt spid="17"/>
                                        </p:tgtEl>
                                      </p:cBhvr>
                                    </p:animEffect>
                                    <p:anim calcmode="lin" valueType="num">
                                      <p:cBhvr>
                                        <p:cTn id="26" dur="600" fill="hold" decel="100000"/>
                                        <p:tgtEl>
                                          <p:spTgt spid="17"/>
                                        </p:tgtEl>
                                        <p:attrNameLst>
                                          <p:attrName>ppt_x</p:attrName>
                                        </p:attrNameLst>
                                      </p:cBhvr>
                                      <p:tavLst>
                                        <p:tav tm="0">
                                          <p:val>
                                            <p:strVal val="#ppt_x"/>
                                          </p:val>
                                        </p:tav>
                                        <p:tav tm="100000">
                                          <p:val>
                                            <p:strVal val="#ppt_x"/>
                                          </p:val>
                                        </p:tav>
                                      </p:tavLst>
                                    </p:anim>
                                    <p:anim calcmode="lin" valueType="num">
                                      <p:cBhvr>
                                        <p:cTn id="27" dur="600" fill="hold" decel="100000"/>
                                        <p:tgtEl>
                                          <p:spTgt spid="17"/>
                                        </p:tgtEl>
                                        <p:attrNameLst>
                                          <p:attrName>ppt_y</p:attrName>
                                        </p:attrNameLst>
                                      </p:cBhvr>
                                      <p:tavLst>
                                        <p:tav tm="0">
                                          <p:val>
                                            <p:strVal val="#ppt_y+.04"/>
                                          </p:val>
                                        </p:tav>
                                        <p:tav tm="100000">
                                          <p:val>
                                            <p:strVal val="#ppt_y"/>
                                          </p:val>
                                        </p:tav>
                                      </p:tavLst>
                                    </p:anim>
                                  </p:childTnLst>
                                </p:cTn>
                              </p:par>
                            </p:childTnLst>
                          </p:cTn>
                        </p:par>
                        <p:par>
                          <p:cTn id="28" fill="hold">
                            <p:stCondLst>
                              <p:cond delay="3200"/>
                            </p:stCondLst>
                            <p:childTnLst>
                              <p:par>
                                <p:cTn id="29" presetID="42" presetClass="entr" presetSubtype="0" fill="hold" grpId="0" nodeType="afterEffect">
                                  <p:stCondLst>
                                    <p:cond delay="10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600"/>
                                        <p:tgtEl>
                                          <p:spTgt spid="20"/>
                                        </p:tgtEl>
                                      </p:cBhvr>
                                    </p:animEffect>
                                    <p:anim calcmode="lin" valueType="num">
                                      <p:cBhvr>
                                        <p:cTn id="32" dur="600" fill="hold" decel="100000"/>
                                        <p:tgtEl>
                                          <p:spTgt spid="20"/>
                                        </p:tgtEl>
                                        <p:attrNameLst>
                                          <p:attrName>ppt_x</p:attrName>
                                        </p:attrNameLst>
                                      </p:cBhvr>
                                      <p:tavLst>
                                        <p:tav tm="0">
                                          <p:val>
                                            <p:strVal val="#ppt_x"/>
                                          </p:val>
                                        </p:tav>
                                        <p:tav tm="100000">
                                          <p:val>
                                            <p:strVal val="#ppt_x"/>
                                          </p:val>
                                        </p:tav>
                                      </p:tavLst>
                                    </p:anim>
                                    <p:anim calcmode="lin" valueType="num">
                                      <p:cBhvr>
                                        <p:cTn id="33" dur="600" fill="hold" decel="100000"/>
                                        <p:tgtEl>
                                          <p:spTgt spid="20"/>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5" grpId="0"/>
      <p:bldGraphic spid="16" grpId="0">
        <p:bldAsOne/>
      </p:bldGraphic>
      <p:bldP spid="18" grpId="0"/>
      <p:bldGraphic spid="19" grpId="0">
        <p:bldAsOne/>
      </p:bldGraphic>
      <p:bldP spid="17" grpId="0" animBg="1"/>
      <p:bldP spid="20"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8F3"/>
        </a:solidFill>
        <a:effectLst/>
      </p:bgPr>
    </p:bg>
    <p:spTree>
      <p:nvGrpSpPr>
        <p:cNvPr id="1" name=""/>
        <p:cNvGrpSpPr/>
        <p:nvPr/>
      </p:nvGrpSpPr>
      <p:grpSpPr/>
      <p:sp>
        <p:nvSpPr>
          <p:cNvPr id="2" name="Trait or"/>
          <p:cNvSpPr/>
          <p:nvPr/>
        </p:nvSpPr>
        <p:spPr>
          <a:xfrm>
            <a:off x="609600" y="444500"/>
            <a:ext cx="406400" cy="38100"/>
          </a:xfrm>
          <a:prstGeom prst="rect">
            <a:avLst/>
          </a:prstGeom>
          <a:solidFill>
            <a:srgbClr val="D3A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brique"/>
          <p:cNvSpPr txBox="1"/>
          <p:nvPr/>
        </p:nvSpPr>
        <p:spPr>
          <a:xfrm>
            <a:off x="609600" y="508000"/>
            <a:ext cx="10160000" cy="304800"/>
          </a:xfrm>
          <a:prstGeom prst="rect">
            <a:avLst/>
          </a:prstGeom>
          <a:noFill/>
        </p:spPr>
        <p:txBody>
          <a:bodyPr wrap="square" lIns="0" tIns="0" rIns="0" bIns="0" anchor="ctr">
            <a:noAutofit/>
          </a:bodyPr>
          <a:lstStyle/>
          <a:p>
            <a:pPr algn="l">
              <a:lnSpc>
                <a:spcPct val="100000"/>
              </a:lnSpc>
              <a:spcBef>
                <a:spcPts val="0"/>
              </a:spcBef>
              <a:spcAft>
                <a:spcPts val="0"/>
              </a:spcAft>
            </a:pPr>
            <a:r>
              <a:rPr sz="2000" b="1" i="0" lang="fr-FR" spc="150">
                <a:solidFill>
                  <a:srgbClr val="1E7B67"/>
                </a:solidFill>
                <a:latin typeface="Calibri"/>
              </a:rPr>
              <a:t>07 / L’HORIZON FINANCIER</a:t>
            </a:r>
          </a:p>
        </p:txBody>
      </p:sp>
      <p:sp>
        <p:nvSpPr>
          <p:cNvPr id="4" name="Titre"/>
          <p:cNvSpPr txBox="1"/>
          <p:nvPr/>
        </p:nvSpPr>
        <p:spPr>
          <a:xfrm>
            <a:off x="609600" y="774700"/>
            <a:ext cx="10972800" cy="609600"/>
          </a:xfrm>
          <a:prstGeom prst="rect">
            <a:avLst/>
          </a:prstGeom>
          <a:noFill/>
        </p:spPr>
        <p:txBody>
          <a:bodyPr wrap="square" lIns="0" tIns="0" rIns="0" bIns="0" anchor="ctr">
            <a:noAutofit/>
          </a:bodyPr>
          <a:lstStyle/>
          <a:p>
            <a:pPr algn="l">
              <a:lnSpc>
                <a:spcPct val="100000"/>
              </a:lnSpc>
              <a:spcBef>
                <a:spcPts val="0"/>
              </a:spcBef>
              <a:spcAft>
                <a:spcPts val="0"/>
              </a:spcAft>
            </a:pPr>
            <a:r>
              <a:rPr sz="4000" b="1" i="0" lang="fr-FR">
                <a:solidFill>
                  <a:srgbClr val="12264A"/>
                </a:solidFill>
                <a:latin typeface="Calibri"/>
              </a:rPr>
              <a:t>Horizon financier</a:t>
            </a:r>
          </a:p>
        </p:txBody>
      </p:sp>
      <p:sp>
        <p:nvSpPr>
          <p:cNvPr id="5" name="Accroche"/>
          <p:cNvSpPr txBox="1"/>
          <p:nvPr/>
        </p:nvSpPr>
        <p:spPr>
          <a:xfrm>
            <a:off x="609600" y="1358900"/>
            <a:ext cx="10972800" cy="355600"/>
          </a:xfrm>
          <a:prstGeom prst="rect">
            <a:avLst/>
          </a:prstGeom>
          <a:noFill/>
        </p:spPr>
        <p:txBody>
          <a:bodyPr wrap="square" lIns="0" tIns="0" rIns="0" bIns="0" anchor="t">
            <a:noAutofit/>
          </a:bodyPr>
          <a:lstStyle/>
          <a:p>
            <a:pPr algn="l">
              <a:lnSpc>
                <a:spcPct val="100000"/>
              </a:lnSpc>
              <a:spcBef>
                <a:spcPts val="0"/>
              </a:spcBef>
              <a:spcAft>
                <a:spcPts val="0"/>
              </a:spcAft>
            </a:pPr>
            <a:r>
              <a:rPr sz="2200" b="0" i="0" lang="fr-FR">
                <a:solidFill>
                  <a:srgbClr val="1B2A41"/>
                </a:solidFill>
                <a:latin typeface="Calibri"/>
              </a:rPr>
              <a:t>Contributions annuelles projetées : les projections commencent en 2028, aucun cumul avant.</a:t>
            </a:r>
          </a:p>
        </p:txBody>
      </p:sp>
      <p:sp>
        <p:nvSpPr>
          <p:cNvPr id="6" name="Note prospective"/>
          <p:cNvSpPr txBox="1"/>
          <p:nvPr/>
        </p:nvSpPr>
        <p:spPr>
          <a:xfrm>
            <a:off x="609600" y="6032500"/>
            <a:ext cx="10972800" cy="228600"/>
          </a:xfrm>
          <a:prstGeom prst="rect">
            <a:avLst/>
          </a:prstGeom>
          <a:noFill/>
        </p:spPr>
        <p:txBody>
          <a:bodyPr wrap="square" lIns="0" tIns="0" rIns="0" bIns="0" anchor="ctr">
            <a:noAutofit/>
          </a:bodyPr>
          <a:lstStyle/>
          <a:p>
            <a:pPr algn="l">
              <a:lnSpc>
                <a:spcPct val="100000"/>
              </a:lnSpc>
              <a:spcBef>
                <a:spcPts val="0"/>
              </a:spcBef>
              <a:spcAft>
                <a:spcPts val="0"/>
              </a:spcAft>
            </a:pPr>
            <a:r>
              <a:rPr sz="1600" b="0" i="1" lang="fr-FR">
                <a:solidFill>
                  <a:srgbClr val="1B2A41"/>
                </a:solidFill>
                <a:latin typeface="Calibri"/>
              </a:rPr>
              <a:t>Projections prospectives du dossier FUTURA-Kouroussa, hypothèse 4 400 USD l’once, non vérifiées de façon indépendante.</a:t>
            </a:r>
          </a:p>
        </p:txBody>
      </p:sp>
      <p:sp>
        <p:nvSpPr>
          <p:cNvPr id="7" name="Pied de page"/>
          <p:cNvSpPr txBox="1"/>
          <p:nvPr/>
        </p:nvSpPr>
        <p:spPr>
          <a:xfrm>
            <a:off x="609600" y="6413500"/>
            <a:ext cx="4826000" cy="241300"/>
          </a:xfrm>
          <a:prstGeom prst="rect">
            <a:avLst/>
          </a:prstGeom>
          <a:noFill/>
        </p:spPr>
        <p:txBody>
          <a:bodyPr wrap="square" lIns="0" tIns="0" rIns="0" bIns="0" anchor="ctr">
            <a:noAutofit/>
          </a:bodyPr>
          <a:lstStyle/>
          <a:p>
            <a:pPr algn="l">
              <a:lnSpc>
                <a:spcPct val="100000"/>
              </a:lnSpc>
              <a:spcBef>
                <a:spcPts val="0"/>
              </a:spcBef>
              <a:spcAft>
                <a:spcPts val="0"/>
              </a:spcAft>
            </a:pPr>
            <a:r>
              <a:rPr sz="1400" b="1" i="0" lang="fr-FR" spc="50">
                <a:solidFill>
                  <a:srgbClr val="1B2A41"/>
                </a:solidFill>
                <a:latin typeface="Calibri"/>
              </a:rPr>
              <a:t>FUTURA - KOUROUSSA | Octobre 2026</a:t>
            </a:r>
          </a:p>
        </p:txBody>
      </p:sp>
      <p:sp>
        <p:nvSpPr>
          <p:cNvPr id="8" name="Pied bandeau"/>
          <p:cNvSpPr/>
          <p:nvPr/>
        </p:nvSpPr>
        <p:spPr>
          <a:xfrm>
            <a:off x="9069742" y="6350000"/>
            <a:ext cx="2512658" cy="355600"/>
          </a:xfrm>
          <a:prstGeom prst="roundRect">
            <a:avLst>
              <a:gd name="adj" fmla="val 42857"/>
            </a:avLst>
          </a:prstGeom>
          <a:solidFill>
            <a:srgbClr val="FFFFFF"/>
          </a:solidFill>
          <a:ln w="9525">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ed logo futura-kouroussa" descr="futura-kouroussa.png"/>
          <p:cNvPicPr>
            <a:picLocks noChangeAspect="1"/>
          </p:cNvPicPr>
          <p:nvPr/>
        </p:nvPicPr>
        <p:blipFill>
          <a:blip r:embed="rId2"/>
          <a:stretch>
            <a:fillRect/>
          </a:stretch>
        </p:blipFill>
        <p:spPr>
          <a:xfrm>
            <a:off x="9184042" y="6419850"/>
            <a:ext cx="391970" cy="215900"/>
          </a:xfrm>
          <a:prstGeom prst="rect">
            <a:avLst/>
          </a:prstGeom>
        </p:spPr>
      </p:pic>
      <p:pic>
        <p:nvPicPr>
          <p:cNvPr id="10" name="Pied logo republique-de-guinee-armoiries" descr="republique-de-guinee-armoiries.png"/>
          <p:cNvPicPr>
            <a:picLocks noChangeAspect="1"/>
          </p:cNvPicPr>
          <p:nvPr/>
        </p:nvPicPr>
        <p:blipFill>
          <a:blip r:embed="rId3"/>
          <a:stretch>
            <a:fillRect/>
          </a:stretch>
        </p:blipFill>
        <p:spPr>
          <a:xfrm>
            <a:off x="9664912" y="6419850"/>
            <a:ext cx="179814" cy="215900"/>
          </a:xfrm>
          <a:prstGeom prst="rect">
            <a:avLst/>
          </a:prstGeom>
        </p:spPr>
      </p:pic>
      <p:pic>
        <p:nvPicPr>
          <p:cNvPr id="11" name="Pied logo assemblee-nationale" descr="assemblee-nationale.png"/>
          <p:cNvPicPr>
            <a:picLocks noChangeAspect="1"/>
          </p:cNvPicPr>
          <p:nvPr/>
        </p:nvPicPr>
        <p:blipFill>
          <a:blip r:embed="rId4"/>
          <a:stretch>
            <a:fillRect/>
          </a:stretch>
        </p:blipFill>
        <p:spPr>
          <a:xfrm>
            <a:off x="9933626" y="6419850"/>
            <a:ext cx="217442" cy="215900"/>
          </a:xfrm>
          <a:prstGeom prst="rect">
            <a:avLst/>
          </a:prstGeom>
        </p:spPr>
      </p:pic>
      <p:pic>
        <p:nvPicPr>
          <p:cNvPr id="12" name="Pied logo simandou-2040" descr="simandou-2040.png"/>
          <p:cNvPicPr>
            <a:picLocks noChangeAspect="1"/>
          </p:cNvPicPr>
          <p:nvPr/>
        </p:nvPicPr>
        <p:blipFill>
          <a:blip r:embed="rId5"/>
          <a:stretch>
            <a:fillRect/>
          </a:stretch>
        </p:blipFill>
        <p:spPr>
          <a:xfrm>
            <a:off x="10239968" y="6419850"/>
            <a:ext cx="674774" cy="215900"/>
          </a:xfrm>
          <a:prstGeom prst="rect">
            <a:avLst/>
          </a:prstGeom>
        </p:spPr>
      </p:pic>
      <p:pic>
        <p:nvPicPr>
          <p:cNvPr id="13" name="Pied logo guinee" descr="guinee.png"/>
          <p:cNvPicPr>
            <a:picLocks noChangeAspect="1"/>
          </p:cNvPicPr>
          <p:nvPr/>
        </p:nvPicPr>
        <p:blipFill>
          <a:blip r:embed="rId6"/>
          <a:stretch>
            <a:fillRect/>
          </a:stretch>
        </p:blipFill>
        <p:spPr>
          <a:xfrm>
            <a:off x="11003643" y="6419850"/>
            <a:ext cx="464457" cy="215900"/>
          </a:xfrm>
          <a:prstGeom prst="rect">
            <a:avLst/>
          </a:prstGeom>
        </p:spPr>
      </p:pic>
      <p:sp>
        <p:nvSpPr>
          <p:cNvPr id="14" name="Numéro"/>
          <p:cNvSpPr txBox="1"/>
          <p:nvPr/>
        </p:nvSpPr>
        <p:spPr>
          <a:xfrm>
            <a:off x="7990242" y="6413500"/>
            <a:ext cx="952500" cy="241300"/>
          </a:xfrm>
          <a:prstGeom prst="rect">
            <a:avLst/>
          </a:prstGeom>
          <a:noFill/>
        </p:spPr>
        <p:txBody>
          <a:bodyPr wrap="square" lIns="0" tIns="0" rIns="0" bIns="0" anchor="ctr">
            <a:noAutofit/>
          </a:bodyPr>
          <a:lstStyle/>
          <a:p>
            <a:pPr algn="r">
              <a:lnSpc>
                <a:spcPct val="100000"/>
              </a:lnSpc>
              <a:spcBef>
                <a:spcPts val="0"/>
              </a:spcBef>
              <a:spcAft>
                <a:spcPts val="0"/>
              </a:spcAft>
            </a:pPr>
            <a:r>
              <a:rPr sz="1400" b="1" i="0" lang="fr-FR">
                <a:solidFill>
                  <a:srgbClr val="12264A"/>
                </a:solidFill>
                <a:latin typeface="Calibri"/>
              </a:rPr>
              <a:t>08 / 15</a:t>
            </a:r>
          </a:p>
        </p:txBody>
      </p:sp>
      <p:graphicFrame>
        <p:nvGraphicFramePr>
          <p:cNvPr id="15" name="s08 courbe"/>
          <p:cNvGraphicFramePr>
            <a:graphicFrameLocks noGrp="1"/>
          </p:cNvGraphicFramePr>
          <p:nvPr/>
        </p:nvGraphicFramePr>
        <p:xfrm>
          <a:off x="609600" y="1828800"/>
          <a:ext cx="10972800" cy="1600200"/>
        </p:xfrm>
        <a:graphic>
          <a:graphicData uri="http://schemas.openxmlformats.org/drawingml/2006/chart">
            <c:chart xmlns:c="http://schemas.openxmlformats.org/drawingml/2006/chart" r:id="rId7"/>
          </a:graphicData>
        </a:graphic>
      </p:graphicFrame>
      <p:sp>
        <p:nvSpPr>
          <p:cNvPr id="16" name="s08 pastille 2028"/>
          <p:cNvSpPr/>
          <p:nvPr/>
        </p:nvSpPr>
        <p:spPr>
          <a:xfrm>
            <a:off x="1081227" y="1857400"/>
            <a:ext cx="1778000" cy="660400"/>
          </a:xfrm>
          <a:prstGeom prst="roundRect">
            <a:avLst>
              <a:gd name="adj" fmla="val 23076"/>
            </a:avLst>
          </a:prstGeom>
          <a:solidFill>
            <a:srgbClr val="1226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00000"/>
              </a:lnSpc>
              <a:spcBef>
                <a:spcPts val="0"/>
              </a:spcBef>
              <a:spcAft>
                <a:spcPts val="0"/>
              </a:spcAft>
            </a:pPr>
            <a:r>
              <a:rPr sz="2400" b="1" i="0" lang="fr-FR">
                <a:solidFill>
                  <a:srgbClr val="FFFFFF"/>
                </a:solidFill>
                <a:latin typeface="Calibri"/>
              </a:rPr>
              <a:t>29,8 M USD</a:t>
            </a:r>
          </a:p>
          <a:p>
            <a:pPr algn="ctr">
              <a:lnSpc>
                <a:spcPct val="100000"/>
              </a:lnSpc>
              <a:spcBef>
                <a:spcPts val="0"/>
              </a:spcBef>
              <a:spcAft>
                <a:spcPts val="0"/>
              </a:spcAft>
            </a:pPr>
            <a:r>
              <a:rPr sz="2000" b="0" i="0" lang="fr-FR">
                <a:solidFill>
                  <a:srgbClr val="FAF8F3"/>
                </a:solidFill>
                <a:latin typeface="Calibri"/>
              </a:rPr>
              <a:t>en 2028</a:t>
            </a:r>
          </a:p>
        </p:txBody>
      </p:sp>
      <p:sp>
        <p:nvSpPr>
          <p:cNvPr id="17" name="s08 pastille 2029"/>
          <p:cNvSpPr/>
          <p:nvPr/>
        </p:nvSpPr>
        <p:spPr>
          <a:xfrm>
            <a:off x="3144114" y="1809394"/>
            <a:ext cx="1778000" cy="660400"/>
          </a:xfrm>
          <a:prstGeom prst="roundRect">
            <a:avLst>
              <a:gd name="adj" fmla="val 23076"/>
            </a:avLst>
          </a:prstGeom>
          <a:solidFill>
            <a:srgbClr val="1226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00000"/>
              </a:lnSpc>
              <a:spcBef>
                <a:spcPts val="0"/>
              </a:spcBef>
              <a:spcAft>
                <a:spcPts val="0"/>
              </a:spcAft>
            </a:pPr>
            <a:r>
              <a:rPr sz="2400" b="1" i="0" lang="fr-FR">
                <a:solidFill>
                  <a:srgbClr val="FFFFFF"/>
                </a:solidFill>
                <a:latin typeface="Calibri"/>
              </a:rPr>
              <a:t>32,8 M USD</a:t>
            </a:r>
          </a:p>
          <a:p>
            <a:pPr algn="ctr">
              <a:lnSpc>
                <a:spcPct val="100000"/>
              </a:lnSpc>
              <a:spcBef>
                <a:spcPts val="0"/>
              </a:spcBef>
              <a:spcAft>
                <a:spcPts val="0"/>
              </a:spcAft>
            </a:pPr>
            <a:r>
              <a:rPr sz="2000" b="0" i="0" lang="fr-FR">
                <a:solidFill>
                  <a:srgbClr val="FAF8F3"/>
                </a:solidFill>
                <a:latin typeface="Calibri"/>
              </a:rPr>
              <a:t>en 2029</a:t>
            </a:r>
          </a:p>
        </p:txBody>
      </p:sp>
      <p:sp>
        <p:nvSpPr>
          <p:cNvPr id="18" name="s08 valeur 2030"/>
          <p:cNvSpPr txBox="1"/>
          <p:nvPr/>
        </p:nvSpPr>
        <p:spPr>
          <a:xfrm>
            <a:off x="5588000" y="2199996"/>
            <a:ext cx="1016000" cy="279400"/>
          </a:xfrm>
          <a:prstGeom prst="rect">
            <a:avLst/>
          </a:prstGeom>
          <a:noFill/>
        </p:spPr>
        <p:txBody>
          <a:bodyPr wrap="square" lIns="0" tIns="0" rIns="0" bIns="0" anchor="ctr">
            <a:noAutofit/>
          </a:bodyPr>
          <a:lstStyle/>
          <a:p>
            <a:pPr algn="ctr">
              <a:lnSpc>
                <a:spcPct val="100000"/>
              </a:lnSpc>
              <a:spcBef>
                <a:spcPts val="0"/>
              </a:spcBef>
              <a:spcAft>
                <a:spcPts val="0"/>
              </a:spcAft>
            </a:pPr>
            <a:r>
              <a:rPr sz="2200" b="1" i="0" lang="fr-FR">
                <a:solidFill>
                  <a:srgbClr val="1E7B67"/>
                </a:solidFill>
                <a:latin typeface="Calibri"/>
              </a:rPr>
              <a:t>32,2</a:t>
            </a:r>
          </a:p>
        </p:txBody>
      </p:sp>
      <p:sp>
        <p:nvSpPr>
          <p:cNvPr id="19" name="s08 valeur 2031"/>
          <p:cNvSpPr txBox="1"/>
          <p:nvPr/>
        </p:nvSpPr>
        <p:spPr>
          <a:xfrm>
            <a:off x="7650886" y="2225599"/>
            <a:ext cx="1016000" cy="279400"/>
          </a:xfrm>
          <a:prstGeom prst="rect">
            <a:avLst/>
          </a:prstGeom>
          <a:noFill/>
        </p:spPr>
        <p:txBody>
          <a:bodyPr wrap="square" lIns="0" tIns="0" rIns="0" bIns="0" anchor="ctr">
            <a:noAutofit/>
          </a:bodyPr>
          <a:lstStyle/>
          <a:p>
            <a:pPr algn="ctr">
              <a:lnSpc>
                <a:spcPct val="100000"/>
              </a:lnSpc>
              <a:spcBef>
                <a:spcPts val="0"/>
              </a:spcBef>
              <a:spcAft>
                <a:spcPts val="0"/>
              </a:spcAft>
            </a:pPr>
            <a:r>
              <a:rPr sz="2200" b="1" i="0" lang="fr-FR">
                <a:solidFill>
                  <a:srgbClr val="1E7B67"/>
                </a:solidFill>
                <a:latin typeface="Calibri"/>
              </a:rPr>
              <a:t>30,6</a:t>
            </a:r>
          </a:p>
        </p:txBody>
      </p:sp>
      <p:sp>
        <p:nvSpPr>
          <p:cNvPr id="20" name="s08 pastille 2032"/>
          <p:cNvSpPr/>
          <p:nvPr/>
        </p:nvSpPr>
        <p:spPr>
          <a:xfrm>
            <a:off x="9332773" y="1971015"/>
            <a:ext cx="1778000" cy="660400"/>
          </a:xfrm>
          <a:prstGeom prst="roundRect">
            <a:avLst>
              <a:gd name="adj" fmla="val 23076"/>
            </a:avLst>
          </a:prstGeom>
          <a:solidFill>
            <a:srgbClr val="1226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00000"/>
              </a:lnSpc>
              <a:spcBef>
                <a:spcPts val="0"/>
              </a:spcBef>
              <a:spcAft>
                <a:spcPts val="0"/>
              </a:spcAft>
            </a:pPr>
            <a:r>
              <a:rPr sz="2400" b="1" i="0" lang="fr-FR">
                <a:solidFill>
                  <a:srgbClr val="FFFFFF"/>
                </a:solidFill>
                <a:latin typeface="Calibri"/>
              </a:rPr>
              <a:t>22,7 M USD</a:t>
            </a:r>
          </a:p>
          <a:p>
            <a:pPr algn="ctr">
              <a:lnSpc>
                <a:spcPct val="100000"/>
              </a:lnSpc>
              <a:spcBef>
                <a:spcPts val="0"/>
              </a:spcBef>
              <a:spcAft>
                <a:spcPts val="0"/>
              </a:spcAft>
            </a:pPr>
            <a:r>
              <a:rPr sz="2000" b="0" i="0" lang="fr-FR">
                <a:solidFill>
                  <a:srgbClr val="FAF8F3"/>
                </a:solidFill>
                <a:latin typeface="Calibri"/>
              </a:rPr>
              <a:t>en 2032</a:t>
            </a:r>
          </a:p>
        </p:txBody>
      </p:sp>
      <p:sp>
        <p:nvSpPr>
          <p:cNvPr id="21" name="s08 encadré"/>
          <p:cNvSpPr/>
          <p:nvPr/>
        </p:nvSpPr>
        <p:spPr>
          <a:xfrm>
            <a:off x="609600" y="3556000"/>
            <a:ext cx="5334000" cy="2362200"/>
          </a:xfrm>
          <a:prstGeom prst="roundRect">
            <a:avLst>
              <a:gd name="adj" fmla="val 4301"/>
            </a:avLst>
          </a:prstGeom>
          <a:solidFill>
            <a:srgbClr val="F5EC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9400" tIns="127000" rIns="228600" bIns="127000">
            <a:noAutofit/>
          </a:bodyPr>
          <a:lstStyle/>
          <a:p>
            <a:pPr algn="l">
              <a:lnSpc>
                <a:spcPct val="100000"/>
              </a:lnSpc>
              <a:spcBef>
                <a:spcPts val="0"/>
              </a:spcBef>
              <a:spcAft>
                <a:spcPts val="0"/>
              </a:spcAft>
            </a:pPr>
            <a:r>
              <a:rPr sz="4800" b="1" i="0" lang="fr-FR">
                <a:solidFill>
                  <a:srgbClr val="12264A"/>
                </a:solidFill>
                <a:latin typeface="Calibri"/>
              </a:rPr>
              <a:t>148,1 M USD</a:t>
            </a:r>
          </a:p>
          <a:p>
            <a:pPr algn="l">
              <a:lnSpc>
                <a:spcPct val="100000"/>
              </a:lnSpc>
              <a:spcBef>
                <a:spcPts val="0"/>
              </a:spcBef>
              <a:spcAft>
                <a:spcPts val="1400"/>
              </a:spcAft>
            </a:pPr>
            <a:r>
              <a:rPr sz="2200" b="1" i="0" lang="fr-FR">
                <a:solidFill>
                  <a:srgbClr val="1B2A41"/>
                </a:solidFill>
                <a:latin typeface="Calibri"/>
              </a:rPr>
              <a:t>cumulés sur cinq exercices, 2028 à 2032</a:t>
            </a:r>
          </a:p>
          <a:p>
            <a:pPr algn="l">
              <a:lnSpc>
                <a:spcPct val="100000"/>
              </a:lnSpc>
              <a:spcBef>
                <a:spcPts val="0"/>
              </a:spcBef>
              <a:spcAft>
                <a:spcPts val="0"/>
              </a:spcAft>
            </a:pPr>
            <a:r>
              <a:rPr sz="2200" b="0" i="0" lang="fr-FR">
                <a:solidFill>
                  <a:srgbClr val="1B2A41"/>
                </a:solidFill>
                <a:latin typeface="Calibri"/>
              </a:rPr>
              <a:t>Sur la durée de vie des mines : environ 178 à 265 M USD.</a:t>
            </a:r>
          </a:p>
        </p:txBody>
      </p:sp>
      <p:sp>
        <p:nvSpPr>
          <p:cNvPr id="22" name="s08 encadré filet"/>
          <p:cNvSpPr/>
          <p:nvPr/>
        </p:nvSpPr>
        <p:spPr>
          <a:xfrm>
            <a:off x="609600" y="3657600"/>
            <a:ext cx="50800" cy="2159000"/>
          </a:xfrm>
          <a:prstGeom prst="rect">
            <a:avLst/>
          </a:prstGeom>
          <a:solidFill>
            <a:srgbClr val="D3A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08 carte 1"/>
          <p:cNvSpPr/>
          <p:nvPr/>
        </p:nvSpPr>
        <p:spPr>
          <a:xfrm>
            <a:off x="6096000" y="3556000"/>
            <a:ext cx="5486400" cy="1143000"/>
          </a:xfrm>
          <a:prstGeom prst="roundRect">
            <a:avLst>
              <a:gd name="adj" fmla="val 8888"/>
            </a:avLst>
          </a:prstGeom>
          <a:solidFill>
            <a:srgbClr val="FFFFFF"/>
          </a:solidFill>
          <a:ln w="9525">
            <a:solidFill>
              <a:srgbClr val="E3DED3"/>
            </a:solidFill>
          </a:ln>
          <a:effectLst>
            <a:outerShdw blurRad="165100" dist="38100" dir="5400000" algn="t" rotWithShape="0">
              <a:srgbClr val="12264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08 carte 1 filet"/>
          <p:cNvSpPr/>
          <p:nvPr/>
        </p:nvSpPr>
        <p:spPr>
          <a:xfrm>
            <a:off x="6096000" y="3657600"/>
            <a:ext cx="50800" cy="939800"/>
          </a:xfrm>
          <a:prstGeom prst="rect">
            <a:avLst/>
          </a:prstGeom>
          <a:solidFill>
            <a:srgbClr val="A955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08 carte texte 1"/>
          <p:cNvSpPr txBox="1"/>
          <p:nvPr/>
        </p:nvSpPr>
        <p:spPr>
          <a:xfrm>
            <a:off x="6350000" y="3619500"/>
            <a:ext cx="5080000" cy="1016000"/>
          </a:xfrm>
          <a:prstGeom prst="rect">
            <a:avLst/>
          </a:prstGeom>
          <a:noFill/>
        </p:spPr>
        <p:txBody>
          <a:bodyPr wrap="square" lIns="0" tIns="0" rIns="0" bIns="0" anchor="ctr">
            <a:noAutofit/>
          </a:bodyPr>
          <a:lstStyle/>
          <a:p>
            <a:pPr algn="l">
              <a:lnSpc>
                <a:spcPct val="100000"/>
              </a:lnSpc>
              <a:spcBef>
                <a:spcPts val="0"/>
              </a:spcBef>
              <a:spcAft>
                <a:spcPts val="400"/>
              </a:spcAft>
            </a:pPr>
            <a:r>
              <a:rPr sz="2200" b="1" i="0" lang="fr-FR">
                <a:solidFill>
                  <a:srgbClr val="12264A"/>
                </a:solidFill>
                <a:latin typeface="Calibri"/>
              </a:rPr>
              <a:t>Ce qui fait varier le montant</a:t>
            </a:r>
          </a:p>
          <a:p>
            <a:pPr algn="l">
              <a:lnSpc>
                <a:spcPct val="100000"/>
              </a:lnSpc>
              <a:spcBef>
                <a:spcPts val="0"/>
              </a:spcBef>
              <a:spcAft>
                <a:spcPts val="0"/>
              </a:spcAft>
            </a:pPr>
            <a:r>
              <a:rPr sz="2000" b="0" i="0" lang="fr-FR">
                <a:solidFill>
                  <a:srgbClr val="1B2A41"/>
                </a:solidFill>
                <a:latin typeface="Calibri"/>
              </a:rPr>
              <a:t>Cours de l’or, volumes, résultat net certifié, négociation.</a:t>
            </a:r>
          </a:p>
        </p:txBody>
      </p:sp>
      <p:sp>
        <p:nvSpPr>
          <p:cNvPr id="26" name="s08 carte 2"/>
          <p:cNvSpPr/>
          <p:nvPr/>
        </p:nvSpPr>
        <p:spPr>
          <a:xfrm>
            <a:off x="6096000" y="4775200"/>
            <a:ext cx="5486400" cy="1143000"/>
          </a:xfrm>
          <a:prstGeom prst="roundRect">
            <a:avLst>
              <a:gd name="adj" fmla="val 8888"/>
            </a:avLst>
          </a:prstGeom>
          <a:solidFill>
            <a:srgbClr val="FFFFFF"/>
          </a:solidFill>
          <a:ln w="9525">
            <a:solidFill>
              <a:srgbClr val="E3DED3"/>
            </a:solidFill>
          </a:ln>
          <a:effectLst>
            <a:outerShdw blurRad="165100" dist="38100" dir="5400000" algn="t" rotWithShape="0">
              <a:srgbClr val="12264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s08 carte 2 filet"/>
          <p:cNvSpPr/>
          <p:nvPr/>
        </p:nvSpPr>
        <p:spPr>
          <a:xfrm>
            <a:off x="6096000" y="4876800"/>
            <a:ext cx="50800" cy="939800"/>
          </a:xfrm>
          <a:prstGeom prst="rect">
            <a:avLst/>
          </a:prstGeom>
          <a:solidFill>
            <a:srgbClr val="1E7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08 carte texte 2"/>
          <p:cNvSpPr txBox="1"/>
          <p:nvPr/>
        </p:nvSpPr>
        <p:spPr>
          <a:xfrm>
            <a:off x="6350000" y="4838700"/>
            <a:ext cx="5080000" cy="1016000"/>
          </a:xfrm>
          <a:prstGeom prst="rect">
            <a:avLst/>
          </a:prstGeom>
          <a:noFill/>
        </p:spPr>
        <p:txBody>
          <a:bodyPr wrap="square" lIns="0" tIns="0" rIns="0" bIns="0" anchor="ctr">
            <a:noAutofit/>
          </a:bodyPr>
          <a:lstStyle/>
          <a:p>
            <a:pPr algn="l">
              <a:lnSpc>
                <a:spcPct val="100000"/>
              </a:lnSpc>
              <a:spcBef>
                <a:spcPts val="0"/>
              </a:spcBef>
              <a:spcAft>
                <a:spcPts val="400"/>
              </a:spcAft>
            </a:pPr>
            <a:r>
              <a:rPr sz="2200" b="1" i="0" lang="fr-FR">
                <a:solidFill>
                  <a:srgbClr val="12264A"/>
                </a:solidFill>
                <a:latin typeface="Calibri"/>
              </a:rPr>
              <a:t>Ce qui doit être validé</a:t>
            </a:r>
          </a:p>
          <a:p>
            <a:pPr algn="l">
              <a:lnSpc>
                <a:spcPct val="100000"/>
              </a:lnSpc>
              <a:spcBef>
                <a:spcPts val="0"/>
              </a:spcBef>
              <a:spcAft>
                <a:spcPts val="0"/>
              </a:spcAft>
            </a:pPr>
            <a:r>
              <a:rPr sz="2000" b="0" i="0" lang="fr-FR">
                <a:solidFill>
                  <a:srgbClr val="1B2A41"/>
                </a:solidFill>
                <a:latin typeface="Calibri"/>
              </a:rPr>
              <a:t>Assiette disponible, clé de répartition, conventions signées, calendrier de versement.</a:t>
            </a: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advTm="30000">
        <p159:morph option="byObject"/>
      </p:transition>
    </mc:Choice>
    <mc:Fallback>
      <p:transition spd="slow" advTm="30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childTnLst>
                          </p:cTn>
                        </p:par>
                        <p:par>
                          <p:cTn id="8" fill="hold">
                            <p:stCondLst>
                              <p:cond delay="600"/>
                            </p:stCondLst>
                            <p:childTnLst>
                              <p:par>
                                <p:cTn id="9" presetID="22" presetClass="entr" presetSubtype="8" fill="hold" grpId="0" nodeType="afterEffect">
                                  <p:stCondLst>
                                    <p:cond delay="0"/>
                                  </p:stCondLst>
                                  <p:childTnLst>
                                    <p:set>
                                      <p:cBhvr>
                                        <p:cTn id="10" dur="1" fill="hold">
                                          <p:stCondLst>
                                            <p:cond delay="0"/>
                                          </p:stCondLst>
                                        </p:cTn>
                                        <p:tgtEl>
                                          <p:spTgt spid="15">
                                            <p:graphicEl>
                                              <a:chart seriesIdx="-4" categoryIdx="0" bldStep="category"/>
                                            </p:graphicEl>
                                          </p:spTgt>
                                        </p:tgtEl>
                                        <p:attrNameLst>
                                          <p:attrName>style.visibility</p:attrName>
                                        </p:attrNameLst>
                                      </p:cBhvr>
                                      <p:to>
                                        <p:strVal val="visible"/>
                                      </p:to>
                                    </p:set>
                                    <p:animEffect transition="in" filter="wipe(right)">
                                      <p:cBhvr>
                                        <p:cTn id="11" dur="600"/>
                                        <p:tgtEl>
                                          <p:spTgt spid="15">
                                            <p:graphicEl>
                                              <a:chart seriesIdx="-4" categoryIdx="0" bldStep="category"/>
                                            </p:graphicEl>
                                          </p:spTgt>
                                        </p:tgtEl>
                                      </p:cBhvr>
                                    </p:animEffect>
                                  </p:childTnLst>
                                </p:cTn>
                              </p:par>
                              <p:par>
                                <p:cTn id="12" presetID="10" presetClass="entr" presetSubtype="0" fill="hold" grpId="0" nodeType="withEffect">
                                  <p:stCondLst>
                                    <p:cond delay="300"/>
                                  </p:stCondLst>
                                  <p:childTnLst>
                                    <p:set>
                                      <p:cBhvr>
                                        <p:cTn id="13" dur="1" fill="hold">
                                          <p:stCondLst>
                                            <p:cond delay="0"/>
                                          </p:stCondLst>
                                        </p:cTn>
                                        <p:tgtEl>
                                          <p:spTgt spid="16"/>
                                        </p:tgtEl>
                                        <p:attrNameLst>
                                          <p:attrName>style.visibility</p:attrName>
                                        </p:attrNameLst>
                                      </p:cBhvr>
                                      <p:to>
                                        <p:strVal val="visible"/>
                                      </p:to>
                                    </p:set>
                                    <p:animEffect transition="in" filter="fade">
                                      <p:cBhvr>
                                        <p:cTn id="14" dur="500"/>
                                        <p:tgtEl>
                                          <p:spTgt spid="16"/>
                                        </p:tgtEl>
                                      </p:cBhvr>
                                    </p:animEffect>
                                  </p:childTnLst>
                                </p:cTn>
                              </p:par>
                            </p:childTnLst>
                          </p:cTn>
                        </p:par>
                        <p:par>
                          <p:cTn id="15" fill="hold">
                            <p:stCondLst>
                              <p:cond delay="1400"/>
                            </p:stCondLst>
                            <p:childTnLst>
                              <p:par>
                                <p:cTn id="16" presetID="22" presetClass="entr" presetSubtype="8" fill="hold" grpId="0" nodeType="afterEffect">
                                  <p:stCondLst>
                                    <p:cond delay="0"/>
                                  </p:stCondLst>
                                  <p:childTnLst>
                                    <p:set>
                                      <p:cBhvr>
                                        <p:cTn id="17" dur="1" fill="hold">
                                          <p:stCondLst>
                                            <p:cond delay="0"/>
                                          </p:stCondLst>
                                        </p:cTn>
                                        <p:tgtEl>
                                          <p:spTgt spid="15">
                                            <p:graphicEl>
                                              <a:chart seriesIdx="-4" categoryIdx="1" bldStep="category"/>
                                            </p:graphicEl>
                                          </p:spTgt>
                                        </p:tgtEl>
                                        <p:attrNameLst>
                                          <p:attrName>style.visibility</p:attrName>
                                        </p:attrNameLst>
                                      </p:cBhvr>
                                      <p:to>
                                        <p:strVal val="visible"/>
                                      </p:to>
                                    </p:set>
                                    <p:animEffect transition="in" filter="wipe(right)">
                                      <p:cBhvr>
                                        <p:cTn id="18" dur="600"/>
                                        <p:tgtEl>
                                          <p:spTgt spid="15">
                                            <p:graphicEl>
                                              <a:chart seriesIdx="-4" categoryIdx="1" bldStep="category"/>
                                            </p:graphicEl>
                                          </p:spTgt>
                                        </p:tgtEl>
                                      </p:cBhvr>
                                    </p:animEffect>
                                  </p:childTnLst>
                                </p:cTn>
                              </p:par>
                              <p:par>
                                <p:cTn id="19" presetID="10" presetClass="entr" presetSubtype="0" fill="hold" grpId="0" nodeType="withEffect">
                                  <p:stCondLst>
                                    <p:cond delay="30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500"/>
                                        <p:tgtEl>
                                          <p:spTgt spid="17"/>
                                        </p:tgtEl>
                                      </p:cBhvr>
                                    </p:animEffect>
                                  </p:childTnLst>
                                </p:cTn>
                              </p:par>
                            </p:childTnLst>
                          </p:cTn>
                        </p:par>
                        <p:par>
                          <p:cTn id="22" fill="hold">
                            <p:stCondLst>
                              <p:cond delay="2200"/>
                            </p:stCondLst>
                            <p:childTnLst>
                              <p:par>
                                <p:cTn id="23" presetID="22" presetClass="entr" presetSubtype="8" fill="hold" grpId="0" nodeType="afterEffect">
                                  <p:stCondLst>
                                    <p:cond delay="0"/>
                                  </p:stCondLst>
                                  <p:childTnLst>
                                    <p:set>
                                      <p:cBhvr>
                                        <p:cTn id="24" dur="1" fill="hold">
                                          <p:stCondLst>
                                            <p:cond delay="0"/>
                                          </p:stCondLst>
                                        </p:cTn>
                                        <p:tgtEl>
                                          <p:spTgt spid="15">
                                            <p:graphicEl>
                                              <a:chart seriesIdx="-4" categoryIdx="2" bldStep="category"/>
                                            </p:graphicEl>
                                          </p:spTgt>
                                        </p:tgtEl>
                                        <p:attrNameLst>
                                          <p:attrName>style.visibility</p:attrName>
                                        </p:attrNameLst>
                                      </p:cBhvr>
                                      <p:to>
                                        <p:strVal val="visible"/>
                                      </p:to>
                                    </p:set>
                                    <p:animEffect transition="in" filter="wipe(right)">
                                      <p:cBhvr>
                                        <p:cTn id="25" dur="600"/>
                                        <p:tgtEl>
                                          <p:spTgt spid="15">
                                            <p:graphicEl>
                                              <a:chart seriesIdx="-4" categoryIdx="2" bldStep="category"/>
                                            </p:graphicEl>
                                          </p:spTgt>
                                        </p:tgtEl>
                                      </p:cBhvr>
                                    </p:animEffect>
                                  </p:childTnLst>
                                </p:cTn>
                              </p:par>
                              <p:par>
                                <p:cTn id="26" presetID="10" presetClass="entr" presetSubtype="0" fill="hold" grpId="0" nodeType="withEffect">
                                  <p:stCondLst>
                                    <p:cond delay="30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500"/>
                                        <p:tgtEl>
                                          <p:spTgt spid="18"/>
                                        </p:tgtEl>
                                      </p:cBhvr>
                                    </p:animEffect>
                                  </p:childTnLst>
                                </p:cTn>
                              </p:par>
                            </p:childTnLst>
                          </p:cTn>
                        </p:par>
                        <p:par>
                          <p:cTn id="29" fill="hold">
                            <p:stCondLst>
                              <p:cond delay="3000"/>
                            </p:stCondLst>
                            <p:childTnLst>
                              <p:par>
                                <p:cTn id="30" presetID="22" presetClass="entr" presetSubtype="8" fill="hold" grpId="0" nodeType="afterEffect">
                                  <p:stCondLst>
                                    <p:cond delay="0"/>
                                  </p:stCondLst>
                                  <p:childTnLst>
                                    <p:set>
                                      <p:cBhvr>
                                        <p:cTn id="31" dur="1" fill="hold">
                                          <p:stCondLst>
                                            <p:cond delay="0"/>
                                          </p:stCondLst>
                                        </p:cTn>
                                        <p:tgtEl>
                                          <p:spTgt spid="15">
                                            <p:graphicEl>
                                              <a:chart seriesIdx="-4" categoryIdx="3" bldStep="category"/>
                                            </p:graphicEl>
                                          </p:spTgt>
                                        </p:tgtEl>
                                        <p:attrNameLst>
                                          <p:attrName>style.visibility</p:attrName>
                                        </p:attrNameLst>
                                      </p:cBhvr>
                                      <p:to>
                                        <p:strVal val="visible"/>
                                      </p:to>
                                    </p:set>
                                    <p:animEffect transition="in" filter="wipe(right)">
                                      <p:cBhvr>
                                        <p:cTn id="32" dur="600"/>
                                        <p:tgtEl>
                                          <p:spTgt spid="15">
                                            <p:graphicEl>
                                              <a:chart seriesIdx="-4" categoryIdx="3" bldStep="category"/>
                                            </p:graphicEl>
                                          </p:spTgt>
                                        </p:tgtEl>
                                      </p:cBhvr>
                                    </p:animEffect>
                                  </p:childTnLst>
                                </p:cTn>
                              </p:par>
                              <p:par>
                                <p:cTn id="33" presetID="10" presetClass="entr" presetSubtype="0" fill="hold" grpId="0" nodeType="withEffect">
                                  <p:stCondLst>
                                    <p:cond delay="30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500"/>
                                        <p:tgtEl>
                                          <p:spTgt spid="19"/>
                                        </p:tgtEl>
                                      </p:cBhvr>
                                    </p:animEffect>
                                  </p:childTnLst>
                                </p:cTn>
                              </p:par>
                            </p:childTnLst>
                          </p:cTn>
                        </p:par>
                        <p:par>
                          <p:cTn id="36" fill="hold">
                            <p:stCondLst>
                              <p:cond delay="3800"/>
                            </p:stCondLst>
                            <p:childTnLst>
                              <p:par>
                                <p:cTn id="37" presetID="22" presetClass="entr" presetSubtype="8" fill="hold" grpId="0" nodeType="afterEffect">
                                  <p:stCondLst>
                                    <p:cond delay="0"/>
                                  </p:stCondLst>
                                  <p:childTnLst>
                                    <p:set>
                                      <p:cBhvr>
                                        <p:cTn id="38" dur="1" fill="hold">
                                          <p:stCondLst>
                                            <p:cond delay="0"/>
                                          </p:stCondLst>
                                        </p:cTn>
                                        <p:tgtEl>
                                          <p:spTgt spid="15">
                                            <p:graphicEl>
                                              <a:chart seriesIdx="-4" categoryIdx="4" bldStep="category"/>
                                            </p:graphicEl>
                                          </p:spTgt>
                                        </p:tgtEl>
                                        <p:attrNameLst>
                                          <p:attrName>style.visibility</p:attrName>
                                        </p:attrNameLst>
                                      </p:cBhvr>
                                      <p:to>
                                        <p:strVal val="visible"/>
                                      </p:to>
                                    </p:set>
                                    <p:animEffect transition="in" filter="wipe(right)">
                                      <p:cBhvr>
                                        <p:cTn id="39" dur="600"/>
                                        <p:tgtEl>
                                          <p:spTgt spid="15">
                                            <p:graphicEl>
                                              <a:chart seriesIdx="-4" categoryIdx="4" bldStep="category"/>
                                            </p:graphicEl>
                                          </p:spTgt>
                                        </p:tgtEl>
                                      </p:cBhvr>
                                    </p:animEffect>
                                  </p:childTnLst>
                                </p:cTn>
                              </p:par>
                              <p:par>
                                <p:cTn id="40" presetID="10" presetClass="entr" presetSubtype="0" fill="hold" grpId="0" nodeType="withEffect">
                                  <p:stCondLst>
                                    <p:cond delay="30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childTnLst>
                                </p:cTn>
                              </p:par>
                            </p:childTnLst>
                          </p:cTn>
                        </p:par>
                        <p:par>
                          <p:cTn id="43" fill="hold">
                            <p:stCondLst>
                              <p:cond delay="4600"/>
                            </p:stCondLst>
                            <p:childTnLst>
                              <p:par>
                                <p:cTn id="44" presetID="42" presetClass="entr" presetSubtype="0" fill="hold" grpId="0" nodeType="after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700"/>
                                        <p:tgtEl>
                                          <p:spTgt spid="21"/>
                                        </p:tgtEl>
                                      </p:cBhvr>
                                    </p:animEffect>
                                    <p:anim calcmode="lin" valueType="num">
                                      <p:cBhvr>
                                        <p:cTn id="47" dur="700" fill="hold" decel="100000"/>
                                        <p:tgtEl>
                                          <p:spTgt spid="21"/>
                                        </p:tgtEl>
                                        <p:attrNameLst>
                                          <p:attrName>ppt_x</p:attrName>
                                        </p:attrNameLst>
                                      </p:cBhvr>
                                      <p:tavLst>
                                        <p:tav tm="0">
                                          <p:val>
                                            <p:strVal val="#ppt_x"/>
                                          </p:val>
                                        </p:tav>
                                        <p:tav tm="100000">
                                          <p:val>
                                            <p:strVal val="#ppt_x"/>
                                          </p:val>
                                        </p:tav>
                                      </p:tavLst>
                                    </p:anim>
                                    <p:anim calcmode="lin" valueType="num">
                                      <p:cBhvr>
                                        <p:cTn id="48" dur="700" fill="hold" decel="100000"/>
                                        <p:tgtEl>
                                          <p:spTgt spid="21"/>
                                        </p:tgtEl>
                                        <p:attrNameLst>
                                          <p:attrName>ppt_y</p:attrName>
                                        </p:attrNameLst>
                                      </p:cBhvr>
                                      <p:tavLst>
                                        <p:tav tm="0">
                                          <p:val>
                                            <p:strVal val="#ppt_y+.04"/>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700"/>
                                        <p:tgtEl>
                                          <p:spTgt spid="22"/>
                                        </p:tgtEl>
                                      </p:cBhvr>
                                    </p:animEffect>
                                    <p:anim calcmode="lin" valueType="num">
                                      <p:cBhvr>
                                        <p:cTn id="52" dur="700" fill="hold" decel="100000"/>
                                        <p:tgtEl>
                                          <p:spTgt spid="22"/>
                                        </p:tgtEl>
                                        <p:attrNameLst>
                                          <p:attrName>ppt_x</p:attrName>
                                        </p:attrNameLst>
                                      </p:cBhvr>
                                      <p:tavLst>
                                        <p:tav tm="0">
                                          <p:val>
                                            <p:strVal val="#ppt_x"/>
                                          </p:val>
                                        </p:tav>
                                        <p:tav tm="100000">
                                          <p:val>
                                            <p:strVal val="#ppt_x"/>
                                          </p:val>
                                        </p:tav>
                                      </p:tavLst>
                                    </p:anim>
                                    <p:anim calcmode="lin" valueType="num">
                                      <p:cBhvr>
                                        <p:cTn id="53" dur="700" fill="hold" decel="100000"/>
                                        <p:tgtEl>
                                          <p:spTgt spid="22"/>
                                        </p:tgtEl>
                                        <p:attrNameLst>
                                          <p:attrName>ppt_y</p:attrName>
                                        </p:attrNameLst>
                                      </p:cBhvr>
                                      <p:tavLst>
                                        <p:tav tm="0">
                                          <p:val>
                                            <p:strVal val="#ppt_y+.04"/>
                                          </p:val>
                                        </p:tav>
                                        <p:tav tm="100000">
                                          <p:val>
                                            <p:strVal val="#ppt_y"/>
                                          </p:val>
                                        </p:tav>
                                      </p:tavLst>
                                    </p:anim>
                                  </p:childTnLst>
                                </p:cTn>
                              </p:par>
                            </p:childTnLst>
                          </p:cTn>
                        </p:par>
                        <p:par>
                          <p:cTn id="54" fill="hold">
                            <p:stCondLst>
                              <p:cond delay="5300"/>
                            </p:stCondLst>
                            <p:childTnLst>
                              <p:par>
                                <p:cTn id="55" presetID="42" presetClass="entr" presetSubtype="0" fill="hold" grpId="0" nodeType="afterEffect">
                                  <p:stCondLst>
                                    <p:cond delay="100"/>
                                  </p:stCondLst>
                                  <p:childTnLst>
                                    <p:set>
                                      <p:cBhvr>
                                        <p:cTn id="56" dur="1" fill="hold">
                                          <p:stCondLst>
                                            <p:cond delay="0"/>
                                          </p:stCondLst>
                                        </p:cTn>
                                        <p:tgtEl>
                                          <p:spTgt spid="23"/>
                                        </p:tgtEl>
                                        <p:attrNameLst>
                                          <p:attrName>style.visibility</p:attrName>
                                        </p:attrNameLst>
                                      </p:cBhvr>
                                      <p:to>
                                        <p:strVal val="visible"/>
                                      </p:to>
                                    </p:set>
                                    <p:animEffect transition="in" filter="fade">
                                      <p:cBhvr>
                                        <p:cTn id="57" dur="700"/>
                                        <p:tgtEl>
                                          <p:spTgt spid="23"/>
                                        </p:tgtEl>
                                      </p:cBhvr>
                                    </p:animEffect>
                                    <p:anim calcmode="lin" valueType="num">
                                      <p:cBhvr>
                                        <p:cTn id="58" dur="700" fill="hold" decel="100000"/>
                                        <p:tgtEl>
                                          <p:spTgt spid="23"/>
                                        </p:tgtEl>
                                        <p:attrNameLst>
                                          <p:attrName>ppt_x</p:attrName>
                                        </p:attrNameLst>
                                      </p:cBhvr>
                                      <p:tavLst>
                                        <p:tav tm="0">
                                          <p:val>
                                            <p:strVal val="#ppt_x"/>
                                          </p:val>
                                        </p:tav>
                                        <p:tav tm="100000">
                                          <p:val>
                                            <p:strVal val="#ppt_x"/>
                                          </p:val>
                                        </p:tav>
                                      </p:tavLst>
                                    </p:anim>
                                    <p:anim calcmode="lin" valueType="num">
                                      <p:cBhvr>
                                        <p:cTn id="59" dur="700" fill="hold" decel="100000"/>
                                        <p:tgtEl>
                                          <p:spTgt spid="23"/>
                                        </p:tgtEl>
                                        <p:attrNameLst>
                                          <p:attrName>ppt_y</p:attrName>
                                        </p:attrNameLst>
                                      </p:cBhvr>
                                      <p:tavLst>
                                        <p:tav tm="0">
                                          <p:val>
                                            <p:strVal val="#ppt_y+.04"/>
                                          </p:val>
                                        </p:tav>
                                        <p:tav tm="100000">
                                          <p:val>
                                            <p:strVal val="#ppt_y"/>
                                          </p:val>
                                        </p:tav>
                                      </p:tavLst>
                                    </p:anim>
                                  </p:childTnLst>
                                </p:cTn>
                              </p:par>
                              <p:par>
                                <p:cTn id="60" presetID="42" presetClass="entr" presetSubtype="0" fill="hold" grpId="0" nodeType="withEffect">
                                  <p:stCondLst>
                                    <p:cond delay="100"/>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700"/>
                                        <p:tgtEl>
                                          <p:spTgt spid="24"/>
                                        </p:tgtEl>
                                      </p:cBhvr>
                                    </p:animEffect>
                                    <p:anim calcmode="lin" valueType="num">
                                      <p:cBhvr>
                                        <p:cTn id="63" dur="700" fill="hold" decel="100000"/>
                                        <p:tgtEl>
                                          <p:spTgt spid="24"/>
                                        </p:tgtEl>
                                        <p:attrNameLst>
                                          <p:attrName>ppt_x</p:attrName>
                                        </p:attrNameLst>
                                      </p:cBhvr>
                                      <p:tavLst>
                                        <p:tav tm="0">
                                          <p:val>
                                            <p:strVal val="#ppt_x"/>
                                          </p:val>
                                        </p:tav>
                                        <p:tav tm="100000">
                                          <p:val>
                                            <p:strVal val="#ppt_x"/>
                                          </p:val>
                                        </p:tav>
                                      </p:tavLst>
                                    </p:anim>
                                    <p:anim calcmode="lin" valueType="num">
                                      <p:cBhvr>
                                        <p:cTn id="64" dur="700" fill="hold" decel="100000"/>
                                        <p:tgtEl>
                                          <p:spTgt spid="24"/>
                                        </p:tgtEl>
                                        <p:attrNameLst>
                                          <p:attrName>ppt_y</p:attrName>
                                        </p:attrNameLst>
                                      </p:cBhvr>
                                      <p:tavLst>
                                        <p:tav tm="0">
                                          <p:val>
                                            <p:strVal val="#ppt_y+.04"/>
                                          </p:val>
                                        </p:tav>
                                        <p:tav tm="100000">
                                          <p:val>
                                            <p:strVal val="#ppt_y"/>
                                          </p:val>
                                        </p:tav>
                                      </p:tavLst>
                                    </p:anim>
                                  </p:childTnLst>
                                </p:cTn>
                              </p:par>
                              <p:par>
                                <p:cTn id="65" presetID="42" presetClass="entr" presetSubtype="0" fill="hold" grpId="0" nodeType="withEffect">
                                  <p:stCondLst>
                                    <p:cond delay="10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700"/>
                                        <p:tgtEl>
                                          <p:spTgt spid="25"/>
                                        </p:tgtEl>
                                      </p:cBhvr>
                                    </p:animEffect>
                                    <p:anim calcmode="lin" valueType="num">
                                      <p:cBhvr>
                                        <p:cTn id="68" dur="700" fill="hold" decel="100000"/>
                                        <p:tgtEl>
                                          <p:spTgt spid="25"/>
                                        </p:tgtEl>
                                        <p:attrNameLst>
                                          <p:attrName>ppt_x</p:attrName>
                                        </p:attrNameLst>
                                      </p:cBhvr>
                                      <p:tavLst>
                                        <p:tav tm="0">
                                          <p:val>
                                            <p:strVal val="#ppt_x"/>
                                          </p:val>
                                        </p:tav>
                                        <p:tav tm="100000">
                                          <p:val>
                                            <p:strVal val="#ppt_x"/>
                                          </p:val>
                                        </p:tav>
                                      </p:tavLst>
                                    </p:anim>
                                    <p:anim calcmode="lin" valueType="num">
                                      <p:cBhvr>
                                        <p:cTn id="69" dur="700" fill="hold" decel="100000"/>
                                        <p:tgtEl>
                                          <p:spTgt spid="25"/>
                                        </p:tgtEl>
                                        <p:attrNameLst>
                                          <p:attrName>ppt_y</p:attrName>
                                        </p:attrNameLst>
                                      </p:cBhvr>
                                      <p:tavLst>
                                        <p:tav tm="0">
                                          <p:val>
                                            <p:strVal val="#ppt_y+.04"/>
                                          </p:val>
                                        </p:tav>
                                        <p:tav tm="100000">
                                          <p:val>
                                            <p:strVal val="#ppt_y"/>
                                          </p:val>
                                        </p:tav>
                                      </p:tavLst>
                                    </p:anim>
                                  </p:childTnLst>
                                </p:cTn>
                              </p:par>
                            </p:childTnLst>
                          </p:cTn>
                        </p:par>
                        <p:par>
                          <p:cTn id="70" fill="hold">
                            <p:stCondLst>
                              <p:cond delay="6100"/>
                            </p:stCondLst>
                            <p:childTnLst>
                              <p:par>
                                <p:cTn id="71" presetID="42" presetClass="entr" presetSubtype="0" fill="hold" grpId="0" nodeType="afterEffect">
                                  <p:stCondLst>
                                    <p:cond delay="10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700"/>
                                        <p:tgtEl>
                                          <p:spTgt spid="26"/>
                                        </p:tgtEl>
                                      </p:cBhvr>
                                    </p:animEffect>
                                    <p:anim calcmode="lin" valueType="num">
                                      <p:cBhvr>
                                        <p:cTn id="74" dur="700" fill="hold" decel="100000"/>
                                        <p:tgtEl>
                                          <p:spTgt spid="26"/>
                                        </p:tgtEl>
                                        <p:attrNameLst>
                                          <p:attrName>ppt_x</p:attrName>
                                        </p:attrNameLst>
                                      </p:cBhvr>
                                      <p:tavLst>
                                        <p:tav tm="0">
                                          <p:val>
                                            <p:strVal val="#ppt_x"/>
                                          </p:val>
                                        </p:tav>
                                        <p:tav tm="100000">
                                          <p:val>
                                            <p:strVal val="#ppt_x"/>
                                          </p:val>
                                        </p:tav>
                                      </p:tavLst>
                                    </p:anim>
                                    <p:anim calcmode="lin" valueType="num">
                                      <p:cBhvr>
                                        <p:cTn id="75" dur="700" fill="hold" decel="100000"/>
                                        <p:tgtEl>
                                          <p:spTgt spid="26"/>
                                        </p:tgtEl>
                                        <p:attrNameLst>
                                          <p:attrName>ppt_y</p:attrName>
                                        </p:attrNameLst>
                                      </p:cBhvr>
                                      <p:tavLst>
                                        <p:tav tm="0">
                                          <p:val>
                                            <p:strVal val="#ppt_y+.04"/>
                                          </p:val>
                                        </p:tav>
                                        <p:tav tm="100000">
                                          <p:val>
                                            <p:strVal val="#ppt_y"/>
                                          </p:val>
                                        </p:tav>
                                      </p:tavLst>
                                    </p:anim>
                                  </p:childTnLst>
                                </p:cTn>
                              </p:par>
                              <p:par>
                                <p:cTn id="76" presetID="42" presetClass="entr" presetSubtype="0" fill="hold" grpId="0" nodeType="withEffect">
                                  <p:stCondLst>
                                    <p:cond delay="10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700"/>
                                        <p:tgtEl>
                                          <p:spTgt spid="27"/>
                                        </p:tgtEl>
                                      </p:cBhvr>
                                    </p:animEffect>
                                    <p:anim calcmode="lin" valueType="num">
                                      <p:cBhvr>
                                        <p:cTn id="79" dur="700" fill="hold" decel="100000"/>
                                        <p:tgtEl>
                                          <p:spTgt spid="27"/>
                                        </p:tgtEl>
                                        <p:attrNameLst>
                                          <p:attrName>ppt_x</p:attrName>
                                        </p:attrNameLst>
                                      </p:cBhvr>
                                      <p:tavLst>
                                        <p:tav tm="0">
                                          <p:val>
                                            <p:strVal val="#ppt_x"/>
                                          </p:val>
                                        </p:tav>
                                        <p:tav tm="100000">
                                          <p:val>
                                            <p:strVal val="#ppt_x"/>
                                          </p:val>
                                        </p:tav>
                                      </p:tavLst>
                                    </p:anim>
                                    <p:anim calcmode="lin" valueType="num">
                                      <p:cBhvr>
                                        <p:cTn id="80" dur="700" fill="hold" decel="100000"/>
                                        <p:tgtEl>
                                          <p:spTgt spid="27"/>
                                        </p:tgtEl>
                                        <p:attrNameLst>
                                          <p:attrName>ppt_y</p:attrName>
                                        </p:attrNameLst>
                                      </p:cBhvr>
                                      <p:tavLst>
                                        <p:tav tm="0">
                                          <p:val>
                                            <p:strVal val="#ppt_y+.04"/>
                                          </p:val>
                                        </p:tav>
                                        <p:tav tm="100000">
                                          <p:val>
                                            <p:strVal val="#ppt_y"/>
                                          </p:val>
                                        </p:tav>
                                      </p:tavLst>
                                    </p:anim>
                                  </p:childTnLst>
                                </p:cTn>
                              </p:par>
                              <p:par>
                                <p:cTn id="81" presetID="42" presetClass="entr" presetSubtype="0" fill="hold" grpId="0" nodeType="withEffect">
                                  <p:stCondLst>
                                    <p:cond delay="100"/>
                                  </p:stCondLst>
                                  <p:childTnLst>
                                    <p:set>
                                      <p:cBhvr>
                                        <p:cTn id="82" dur="1" fill="hold">
                                          <p:stCondLst>
                                            <p:cond delay="0"/>
                                          </p:stCondLst>
                                        </p:cTn>
                                        <p:tgtEl>
                                          <p:spTgt spid="28"/>
                                        </p:tgtEl>
                                        <p:attrNameLst>
                                          <p:attrName>style.visibility</p:attrName>
                                        </p:attrNameLst>
                                      </p:cBhvr>
                                      <p:to>
                                        <p:strVal val="visible"/>
                                      </p:to>
                                    </p:set>
                                    <p:animEffect transition="in" filter="fade">
                                      <p:cBhvr>
                                        <p:cTn id="83" dur="700"/>
                                        <p:tgtEl>
                                          <p:spTgt spid="28"/>
                                        </p:tgtEl>
                                      </p:cBhvr>
                                    </p:animEffect>
                                    <p:anim calcmode="lin" valueType="num">
                                      <p:cBhvr>
                                        <p:cTn id="84" dur="700" fill="hold" decel="100000"/>
                                        <p:tgtEl>
                                          <p:spTgt spid="28"/>
                                        </p:tgtEl>
                                        <p:attrNameLst>
                                          <p:attrName>ppt_x</p:attrName>
                                        </p:attrNameLst>
                                      </p:cBhvr>
                                      <p:tavLst>
                                        <p:tav tm="0">
                                          <p:val>
                                            <p:strVal val="#ppt_x"/>
                                          </p:val>
                                        </p:tav>
                                        <p:tav tm="100000">
                                          <p:val>
                                            <p:strVal val="#ppt_x"/>
                                          </p:val>
                                        </p:tav>
                                      </p:tavLst>
                                    </p:anim>
                                    <p:anim calcmode="lin" valueType="num">
                                      <p:cBhvr>
                                        <p:cTn id="85" dur="700" fill="hold" decel="100000"/>
                                        <p:tgtEl>
                                          <p:spTgt spid="28"/>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Graphic spid="15" grpId="0">
        <p:bldSub>
          <a:bldChart bld="category" animBg="0"/>
        </p:bldSub>
      </p:bldGraphic>
      <p:bldP spid="16" grpId="0" animBg="1"/>
      <p:bldP spid="17" grpId="0" animBg="1"/>
      <p:bldP spid="18" grpId="0"/>
      <p:bldP spid="19" grpId="0"/>
      <p:bldP spid="20" grpId="0" animBg="1"/>
      <p:bldP spid="21" grpId="0" animBg="1"/>
      <p:bldP spid="22" grpId="0" animBg="1"/>
      <p:bldP spid="23" grpId="0" animBg="1"/>
      <p:bldP spid="24" grpId="0" animBg="1"/>
      <p:bldP spid="25" grpId="0"/>
      <p:bldP spid="26" grpId="0" animBg="1"/>
      <p:bldP spid="27" grpId="0" animBg="1"/>
      <p:bldP spid="28" grpId="0"/>
    </p:bld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8F3"/>
        </a:solidFill>
        <a:effectLst/>
      </p:bgPr>
    </p:bg>
    <p:spTree>
      <p:nvGrpSpPr>
        <p:cNvPr id="1" name=""/>
        <p:cNvGrpSpPr/>
        <p:nvPr/>
      </p:nvGrpSpPr>
      <p:grpSpPr/>
      <p:sp>
        <p:nvSpPr>
          <p:cNvPr id="2" name="Trait or"/>
          <p:cNvSpPr/>
          <p:nvPr/>
        </p:nvSpPr>
        <p:spPr>
          <a:xfrm>
            <a:off x="609600" y="444500"/>
            <a:ext cx="406400" cy="38100"/>
          </a:xfrm>
          <a:prstGeom prst="rect">
            <a:avLst/>
          </a:prstGeom>
          <a:solidFill>
            <a:srgbClr val="D3A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brique"/>
          <p:cNvSpPr txBox="1"/>
          <p:nvPr/>
        </p:nvSpPr>
        <p:spPr>
          <a:xfrm>
            <a:off x="609600" y="508000"/>
            <a:ext cx="10160000" cy="304800"/>
          </a:xfrm>
          <a:prstGeom prst="rect">
            <a:avLst/>
          </a:prstGeom>
          <a:noFill/>
        </p:spPr>
        <p:txBody>
          <a:bodyPr wrap="square" lIns="0" tIns="0" rIns="0" bIns="0" anchor="ctr">
            <a:noAutofit/>
          </a:bodyPr>
          <a:lstStyle/>
          <a:p>
            <a:pPr algn="l">
              <a:lnSpc>
                <a:spcPct val="100000"/>
              </a:lnSpc>
              <a:spcBef>
                <a:spcPts val="0"/>
              </a:spcBef>
              <a:spcAft>
                <a:spcPts val="0"/>
              </a:spcAft>
            </a:pPr>
            <a:r>
              <a:rPr sz="2000" b="1" i="0" lang="fr-FR" spc="150">
                <a:solidFill>
                  <a:srgbClr val="1E7B67"/>
                </a:solidFill>
                <a:latin typeface="Calibri"/>
              </a:rPr>
              <a:t>08 / LES PRIORITÉS</a:t>
            </a:r>
          </a:p>
        </p:txBody>
      </p:sp>
      <p:sp>
        <p:nvSpPr>
          <p:cNvPr id="4" name="Titre"/>
          <p:cNvSpPr txBox="1"/>
          <p:nvPr/>
        </p:nvSpPr>
        <p:spPr>
          <a:xfrm>
            <a:off x="609600" y="774700"/>
            <a:ext cx="10972800" cy="609600"/>
          </a:xfrm>
          <a:prstGeom prst="rect">
            <a:avLst/>
          </a:prstGeom>
          <a:noFill/>
        </p:spPr>
        <p:txBody>
          <a:bodyPr wrap="square" lIns="0" tIns="0" rIns="0" bIns="0" anchor="ctr">
            <a:noAutofit/>
          </a:bodyPr>
          <a:lstStyle/>
          <a:p>
            <a:pPr algn="l">
              <a:lnSpc>
                <a:spcPct val="100000"/>
              </a:lnSpc>
              <a:spcBef>
                <a:spcPts val="0"/>
              </a:spcBef>
              <a:spcAft>
                <a:spcPts val="0"/>
              </a:spcAft>
            </a:pPr>
            <a:r>
              <a:rPr sz="4000" b="1" i="0" lang="fr-FR">
                <a:solidFill>
                  <a:srgbClr val="12264A"/>
                </a:solidFill>
                <a:latin typeface="Calibri"/>
              </a:rPr>
              <a:t>À quoi serviraient les ressources ?</a:t>
            </a:r>
          </a:p>
        </p:txBody>
      </p:sp>
      <p:sp>
        <p:nvSpPr>
          <p:cNvPr id="5" name="Accroche"/>
          <p:cNvSpPr txBox="1"/>
          <p:nvPr/>
        </p:nvSpPr>
        <p:spPr>
          <a:xfrm>
            <a:off x="609600" y="1358900"/>
            <a:ext cx="10972800" cy="355600"/>
          </a:xfrm>
          <a:prstGeom prst="rect">
            <a:avLst/>
          </a:prstGeom>
          <a:noFill/>
        </p:spPr>
        <p:txBody>
          <a:bodyPr wrap="square" lIns="0" tIns="0" rIns="0" bIns="0" anchor="t">
            <a:noAutofit/>
          </a:bodyPr>
          <a:lstStyle/>
          <a:p>
            <a:pPr algn="l">
              <a:lnSpc>
                <a:spcPct val="100000"/>
              </a:lnSpc>
              <a:spcBef>
                <a:spcPts val="0"/>
              </a:spcBef>
              <a:spcAft>
                <a:spcPts val="0"/>
              </a:spcAft>
            </a:pPr>
            <a:r>
              <a:rPr sz="2200" b="0" i="0" lang="fr-FR">
                <a:solidFill>
                  <a:srgbClr val="1B2A41"/>
                </a:solidFill>
                <a:latin typeface="Calibri"/>
              </a:rPr>
              <a:t>Répartition proposée des ressources : huit postes, 100 % du total.</a:t>
            </a:r>
          </a:p>
        </p:txBody>
      </p:sp>
      <p:sp>
        <p:nvSpPr>
          <p:cNvPr id="6" name="Pied de page"/>
          <p:cNvSpPr txBox="1"/>
          <p:nvPr/>
        </p:nvSpPr>
        <p:spPr>
          <a:xfrm>
            <a:off x="609600" y="6413500"/>
            <a:ext cx="4826000" cy="241300"/>
          </a:xfrm>
          <a:prstGeom prst="rect">
            <a:avLst/>
          </a:prstGeom>
          <a:noFill/>
        </p:spPr>
        <p:txBody>
          <a:bodyPr wrap="square" lIns="0" tIns="0" rIns="0" bIns="0" anchor="ctr">
            <a:noAutofit/>
          </a:bodyPr>
          <a:lstStyle/>
          <a:p>
            <a:pPr algn="l">
              <a:lnSpc>
                <a:spcPct val="100000"/>
              </a:lnSpc>
              <a:spcBef>
                <a:spcPts val="0"/>
              </a:spcBef>
              <a:spcAft>
                <a:spcPts val="0"/>
              </a:spcAft>
            </a:pPr>
            <a:r>
              <a:rPr sz="1400" b="1" i="0" lang="fr-FR" spc="50">
                <a:solidFill>
                  <a:srgbClr val="1B2A41"/>
                </a:solidFill>
                <a:latin typeface="Calibri"/>
              </a:rPr>
              <a:t>FUTURA - KOUROUSSA | Octobre 2026</a:t>
            </a:r>
          </a:p>
        </p:txBody>
      </p:sp>
      <p:sp>
        <p:nvSpPr>
          <p:cNvPr id="7" name="Pied bandeau"/>
          <p:cNvSpPr/>
          <p:nvPr/>
        </p:nvSpPr>
        <p:spPr>
          <a:xfrm>
            <a:off x="9069742" y="6350000"/>
            <a:ext cx="2512658" cy="355600"/>
          </a:xfrm>
          <a:prstGeom prst="roundRect">
            <a:avLst>
              <a:gd name="adj" fmla="val 42857"/>
            </a:avLst>
          </a:prstGeom>
          <a:solidFill>
            <a:srgbClr val="FFFFFF"/>
          </a:solidFill>
          <a:ln w="9525">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ed logo futura-kouroussa" descr="futura-kouroussa.png"/>
          <p:cNvPicPr>
            <a:picLocks noChangeAspect="1"/>
          </p:cNvPicPr>
          <p:nvPr/>
        </p:nvPicPr>
        <p:blipFill>
          <a:blip r:embed="rId2"/>
          <a:stretch>
            <a:fillRect/>
          </a:stretch>
        </p:blipFill>
        <p:spPr>
          <a:xfrm>
            <a:off x="9184042" y="6419850"/>
            <a:ext cx="391970" cy="215900"/>
          </a:xfrm>
          <a:prstGeom prst="rect">
            <a:avLst/>
          </a:prstGeom>
        </p:spPr>
      </p:pic>
      <p:pic>
        <p:nvPicPr>
          <p:cNvPr id="9" name="Pied logo republique-de-guinee-armoiries" descr="republique-de-guinee-armoiries.png"/>
          <p:cNvPicPr>
            <a:picLocks noChangeAspect="1"/>
          </p:cNvPicPr>
          <p:nvPr/>
        </p:nvPicPr>
        <p:blipFill>
          <a:blip r:embed="rId3"/>
          <a:stretch>
            <a:fillRect/>
          </a:stretch>
        </p:blipFill>
        <p:spPr>
          <a:xfrm>
            <a:off x="9664912" y="6419850"/>
            <a:ext cx="179814" cy="215900"/>
          </a:xfrm>
          <a:prstGeom prst="rect">
            <a:avLst/>
          </a:prstGeom>
        </p:spPr>
      </p:pic>
      <p:pic>
        <p:nvPicPr>
          <p:cNvPr id="10" name="Pied logo assemblee-nationale" descr="assemblee-nationale.png"/>
          <p:cNvPicPr>
            <a:picLocks noChangeAspect="1"/>
          </p:cNvPicPr>
          <p:nvPr/>
        </p:nvPicPr>
        <p:blipFill>
          <a:blip r:embed="rId4"/>
          <a:stretch>
            <a:fillRect/>
          </a:stretch>
        </p:blipFill>
        <p:spPr>
          <a:xfrm>
            <a:off x="9933626" y="6419850"/>
            <a:ext cx="217442" cy="215900"/>
          </a:xfrm>
          <a:prstGeom prst="rect">
            <a:avLst/>
          </a:prstGeom>
        </p:spPr>
      </p:pic>
      <p:pic>
        <p:nvPicPr>
          <p:cNvPr id="11" name="Pied logo simandou-2040" descr="simandou-2040.png"/>
          <p:cNvPicPr>
            <a:picLocks noChangeAspect="1"/>
          </p:cNvPicPr>
          <p:nvPr/>
        </p:nvPicPr>
        <p:blipFill>
          <a:blip r:embed="rId5"/>
          <a:stretch>
            <a:fillRect/>
          </a:stretch>
        </p:blipFill>
        <p:spPr>
          <a:xfrm>
            <a:off x="10239968" y="6419850"/>
            <a:ext cx="674774" cy="215900"/>
          </a:xfrm>
          <a:prstGeom prst="rect">
            <a:avLst/>
          </a:prstGeom>
        </p:spPr>
      </p:pic>
      <p:pic>
        <p:nvPicPr>
          <p:cNvPr id="12" name="Pied logo guinee" descr="guinee.png"/>
          <p:cNvPicPr>
            <a:picLocks noChangeAspect="1"/>
          </p:cNvPicPr>
          <p:nvPr/>
        </p:nvPicPr>
        <p:blipFill>
          <a:blip r:embed="rId6"/>
          <a:stretch>
            <a:fillRect/>
          </a:stretch>
        </p:blipFill>
        <p:spPr>
          <a:xfrm>
            <a:off x="11003643" y="6419850"/>
            <a:ext cx="464457" cy="215900"/>
          </a:xfrm>
          <a:prstGeom prst="rect">
            <a:avLst/>
          </a:prstGeom>
        </p:spPr>
      </p:pic>
      <p:sp>
        <p:nvSpPr>
          <p:cNvPr id="13" name="Numéro"/>
          <p:cNvSpPr txBox="1"/>
          <p:nvPr/>
        </p:nvSpPr>
        <p:spPr>
          <a:xfrm>
            <a:off x="7990242" y="6413500"/>
            <a:ext cx="952500" cy="241300"/>
          </a:xfrm>
          <a:prstGeom prst="rect">
            <a:avLst/>
          </a:prstGeom>
          <a:noFill/>
        </p:spPr>
        <p:txBody>
          <a:bodyPr wrap="square" lIns="0" tIns="0" rIns="0" bIns="0" anchor="ctr">
            <a:noAutofit/>
          </a:bodyPr>
          <a:lstStyle/>
          <a:p>
            <a:pPr algn="r">
              <a:lnSpc>
                <a:spcPct val="100000"/>
              </a:lnSpc>
              <a:spcBef>
                <a:spcPts val="0"/>
              </a:spcBef>
              <a:spcAft>
                <a:spcPts val="0"/>
              </a:spcAft>
            </a:pPr>
            <a:r>
              <a:rPr sz="1400" b="1" i="0" lang="fr-FR">
                <a:solidFill>
                  <a:srgbClr val="12264A"/>
                </a:solidFill>
                <a:latin typeface="Calibri"/>
              </a:rPr>
              <a:t>09 / 15</a:t>
            </a:r>
          </a:p>
        </p:txBody>
      </p:sp>
      <p:graphicFrame>
        <p:nvGraphicFramePr>
          <p:cNvPr id="14" name="s09 graphique répartition"/>
          <p:cNvGraphicFramePr>
            <a:graphicFrameLocks noGrp="1"/>
          </p:cNvGraphicFramePr>
          <p:nvPr/>
        </p:nvGraphicFramePr>
        <p:xfrm>
          <a:off x="609600" y="1968500"/>
          <a:ext cx="6350000" cy="4064000"/>
        </p:xfrm>
        <a:graphic>
          <a:graphicData uri="http://schemas.openxmlformats.org/drawingml/2006/chart">
            <c:chart xmlns:c="http://schemas.openxmlformats.org/drawingml/2006/chart" r:id="rId7"/>
          </a:graphicData>
        </a:graphic>
      </p:graphicFrame>
      <p:sp>
        <p:nvSpPr>
          <p:cNvPr id="15" name="s09 poste 1"/>
          <p:cNvSpPr txBox="1"/>
          <p:nvPr/>
        </p:nvSpPr>
        <p:spPr>
          <a:xfrm>
            <a:off x="609600" y="1841500"/>
            <a:ext cx="6731000" cy="279400"/>
          </a:xfrm>
          <a:prstGeom prst="rect">
            <a:avLst/>
          </a:prstGeom>
          <a:noFill/>
        </p:spPr>
        <p:txBody>
          <a:bodyPr wrap="square" lIns="0" tIns="0" rIns="0" bIns="0" anchor="b">
            <a:noAutofit/>
          </a:bodyPr>
          <a:lstStyle/>
          <a:p>
            <a:pPr algn="l">
              <a:lnSpc>
                <a:spcPct val="100000"/>
              </a:lnSpc>
              <a:spcBef>
                <a:spcPts val="0"/>
              </a:spcBef>
              <a:spcAft>
                <a:spcPts val="0"/>
              </a:spcAft>
            </a:pPr>
            <a:r>
              <a:rPr sz="2000" b="1" i="0" lang="fr-FR">
                <a:solidFill>
                  <a:srgbClr val="1B2A41"/>
                </a:solidFill>
                <a:latin typeface="Calibri"/>
              </a:rPr>
              <a:t>Infrastructures, eau, électricité, routes</a:t>
            </a:r>
          </a:p>
        </p:txBody>
      </p:sp>
      <p:sp>
        <p:nvSpPr>
          <p:cNvPr id="16" name="s09 part 1"/>
          <p:cNvSpPr txBox="1"/>
          <p:nvPr/>
        </p:nvSpPr>
        <p:spPr>
          <a:xfrm>
            <a:off x="6565430" y="2082800"/>
            <a:ext cx="698500" cy="279400"/>
          </a:xfrm>
          <a:prstGeom prst="rect">
            <a:avLst/>
          </a:prstGeom>
          <a:noFill/>
        </p:spPr>
        <p:txBody>
          <a:bodyPr wrap="square" lIns="0" tIns="0" rIns="0" bIns="0" anchor="ctr">
            <a:noAutofit/>
          </a:bodyPr>
          <a:lstStyle/>
          <a:p>
            <a:pPr algn="l">
              <a:lnSpc>
                <a:spcPct val="100000"/>
              </a:lnSpc>
              <a:spcBef>
                <a:spcPts val="0"/>
              </a:spcBef>
              <a:spcAft>
                <a:spcPts val="0"/>
              </a:spcAft>
            </a:pPr>
            <a:r>
              <a:rPr sz="2200" b="1" i="0" lang="fr-FR">
                <a:solidFill>
                  <a:srgbClr val="12264A"/>
                </a:solidFill>
                <a:latin typeface="Calibri"/>
              </a:rPr>
              <a:t>25 %</a:t>
            </a:r>
          </a:p>
        </p:txBody>
      </p:sp>
      <p:sp>
        <p:nvSpPr>
          <p:cNvPr id="17" name="s09 poste 2"/>
          <p:cNvSpPr txBox="1"/>
          <p:nvPr/>
        </p:nvSpPr>
        <p:spPr>
          <a:xfrm>
            <a:off x="609600" y="2349500"/>
            <a:ext cx="6731000" cy="279400"/>
          </a:xfrm>
          <a:prstGeom prst="rect">
            <a:avLst/>
          </a:prstGeom>
          <a:noFill/>
        </p:spPr>
        <p:txBody>
          <a:bodyPr wrap="square" lIns="0" tIns="0" rIns="0" bIns="0" anchor="b">
            <a:noAutofit/>
          </a:bodyPr>
          <a:lstStyle/>
          <a:p>
            <a:pPr algn="l">
              <a:lnSpc>
                <a:spcPct val="100000"/>
              </a:lnSpc>
              <a:spcBef>
                <a:spcPts val="0"/>
              </a:spcBef>
              <a:spcAft>
                <a:spcPts val="0"/>
              </a:spcAft>
            </a:pPr>
            <a:r>
              <a:rPr sz="2000" b="1" i="0" lang="fr-FR">
                <a:solidFill>
                  <a:srgbClr val="1B2A41"/>
                </a:solidFill>
                <a:latin typeface="Calibri"/>
              </a:rPr>
              <a:t>Santé et action sociale</a:t>
            </a:r>
          </a:p>
        </p:txBody>
      </p:sp>
      <p:sp>
        <p:nvSpPr>
          <p:cNvPr id="18" name="s09 part 2"/>
          <p:cNvSpPr txBox="1"/>
          <p:nvPr/>
        </p:nvSpPr>
        <p:spPr>
          <a:xfrm>
            <a:off x="5389504" y="2590800"/>
            <a:ext cx="698500" cy="279400"/>
          </a:xfrm>
          <a:prstGeom prst="rect">
            <a:avLst/>
          </a:prstGeom>
          <a:noFill/>
        </p:spPr>
        <p:txBody>
          <a:bodyPr wrap="square" lIns="0" tIns="0" rIns="0" bIns="0" anchor="ctr">
            <a:noAutofit/>
          </a:bodyPr>
          <a:lstStyle/>
          <a:p>
            <a:pPr algn="l">
              <a:lnSpc>
                <a:spcPct val="100000"/>
              </a:lnSpc>
              <a:spcBef>
                <a:spcPts val="0"/>
              </a:spcBef>
              <a:spcAft>
                <a:spcPts val="0"/>
              </a:spcAft>
            </a:pPr>
            <a:r>
              <a:rPr sz="2200" b="1" i="0" lang="fr-FR">
                <a:solidFill>
                  <a:srgbClr val="12264A"/>
                </a:solidFill>
                <a:latin typeface="Calibri"/>
              </a:rPr>
              <a:t>20 %</a:t>
            </a:r>
          </a:p>
        </p:txBody>
      </p:sp>
      <p:sp>
        <p:nvSpPr>
          <p:cNvPr id="19" name="s09 poste 3"/>
          <p:cNvSpPr txBox="1"/>
          <p:nvPr/>
        </p:nvSpPr>
        <p:spPr>
          <a:xfrm>
            <a:off x="609600" y="2857500"/>
            <a:ext cx="6731000" cy="279400"/>
          </a:xfrm>
          <a:prstGeom prst="rect">
            <a:avLst/>
          </a:prstGeom>
          <a:noFill/>
        </p:spPr>
        <p:txBody>
          <a:bodyPr wrap="square" lIns="0" tIns="0" rIns="0" bIns="0" anchor="b">
            <a:noAutofit/>
          </a:bodyPr>
          <a:lstStyle/>
          <a:p>
            <a:pPr algn="l">
              <a:lnSpc>
                <a:spcPct val="100000"/>
              </a:lnSpc>
              <a:spcBef>
                <a:spcPts val="0"/>
              </a:spcBef>
              <a:spcAft>
                <a:spcPts val="0"/>
              </a:spcAft>
            </a:pPr>
            <a:r>
              <a:rPr sz="2000" b="1" i="0" lang="fr-FR">
                <a:solidFill>
                  <a:srgbClr val="1B2A41"/>
                </a:solidFill>
                <a:latin typeface="Calibri"/>
              </a:rPr>
              <a:t>Éducation et formation</a:t>
            </a:r>
          </a:p>
        </p:txBody>
      </p:sp>
      <p:sp>
        <p:nvSpPr>
          <p:cNvPr id="20" name="s09 part 3"/>
          <p:cNvSpPr txBox="1"/>
          <p:nvPr/>
        </p:nvSpPr>
        <p:spPr>
          <a:xfrm>
            <a:off x="4213578" y="3098800"/>
            <a:ext cx="698500" cy="279400"/>
          </a:xfrm>
          <a:prstGeom prst="rect">
            <a:avLst/>
          </a:prstGeom>
          <a:noFill/>
        </p:spPr>
        <p:txBody>
          <a:bodyPr wrap="square" lIns="0" tIns="0" rIns="0" bIns="0" anchor="ctr">
            <a:noAutofit/>
          </a:bodyPr>
          <a:lstStyle/>
          <a:p>
            <a:pPr algn="l">
              <a:lnSpc>
                <a:spcPct val="100000"/>
              </a:lnSpc>
              <a:spcBef>
                <a:spcPts val="0"/>
              </a:spcBef>
              <a:spcAft>
                <a:spcPts val="0"/>
              </a:spcAft>
            </a:pPr>
            <a:r>
              <a:rPr sz="2200" b="1" i="0" lang="fr-FR">
                <a:solidFill>
                  <a:srgbClr val="12264A"/>
                </a:solidFill>
                <a:latin typeface="Calibri"/>
              </a:rPr>
              <a:t>15 %</a:t>
            </a:r>
          </a:p>
        </p:txBody>
      </p:sp>
      <p:sp>
        <p:nvSpPr>
          <p:cNvPr id="21" name="s09 poste 4"/>
          <p:cNvSpPr txBox="1"/>
          <p:nvPr/>
        </p:nvSpPr>
        <p:spPr>
          <a:xfrm>
            <a:off x="609600" y="3365500"/>
            <a:ext cx="6731000" cy="279400"/>
          </a:xfrm>
          <a:prstGeom prst="rect">
            <a:avLst/>
          </a:prstGeom>
          <a:noFill/>
        </p:spPr>
        <p:txBody>
          <a:bodyPr wrap="square" lIns="0" tIns="0" rIns="0" bIns="0" anchor="b">
            <a:noAutofit/>
          </a:bodyPr>
          <a:lstStyle/>
          <a:p>
            <a:pPr algn="l">
              <a:lnSpc>
                <a:spcPct val="100000"/>
              </a:lnSpc>
              <a:spcBef>
                <a:spcPts val="0"/>
              </a:spcBef>
              <a:spcAft>
                <a:spcPts val="0"/>
              </a:spcAft>
            </a:pPr>
            <a:r>
              <a:rPr sz="2000" b="1" i="0" lang="fr-FR">
                <a:solidFill>
                  <a:srgbClr val="1B2A41"/>
                </a:solidFill>
                <a:latin typeface="Calibri"/>
              </a:rPr>
              <a:t>Agriculture et sécurité alimentaire</a:t>
            </a:r>
          </a:p>
        </p:txBody>
      </p:sp>
      <p:sp>
        <p:nvSpPr>
          <p:cNvPr id="22" name="s09 part 4"/>
          <p:cNvSpPr txBox="1"/>
          <p:nvPr/>
        </p:nvSpPr>
        <p:spPr>
          <a:xfrm>
            <a:off x="3037652" y="3606800"/>
            <a:ext cx="698500" cy="279400"/>
          </a:xfrm>
          <a:prstGeom prst="rect">
            <a:avLst/>
          </a:prstGeom>
          <a:noFill/>
        </p:spPr>
        <p:txBody>
          <a:bodyPr wrap="square" lIns="0" tIns="0" rIns="0" bIns="0" anchor="ctr">
            <a:noAutofit/>
          </a:bodyPr>
          <a:lstStyle/>
          <a:p>
            <a:pPr algn="l">
              <a:lnSpc>
                <a:spcPct val="100000"/>
              </a:lnSpc>
              <a:spcBef>
                <a:spcPts val="0"/>
              </a:spcBef>
              <a:spcAft>
                <a:spcPts val="0"/>
              </a:spcAft>
            </a:pPr>
            <a:r>
              <a:rPr sz="2200" b="1" i="0" lang="fr-FR">
                <a:solidFill>
                  <a:srgbClr val="12264A"/>
                </a:solidFill>
                <a:latin typeface="Calibri"/>
              </a:rPr>
              <a:t>10 %</a:t>
            </a:r>
          </a:p>
        </p:txBody>
      </p:sp>
      <p:sp>
        <p:nvSpPr>
          <p:cNvPr id="23" name="s09 poste 5"/>
          <p:cNvSpPr txBox="1"/>
          <p:nvPr/>
        </p:nvSpPr>
        <p:spPr>
          <a:xfrm>
            <a:off x="609600" y="3873500"/>
            <a:ext cx="6731000" cy="279400"/>
          </a:xfrm>
          <a:prstGeom prst="rect">
            <a:avLst/>
          </a:prstGeom>
          <a:noFill/>
        </p:spPr>
        <p:txBody>
          <a:bodyPr wrap="square" lIns="0" tIns="0" rIns="0" bIns="0" anchor="b">
            <a:noAutofit/>
          </a:bodyPr>
          <a:lstStyle/>
          <a:p>
            <a:pPr algn="l">
              <a:lnSpc>
                <a:spcPct val="100000"/>
              </a:lnSpc>
              <a:spcBef>
                <a:spcPts val="0"/>
              </a:spcBef>
              <a:spcAft>
                <a:spcPts val="0"/>
              </a:spcAft>
            </a:pPr>
            <a:r>
              <a:rPr sz="2000" b="1" i="0" lang="fr-FR">
                <a:solidFill>
                  <a:srgbClr val="1B2A41"/>
                </a:solidFill>
                <a:latin typeface="Calibri"/>
              </a:rPr>
              <a:t>Emploi et développement économique</a:t>
            </a:r>
          </a:p>
        </p:txBody>
      </p:sp>
      <p:sp>
        <p:nvSpPr>
          <p:cNvPr id="24" name="s09 part 5"/>
          <p:cNvSpPr txBox="1"/>
          <p:nvPr/>
        </p:nvSpPr>
        <p:spPr>
          <a:xfrm>
            <a:off x="3037652" y="4114800"/>
            <a:ext cx="698500" cy="279400"/>
          </a:xfrm>
          <a:prstGeom prst="rect">
            <a:avLst/>
          </a:prstGeom>
          <a:noFill/>
        </p:spPr>
        <p:txBody>
          <a:bodyPr wrap="square" lIns="0" tIns="0" rIns="0" bIns="0" anchor="ctr">
            <a:noAutofit/>
          </a:bodyPr>
          <a:lstStyle/>
          <a:p>
            <a:pPr algn="l">
              <a:lnSpc>
                <a:spcPct val="100000"/>
              </a:lnSpc>
              <a:spcBef>
                <a:spcPts val="0"/>
              </a:spcBef>
              <a:spcAft>
                <a:spcPts val="0"/>
              </a:spcAft>
            </a:pPr>
            <a:r>
              <a:rPr sz="2200" b="1" i="0" lang="fr-FR">
                <a:solidFill>
                  <a:srgbClr val="12264A"/>
                </a:solidFill>
                <a:latin typeface="Calibri"/>
              </a:rPr>
              <a:t>10 %</a:t>
            </a:r>
          </a:p>
        </p:txBody>
      </p:sp>
      <p:sp>
        <p:nvSpPr>
          <p:cNvPr id="25" name="s09 poste 6"/>
          <p:cNvSpPr txBox="1"/>
          <p:nvPr/>
        </p:nvSpPr>
        <p:spPr>
          <a:xfrm>
            <a:off x="609600" y="4381500"/>
            <a:ext cx="6731000" cy="279400"/>
          </a:xfrm>
          <a:prstGeom prst="rect">
            <a:avLst/>
          </a:prstGeom>
          <a:noFill/>
        </p:spPr>
        <p:txBody>
          <a:bodyPr wrap="square" lIns="0" tIns="0" rIns="0" bIns="0" anchor="b">
            <a:noAutofit/>
          </a:bodyPr>
          <a:lstStyle/>
          <a:p>
            <a:pPr algn="l">
              <a:lnSpc>
                <a:spcPct val="100000"/>
              </a:lnSpc>
              <a:spcBef>
                <a:spcPts val="0"/>
              </a:spcBef>
              <a:spcAft>
                <a:spcPts val="0"/>
              </a:spcAft>
            </a:pPr>
            <a:r>
              <a:rPr sz="2000" b="1" i="0" lang="fr-FR">
                <a:solidFill>
                  <a:srgbClr val="1B2A41"/>
                </a:solidFill>
                <a:latin typeface="Calibri"/>
              </a:rPr>
              <a:t>Fonds Après-Mine</a:t>
            </a:r>
          </a:p>
        </p:txBody>
      </p:sp>
      <p:sp>
        <p:nvSpPr>
          <p:cNvPr id="26" name="s09 part 6"/>
          <p:cNvSpPr txBox="1"/>
          <p:nvPr/>
        </p:nvSpPr>
        <p:spPr>
          <a:xfrm>
            <a:off x="3037652" y="4622800"/>
            <a:ext cx="698500" cy="279400"/>
          </a:xfrm>
          <a:prstGeom prst="rect">
            <a:avLst/>
          </a:prstGeom>
          <a:noFill/>
        </p:spPr>
        <p:txBody>
          <a:bodyPr wrap="square" lIns="0" tIns="0" rIns="0" bIns="0" anchor="ctr">
            <a:noAutofit/>
          </a:bodyPr>
          <a:lstStyle/>
          <a:p>
            <a:pPr algn="l">
              <a:lnSpc>
                <a:spcPct val="100000"/>
              </a:lnSpc>
              <a:spcBef>
                <a:spcPts val="0"/>
              </a:spcBef>
              <a:spcAft>
                <a:spcPts val="0"/>
              </a:spcAft>
            </a:pPr>
            <a:r>
              <a:rPr sz="2200" b="1" i="0" lang="fr-FR">
                <a:solidFill>
                  <a:srgbClr val="12264A"/>
                </a:solidFill>
                <a:latin typeface="Calibri"/>
              </a:rPr>
              <a:t>10 %</a:t>
            </a:r>
          </a:p>
        </p:txBody>
      </p:sp>
      <p:sp>
        <p:nvSpPr>
          <p:cNvPr id="27" name="s09 poste 7"/>
          <p:cNvSpPr txBox="1"/>
          <p:nvPr/>
        </p:nvSpPr>
        <p:spPr>
          <a:xfrm>
            <a:off x="609600" y="4889500"/>
            <a:ext cx="6731000" cy="279400"/>
          </a:xfrm>
          <a:prstGeom prst="rect">
            <a:avLst/>
          </a:prstGeom>
          <a:noFill/>
        </p:spPr>
        <p:txBody>
          <a:bodyPr wrap="square" lIns="0" tIns="0" rIns="0" bIns="0" anchor="b">
            <a:noAutofit/>
          </a:bodyPr>
          <a:lstStyle/>
          <a:p>
            <a:pPr algn="l">
              <a:lnSpc>
                <a:spcPct val="100000"/>
              </a:lnSpc>
              <a:spcBef>
                <a:spcPts val="0"/>
              </a:spcBef>
              <a:spcAft>
                <a:spcPts val="0"/>
              </a:spcAft>
            </a:pPr>
            <a:r>
              <a:rPr sz="2000" b="1" i="0" lang="fr-FR">
                <a:solidFill>
                  <a:srgbClr val="1B2A41"/>
                </a:solidFill>
                <a:latin typeface="Calibri"/>
              </a:rPr>
              <a:t>Obligations d’État, épargne des générations futures</a:t>
            </a:r>
          </a:p>
        </p:txBody>
      </p:sp>
      <p:sp>
        <p:nvSpPr>
          <p:cNvPr id="28" name="s09 part 7"/>
          <p:cNvSpPr txBox="1"/>
          <p:nvPr/>
        </p:nvSpPr>
        <p:spPr>
          <a:xfrm>
            <a:off x="2332096" y="5130800"/>
            <a:ext cx="698500" cy="279400"/>
          </a:xfrm>
          <a:prstGeom prst="rect">
            <a:avLst/>
          </a:prstGeom>
          <a:noFill/>
        </p:spPr>
        <p:txBody>
          <a:bodyPr wrap="square" lIns="0" tIns="0" rIns="0" bIns="0" anchor="ctr">
            <a:noAutofit/>
          </a:bodyPr>
          <a:lstStyle/>
          <a:p>
            <a:pPr algn="l">
              <a:lnSpc>
                <a:spcPct val="100000"/>
              </a:lnSpc>
              <a:spcBef>
                <a:spcPts val="0"/>
              </a:spcBef>
              <a:spcAft>
                <a:spcPts val="0"/>
              </a:spcAft>
            </a:pPr>
            <a:r>
              <a:rPr sz="2200" b="1" i="0" lang="fr-FR">
                <a:solidFill>
                  <a:srgbClr val="12264A"/>
                </a:solidFill>
                <a:latin typeface="Calibri"/>
              </a:rPr>
              <a:t>7 %</a:t>
            </a:r>
          </a:p>
        </p:txBody>
      </p:sp>
      <p:sp>
        <p:nvSpPr>
          <p:cNvPr id="29" name="s09 poste 8"/>
          <p:cNvSpPr txBox="1"/>
          <p:nvPr/>
        </p:nvSpPr>
        <p:spPr>
          <a:xfrm>
            <a:off x="609600" y="5397500"/>
            <a:ext cx="6731000" cy="279400"/>
          </a:xfrm>
          <a:prstGeom prst="rect">
            <a:avLst/>
          </a:prstGeom>
          <a:noFill/>
        </p:spPr>
        <p:txBody>
          <a:bodyPr wrap="square" lIns="0" tIns="0" rIns="0" bIns="0" anchor="b">
            <a:noAutofit/>
          </a:bodyPr>
          <a:lstStyle/>
          <a:p>
            <a:pPr algn="l">
              <a:lnSpc>
                <a:spcPct val="100000"/>
              </a:lnSpc>
              <a:spcBef>
                <a:spcPts val="0"/>
              </a:spcBef>
              <a:spcAft>
                <a:spcPts val="0"/>
              </a:spcAft>
            </a:pPr>
            <a:r>
              <a:rPr sz="2000" b="1" i="0" lang="fr-FR">
                <a:solidFill>
                  <a:srgbClr val="1B2A41"/>
                </a:solidFill>
                <a:latin typeface="Calibri"/>
              </a:rPr>
              <a:t>Fonctionnement et réserve d’urgence</a:t>
            </a:r>
          </a:p>
        </p:txBody>
      </p:sp>
      <p:sp>
        <p:nvSpPr>
          <p:cNvPr id="30" name="s09 part 8"/>
          <p:cNvSpPr txBox="1"/>
          <p:nvPr/>
        </p:nvSpPr>
        <p:spPr>
          <a:xfrm>
            <a:off x="1391356" y="5638800"/>
            <a:ext cx="698500" cy="279400"/>
          </a:xfrm>
          <a:prstGeom prst="rect">
            <a:avLst/>
          </a:prstGeom>
          <a:noFill/>
        </p:spPr>
        <p:txBody>
          <a:bodyPr wrap="square" lIns="0" tIns="0" rIns="0" bIns="0" anchor="ctr">
            <a:noAutofit/>
          </a:bodyPr>
          <a:lstStyle/>
          <a:p>
            <a:pPr algn="l">
              <a:lnSpc>
                <a:spcPct val="100000"/>
              </a:lnSpc>
              <a:spcBef>
                <a:spcPts val="0"/>
              </a:spcBef>
              <a:spcAft>
                <a:spcPts val="0"/>
              </a:spcAft>
            </a:pPr>
            <a:r>
              <a:rPr sz="2200" b="1" i="0" lang="fr-FR">
                <a:solidFill>
                  <a:srgbClr val="12264A"/>
                </a:solidFill>
                <a:latin typeface="Calibri"/>
              </a:rPr>
              <a:t>3 %</a:t>
            </a:r>
          </a:p>
        </p:txBody>
      </p:sp>
      <p:sp>
        <p:nvSpPr>
          <p:cNvPr id="31" name="s09 axes titre"/>
          <p:cNvSpPr txBox="1"/>
          <p:nvPr/>
        </p:nvSpPr>
        <p:spPr>
          <a:xfrm>
            <a:off x="7848600" y="1816100"/>
            <a:ext cx="3733800" cy="584200"/>
          </a:xfrm>
          <a:prstGeom prst="rect">
            <a:avLst/>
          </a:prstGeom>
          <a:noFill/>
        </p:spPr>
        <p:txBody>
          <a:bodyPr wrap="square" lIns="0" tIns="0" rIns="0" bIns="0" anchor="ctr">
            <a:noAutofit/>
          </a:bodyPr>
          <a:lstStyle/>
          <a:p>
            <a:pPr algn="l">
              <a:lnSpc>
                <a:spcPct val="100000"/>
              </a:lnSpc>
              <a:spcBef>
                <a:spcPts val="0"/>
              </a:spcBef>
              <a:spcAft>
                <a:spcPts val="0"/>
              </a:spcAft>
            </a:pPr>
            <a:r>
              <a:rPr sz="2000" b="1" i="0" lang="fr-FR" spc="150">
                <a:solidFill>
                  <a:srgbClr val="1E7B67"/>
                </a:solidFill>
                <a:latin typeface="Calibri"/>
              </a:rPr>
              <a:t>HUIT AXES ISSUS DE LA MISSION PARLEMENTAIRE</a:t>
            </a:r>
          </a:p>
        </p:txBody>
      </p:sp>
      <p:sp>
        <p:nvSpPr>
          <p:cNvPr id="32" name="s09 axe 1"/>
          <p:cNvSpPr/>
          <p:nvPr/>
        </p:nvSpPr>
        <p:spPr>
          <a:xfrm>
            <a:off x="7848600" y="2489200"/>
            <a:ext cx="1828800" cy="711200"/>
          </a:xfrm>
          <a:prstGeom prst="roundRect">
            <a:avLst>
              <a:gd name="adj" fmla="val 21428"/>
            </a:avLst>
          </a:prstGeom>
          <a:solidFill>
            <a:srgbClr val="FFFFFF"/>
          </a:solidFill>
          <a:ln w="9525">
            <a:solidFill>
              <a:srgbClr val="E3DED3"/>
            </a:solidFill>
          </a:ln>
          <a:effectLst>
            <a:outerShdw blurRad="165100" dist="38100" dir="5400000" algn="t" rotWithShape="0">
              <a:srgbClr val="12264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09 axe icône 1"/>
          <p:cNvSpPr/>
          <p:nvPr/>
        </p:nvSpPr>
        <p:spPr>
          <a:xfrm>
            <a:off x="7975600" y="2667000"/>
            <a:ext cx="355600" cy="355600"/>
          </a:xfrm>
          <a:prstGeom prst="ellipse">
            <a:avLst/>
          </a:prstGeom>
          <a:solidFill>
            <a:srgbClr val="D3A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s09 axe icône 1 picto" descr="routes-nuit.png"/>
          <p:cNvPicPr>
            <a:picLocks noChangeAspect="1"/>
          </p:cNvPicPr>
          <p:nvPr/>
        </p:nvPicPr>
        <p:blipFill>
          <a:blip r:embed="rId8"/>
          <a:stretch>
            <a:fillRect/>
          </a:stretch>
        </p:blipFill>
        <p:spPr>
          <a:xfrm>
            <a:off x="8060944" y="2752344"/>
            <a:ext cx="184912" cy="184912"/>
          </a:xfrm>
          <a:prstGeom prst="rect">
            <a:avLst/>
          </a:prstGeom>
        </p:spPr>
      </p:pic>
      <p:sp>
        <p:nvSpPr>
          <p:cNvPr id="35" name="s09 axe texte 1"/>
          <p:cNvSpPr txBox="1"/>
          <p:nvPr/>
        </p:nvSpPr>
        <p:spPr>
          <a:xfrm>
            <a:off x="8394700" y="2489200"/>
            <a:ext cx="1257300" cy="711200"/>
          </a:xfrm>
          <a:prstGeom prst="rect">
            <a:avLst/>
          </a:prstGeom>
          <a:noFill/>
        </p:spPr>
        <p:txBody>
          <a:bodyPr wrap="square" lIns="0" tIns="0" rIns="0" bIns="0" anchor="ctr">
            <a:noAutofit/>
          </a:bodyPr>
          <a:lstStyle/>
          <a:p>
            <a:pPr algn="l">
              <a:lnSpc>
                <a:spcPct val="100000"/>
              </a:lnSpc>
              <a:spcBef>
                <a:spcPts val="0"/>
              </a:spcBef>
              <a:spcAft>
                <a:spcPts val="0"/>
              </a:spcAft>
            </a:pPr>
            <a:r>
              <a:rPr sz="2000" b="1" i="0" lang="fr-FR">
                <a:solidFill>
                  <a:srgbClr val="12264A"/>
                </a:solidFill>
                <a:latin typeface="Calibri"/>
              </a:rPr>
              <a:t>Routes</a:t>
            </a:r>
          </a:p>
        </p:txBody>
      </p:sp>
      <p:sp>
        <p:nvSpPr>
          <p:cNvPr id="36" name="s09 axe 2"/>
          <p:cNvSpPr/>
          <p:nvPr/>
        </p:nvSpPr>
        <p:spPr>
          <a:xfrm>
            <a:off x="9753600" y="2489200"/>
            <a:ext cx="1828800" cy="711200"/>
          </a:xfrm>
          <a:prstGeom prst="roundRect">
            <a:avLst>
              <a:gd name="adj" fmla="val 21428"/>
            </a:avLst>
          </a:prstGeom>
          <a:solidFill>
            <a:srgbClr val="FFFFFF"/>
          </a:solidFill>
          <a:ln w="9525">
            <a:solidFill>
              <a:srgbClr val="E3DED3"/>
            </a:solidFill>
          </a:ln>
          <a:effectLst>
            <a:outerShdw blurRad="165100" dist="38100" dir="5400000" algn="t" rotWithShape="0">
              <a:srgbClr val="12264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s09 axe icône 2"/>
          <p:cNvSpPr/>
          <p:nvPr/>
        </p:nvSpPr>
        <p:spPr>
          <a:xfrm>
            <a:off x="9880600" y="2667000"/>
            <a:ext cx="355600" cy="355600"/>
          </a:xfrm>
          <a:prstGeom prst="ellipse">
            <a:avLst/>
          </a:prstGeom>
          <a:solidFill>
            <a:srgbClr val="3A7C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s09 axe icône 2 picto" descr="eau.png"/>
          <p:cNvPicPr>
            <a:picLocks noChangeAspect="1"/>
          </p:cNvPicPr>
          <p:nvPr/>
        </p:nvPicPr>
        <p:blipFill>
          <a:blip r:embed="rId9"/>
          <a:stretch>
            <a:fillRect/>
          </a:stretch>
        </p:blipFill>
        <p:spPr>
          <a:xfrm>
            <a:off x="9965944" y="2752344"/>
            <a:ext cx="184912" cy="184912"/>
          </a:xfrm>
          <a:prstGeom prst="rect">
            <a:avLst/>
          </a:prstGeom>
        </p:spPr>
      </p:pic>
      <p:sp>
        <p:nvSpPr>
          <p:cNvPr id="39" name="s09 axe texte 2"/>
          <p:cNvSpPr txBox="1"/>
          <p:nvPr/>
        </p:nvSpPr>
        <p:spPr>
          <a:xfrm>
            <a:off x="10299700" y="2489200"/>
            <a:ext cx="1257300" cy="711200"/>
          </a:xfrm>
          <a:prstGeom prst="rect">
            <a:avLst/>
          </a:prstGeom>
          <a:noFill/>
        </p:spPr>
        <p:txBody>
          <a:bodyPr wrap="square" lIns="0" tIns="0" rIns="0" bIns="0" anchor="ctr">
            <a:noAutofit/>
          </a:bodyPr>
          <a:lstStyle/>
          <a:p>
            <a:pPr algn="l">
              <a:lnSpc>
                <a:spcPct val="100000"/>
              </a:lnSpc>
              <a:spcBef>
                <a:spcPts val="0"/>
              </a:spcBef>
              <a:spcAft>
                <a:spcPts val="0"/>
              </a:spcAft>
            </a:pPr>
            <a:r>
              <a:rPr sz="2000" b="1" i="0" lang="fr-FR">
                <a:solidFill>
                  <a:srgbClr val="12264A"/>
                </a:solidFill>
                <a:latin typeface="Calibri"/>
              </a:rPr>
              <a:t>Eau</a:t>
            </a:r>
          </a:p>
        </p:txBody>
      </p:sp>
      <p:sp>
        <p:nvSpPr>
          <p:cNvPr id="40" name="s09 axe 3"/>
          <p:cNvSpPr/>
          <p:nvPr/>
        </p:nvSpPr>
        <p:spPr>
          <a:xfrm>
            <a:off x="7848600" y="3352800"/>
            <a:ext cx="1828800" cy="711200"/>
          </a:xfrm>
          <a:prstGeom prst="roundRect">
            <a:avLst>
              <a:gd name="adj" fmla="val 21428"/>
            </a:avLst>
          </a:prstGeom>
          <a:solidFill>
            <a:srgbClr val="FFFFFF"/>
          </a:solidFill>
          <a:ln w="9525">
            <a:solidFill>
              <a:srgbClr val="E3DED3"/>
            </a:solidFill>
          </a:ln>
          <a:effectLst>
            <a:outerShdw blurRad="165100" dist="38100" dir="5400000" algn="t" rotWithShape="0">
              <a:srgbClr val="12264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s09 axe icône 3"/>
          <p:cNvSpPr/>
          <p:nvPr/>
        </p:nvSpPr>
        <p:spPr>
          <a:xfrm>
            <a:off x="7975600" y="3530600"/>
            <a:ext cx="355600" cy="355600"/>
          </a:xfrm>
          <a:prstGeom prst="ellipse">
            <a:avLst/>
          </a:prstGeom>
          <a:solidFill>
            <a:srgbClr val="1E7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s09 axe icône 3 picto" descr="sante.png"/>
          <p:cNvPicPr>
            <a:picLocks noChangeAspect="1"/>
          </p:cNvPicPr>
          <p:nvPr/>
        </p:nvPicPr>
        <p:blipFill>
          <a:blip r:embed="rId10"/>
          <a:stretch>
            <a:fillRect/>
          </a:stretch>
        </p:blipFill>
        <p:spPr>
          <a:xfrm>
            <a:off x="8060944" y="3615944"/>
            <a:ext cx="184912" cy="184912"/>
          </a:xfrm>
          <a:prstGeom prst="rect">
            <a:avLst/>
          </a:prstGeom>
        </p:spPr>
      </p:pic>
      <p:sp>
        <p:nvSpPr>
          <p:cNvPr id="43" name="s09 axe texte 3"/>
          <p:cNvSpPr txBox="1"/>
          <p:nvPr/>
        </p:nvSpPr>
        <p:spPr>
          <a:xfrm>
            <a:off x="8394700" y="3352800"/>
            <a:ext cx="1257300" cy="711200"/>
          </a:xfrm>
          <a:prstGeom prst="rect">
            <a:avLst/>
          </a:prstGeom>
          <a:noFill/>
        </p:spPr>
        <p:txBody>
          <a:bodyPr wrap="square" lIns="0" tIns="0" rIns="0" bIns="0" anchor="ctr">
            <a:noAutofit/>
          </a:bodyPr>
          <a:lstStyle/>
          <a:p>
            <a:pPr algn="l">
              <a:lnSpc>
                <a:spcPct val="100000"/>
              </a:lnSpc>
              <a:spcBef>
                <a:spcPts val="0"/>
              </a:spcBef>
              <a:spcAft>
                <a:spcPts val="0"/>
              </a:spcAft>
            </a:pPr>
            <a:r>
              <a:rPr sz="2000" b="1" i="0" lang="fr-FR">
                <a:solidFill>
                  <a:srgbClr val="12264A"/>
                </a:solidFill>
                <a:latin typeface="Calibri"/>
              </a:rPr>
              <a:t>Santé</a:t>
            </a:r>
          </a:p>
        </p:txBody>
      </p:sp>
      <p:sp>
        <p:nvSpPr>
          <p:cNvPr id="44" name="s09 axe 4"/>
          <p:cNvSpPr/>
          <p:nvPr/>
        </p:nvSpPr>
        <p:spPr>
          <a:xfrm>
            <a:off x="9753600" y="3352800"/>
            <a:ext cx="1828800" cy="711200"/>
          </a:xfrm>
          <a:prstGeom prst="roundRect">
            <a:avLst>
              <a:gd name="adj" fmla="val 21428"/>
            </a:avLst>
          </a:prstGeom>
          <a:solidFill>
            <a:srgbClr val="FFFFFF"/>
          </a:solidFill>
          <a:ln w="9525">
            <a:solidFill>
              <a:srgbClr val="E3DED3"/>
            </a:solidFill>
          </a:ln>
          <a:effectLst>
            <a:outerShdw blurRad="165100" dist="38100" dir="5400000" algn="t" rotWithShape="0">
              <a:srgbClr val="12264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09 axe icône 4"/>
          <p:cNvSpPr/>
          <p:nvPr/>
        </p:nvSpPr>
        <p:spPr>
          <a:xfrm>
            <a:off x="9880600" y="3530600"/>
            <a:ext cx="355600" cy="355600"/>
          </a:xfrm>
          <a:prstGeom prst="ellipse">
            <a:avLst/>
          </a:prstGeom>
          <a:solidFill>
            <a:srgbClr val="3A7C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s09 axe icône 4 picto" descr="education.png"/>
          <p:cNvPicPr>
            <a:picLocks noChangeAspect="1"/>
          </p:cNvPicPr>
          <p:nvPr/>
        </p:nvPicPr>
        <p:blipFill>
          <a:blip r:embed="rId11"/>
          <a:stretch>
            <a:fillRect/>
          </a:stretch>
        </p:blipFill>
        <p:spPr>
          <a:xfrm>
            <a:off x="9965944" y="3615944"/>
            <a:ext cx="184912" cy="184912"/>
          </a:xfrm>
          <a:prstGeom prst="rect">
            <a:avLst/>
          </a:prstGeom>
        </p:spPr>
      </p:pic>
      <p:sp>
        <p:nvSpPr>
          <p:cNvPr id="47" name="s09 axe texte 4"/>
          <p:cNvSpPr txBox="1"/>
          <p:nvPr/>
        </p:nvSpPr>
        <p:spPr>
          <a:xfrm>
            <a:off x="10299700" y="3352800"/>
            <a:ext cx="1257300" cy="711200"/>
          </a:xfrm>
          <a:prstGeom prst="rect">
            <a:avLst/>
          </a:prstGeom>
          <a:noFill/>
        </p:spPr>
        <p:txBody>
          <a:bodyPr wrap="square" lIns="0" tIns="0" rIns="0" bIns="0" anchor="ctr">
            <a:noAutofit/>
          </a:bodyPr>
          <a:lstStyle/>
          <a:p>
            <a:pPr algn="l">
              <a:lnSpc>
                <a:spcPct val="100000"/>
              </a:lnSpc>
              <a:spcBef>
                <a:spcPts val="0"/>
              </a:spcBef>
              <a:spcAft>
                <a:spcPts val="0"/>
              </a:spcAft>
            </a:pPr>
            <a:r>
              <a:rPr sz="2000" b="1" i="0" lang="fr-FR">
                <a:solidFill>
                  <a:srgbClr val="12264A"/>
                </a:solidFill>
                <a:latin typeface="Calibri"/>
              </a:rPr>
              <a:t>Éducation</a:t>
            </a:r>
          </a:p>
        </p:txBody>
      </p:sp>
      <p:sp>
        <p:nvSpPr>
          <p:cNvPr id="48" name="s09 axe 5"/>
          <p:cNvSpPr/>
          <p:nvPr/>
        </p:nvSpPr>
        <p:spPr>
          <a:xfrm>
            <a:off x="7848600" y="4216400"/>
            <a:ext cx="1828800" cy="711200"/>
          </a:xfrm>
          <a:prstGeom prst="roundRect">
            <a:avLst>
              <a:gd name="adj" fmla="val 21428"/>
            </a:avLst>
          </a:prstGeom>
          <a:solidFill>
            <a:srgbClr val="FFFFFF"/>
          </a:solidFill>
          <a:ln w="9525">
            <a:solidFill>
              <a:srgbClr val="E3DED3"/>
            </a:solidFill>
          </a:ln>
          <a:effectLst>
            <a:outerShdw blurRad="165100" dist="38100" dir="5400000" algn="t" rotWithShape="0">
              <a:srgbClr val="12264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s09 axe icône 5"/>
          <p:cNvSpPr/>
          <p:nvPr/>
        </p:nvSpPr>
        <p:spPr>
          <a:xfrm>
            <a:off x="7975600" y="4394200"/>
            <a:ext cx="355600" cy="355600"/>
          </a:xfrm>
          <a:prstGeom prst="ellipse">
            <a:avLst/>
          </a:prstGeom>
          <a:solidFill>
            <a:srgbClr val="86A0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0" name="s09 axe icône 5 picto" descr="agriculture-nuit.png"/>
          <p:cNvPicPr>
            <a:picLocks noChangeAspect="1"/>
          </p:cNvPicPr>
          <p:nvPr/>
        </p:nvPicPr>
        <p:blipFill>
          <a:blip r:embed="rId12"/>
          <a:stretch>
            <a:fillRect/>
          </a:stretch>
        </p:blipFill>
        <p:spPr>
          <a:xfrm>
            <a:off x="8060944" y="4479544"/>
            <a:ext cx="184912" cy="184912"/>
          </a:xfrm>
          <a:prstGeom prst="rect">
            <a:avLst/>
          </a:prstGeom>
        </p:spPr>
      </p:pic>
      <p:sp>
        <p:nvSpPr>
          <p:cNvPr id="51" name="s09 axe texte 5"/>
          <p:cNvSpPr txBox="1"/>
          <p:nvPr/>
        </p:nvSpPr>
        <p:spPr>
          <a:xfrm>
            <a:off x="8394700" y="4216400"/>
            <a:ext cx="1257300" cy="711200"/>
          </a:xfrm>
          <a:prstGeom prst="rect">
            <a:avLst/>
          </a:prstGeom>
          <a:noFill/>
        </p:spPr>
        <p:txBody>
          <a:bodyPr wrap="square" lIns="0" tIns="0" rIns="0" bIns="0" anchor="ctr">
            <a:noAutofit/>
          </a:bodyPr>
          <a:lstStyle/>
          <a:p>
            <a:pPr algn="l">
              <a:lnSpc>
                <a:spcPct val="100000"/>
              </a:lnSpc>
              <a:spcBef>
                <a:spcPts val="0"/>
              </a:spcBef>
              <a:spcAft>
                <a:spcPts val="0"/>
              </a:spcAft>
            </a:pPr>
            <a:r>
              <a:rPr sz="2000" b="1" i="0" lang="fr-FR">
                <a:solidFill>
                  <a:srgbClr val="12264A"/>
                </a:solidFill>
                <a:latin typeface="Calibri"/>
              </a:rPr>
              <a:t>Agriculture</a:t>
            </a:r>
          </a:p>
        </p:txBody>
      </p:sp>
      <p:sp>
        <p:nvSpPr>
          <p:cNvPr id="52" name="s09 axe 6"/>
          <p:cNvSpPr/>
          <p:nvPr/>
        </p:nvSpPr>
        <p:spPr>
          <a:xfrm>
            <a:off x="9753600" y="4216400"/>
            <a:ext cx="1828800" cy="711200"/>
          </a:xfrm>
          <a:prstGeom prst="roundRect">
            <a:avLst>
              <a:gd name="adj" fmla="val 21428"/>
            </a:avLst>
          </a:prstGeom>
          <a:solidFill>
            <a:srgbClr val="FFFFFF"/>
          </a:solidFill>
          <a:ln w="9525">
            <a:solidFill>
              <a:srgbClr val="E3DED3"/>
            </a:solidFill>
          </a:ln>
          <a:effectLst>
            <a:outerShdw blurRad="165100" dist="38100" dir="5400000" algn="t" rotWithShape="0">
              <a:srgbClr val="12264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s09 axe icône 6"/>
          <p:cNvSpPr/>
          <p:nvPr/>
        </p:nvSpPr>
        <p:spPr>
          <a:xfrm>
            <a:off x="9880600" y="4394200"/>
            <a:ext cx="355600" cy="355600"/>
          </a:xfrm>
          <a:prstGeom prst="ellipse">
            <a:avLst/>
          </a:prstGeom>
          <a:solidFill>
            <a:srgbClr val="A955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4" name="s09 axe icône 6 picto" descr="emploi.png"/>
          <p:cNvPicPr>
            <a:picLocks noChangeAspect="1"/>
          </p:cNvPicPr>
          <p:nvPr/>
        </p:nvPicPr>
        <p:blipFill>
          <a:blip r:embed="rId13"/>
          <a:stretch>
            <a:fillRect/>
          </a:stretch>
        </p:blipFill>
        <p:spPr>
          <a:xfrm>
            <a:off x="9965944" y="4479544"/>
            <a:ext cx="184912" cy="184912"/>
          </a:xfrm>
          <a:prstGeom prst="rect">
            <a:avLst/>
          </a:prstGeom>
        </p:spPr>
      </p:pic>
      <p:sp>
        <p:nvSpPr>
          <p:cNvPr id="55" name="s09 axe texte 6"/>
          <p:cNvSpPr txBox="1"/>
          <p:nvPr/>
        </p:nvSpPr>
        <p:spPr>
          <a:xfrm>
            <a:off x="10299700" y="4216400"/>
            <a:ext cx="1257300" cy="711200"/>
          </a:xfrm>
          <a:prstGeom prst="rect">
            <a:avLst/>
          </a:prstGeom>
          <a:noFill/>
        </p:spPr>
        <p:txBody>
          <a:bodyPr wrap="square" lIns="0" tIns="0" rIns="0" bIns="0" anchor="ctr">
            <a:noAutofit/>
          </a:bodyPr>
          <a:lstStyle/>
          <a:p>
            <a:pPr algn="l">
              <a:lnSpc>
                <a:spcPct val="100000"/>
              </a:lnSpc>
              <a:spcBef>
                <a:spcPts val="0"/>
              </a:spcBef>
              <a:spcAft>
                <a:spcPts val="0"/>
              </a:spcAft>
            </a:pPr>
            <a:r>
              <a:rPr sz="2000" b="1" i="0" lang="fr-FR">
                <a:solidFill>
                  <a:srgbClr val="12264A"/>
                </a:solidFill>
                <a:latin typeface="Calibri"/>
              </a:rPr>
              <a:t>Emploi</a:t>
            </a:r>
          </a:p>
        </p:txBody>
      </p:sp>
      <p:sp>
        <p:nvSpPr>
          <p:cNvPr id="56" name="s09 axe 7"/>
          <p:cNvSpPr/>
          <p:nvPr/>
        </p:nvSpPr>
        <p:spPr>
          <a:xfrm>
            <a:off x="7848600" y="5080000"/>
            <a:ext cx="1828800" cy="711200"/>
          </a:xfrm>
          <a:prstGeom prst="roundRect">
            <a:avLst>
              <a:gd name="adj" fmla="val 21428"/>
            </a:avLst>
          </a:prstGeom>
          <a:solidFill>
            <a:srgbClr val="FFFFFF"/>
          </a:solidFill>
          <a:ln w="9525">
            <a:solidFill>
              <a:srgbClr val="E3DED3"/>
            </a:solidFill>
          </a:ln>
          <a:effectLst>
            <a:outerShdw blurRad="165100" dist="38100" dir="5400000" algn="t" rotWithShape="0">
              <a:srgbClr val="12264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09 axe icône 7"/>
          <p:cNvSpPr/>
          <p:nvPr/>
        </p:nvSpPr>
        <p:spPr>
          <a:xfrm>
            <a:off x="7975600" y="5257800"/>
            <a:ext cx="355600" cy="355600"/>
          </a:xfrm>
          <a:prstGeom prst="ellipse">
            <a:avLst/>
          </a:prstGeom>
          <a:solidFill>
            <a:srgbClr val="7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8" name="s09 axe icône 7 picto" descr="femmes.png"/>
          <p:cNvPicPr>
            <a:picLocks noChangeAspect="1"/>
          </p:cNvPicPr>
          <p:nvPr/>
        </p:nvPicPr>
        <p:blipFill>
          <a:blip r:embed="rId14"/>
          <a:stretch>
            <a:fillRect/>
          </a:stretch>
        </p:blipFill>
        <p:spPr>
          <a:xfrm>
            <a:off x="8060944" y="5343144"/>
            <a:ext cx="184912" cy="184912"/>
          </a:xfrm>
          <a:prstGeom prst="rect">
            <a:avLst/>
          </a:prstGeom>
        </p:spPr>
      </p:pic>
      <p:sp>
        <p:nvSpPr>
          <p:cNvPr id="59" name="s09 axe texte 7"/>
          <p:cNvSpPr txBox="1"/>
          <p:nvPr/>
        </p:nvSpPr>
        <p:spPr>
          <a:xfrm>
            <a:off x="8394700" y="5080000"/>
            <a:ext cx="1257300" cy="711200"/>
          </a:xfrm>
          <a:prstGeom prst="rect">
            <a:avLst/>
          </a:prstGeom>
          <a:noFill/>
        </p:spPr>
        <p:txBody>
          <a:bodyPr wrap="square" lIns="0" tIns="0" rIns="0" bIns="0" anchor="ctr">
            <a:noAutofit/>
          </a:bodyPr>
          <a:lstStyle/>
          <a:p>
            <a:pPr algn="l">
              <a:lnSpc>
                <a:spcPct val="100000"/>
              </a:lnSpc>
              <a:spcBef>
                <a:spcPts val="0"/>
              </a:spcBef>
              <a:spcAft>
                <a:spcPts val="0"/>
              </a:spcAft>
            </a:pPr>
            <a:r>
              <a:rPr sz="2000" b="1" i="0" lang="fr-FR">
                <a:solidFill>
                  <a:srgbClr val="12264A"/>
                </a:solidFill>
                <a:latin typeface="Calibri"/>
              </a:rPr>
              <a:t>Femmes</a:t>
            </a:r>
          </a:p>
        </p:txBody>
      </p:sp>
      <p:sp>
        <p:nvSpPr>
          <p:cNvPr id="60" name="s09 axe 8"/>
          <p:cNvSpPr/>
          <p:nvPr/>
        </p:nvSpPr>
        <p:spPr>
          <a:xfrm>
            <a:off x="9753600" y="5080000"/>
            <a:ext cx="1828800" cy="711200"/>
          </a:xfrm>
          <a:prstGeom prst="roundRect">
            <a:avLst>
              <a:gd name="adj" fmla="val 21428"/>
            </a:avLst>
          </a:prstGeom>
          <a:solidFill>
            <a:srgbClr val="FFFFFF"/>
          </a:solidFill>
          <a:ln w="9525">
            <a:solidFill>
              <a:srgbClr val="E3DED3"/>
            </a:solidFill>
          </a:ln>
          <a:effectLst>
            <a:outerShdw blurRad="165100" dist="38100" dir="5400000" algn="t" rotWithShape="0">
              <a:srgbClr val="12264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s09 axe icône 8"/>
          <p:cNvSpPr/>
          <p:nvPr/>
        </p:nvSpPr>
        <p:spPr>
          <a:xfrm>
            <a:off x="9880600" y="5257800"/>
            <a:ext cx="355600" cy="355600"/>
          </a:xfrm>
          <a:prstGeom prst="ellipse">
            <a:avLst/>
          </a:prstGeom>
          <a:solidFill>
            <a:srgbClr val="D3A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2" name="s09 axe icône 8 picto" descr="electricite-nuit.png"/>
          <p:cNvPicPr>
            <a:picLocks noChangeAspect="1"/>
          </p:cNvPicPr>
          <p:nvPr/>
        </p:nvPicPr>
        <p:blipFill>
          <a:blip r:embed="rId15"/>
          <a:stretch>
            <a:fillRect/>
          </a:stretch>
        </p:blipFill>
        <p:spPr>
          <a:xfrm>
            <a:off x="9965944" y="5343144"/>
            <a:ext cx="184912" cy="184912"/>
          </a:xfrm>
          <a:prstGeom prst="rect">
            <a:avLst/>
          </a:prstGeom>
        </p:spPr>
      </p:pic>
      <p:sp>
        <p:nvSpPr>
          <p:cNvPr id="63" name="s09 axe texte 8"/>
          <p:cNvSpPr txBox="1"/>
          <p:nvPr/>
        </p:nvSpPr>
        <p:spPr>
          <a:xfrm>
            <a:off x="10299700" y="5080000"/>
            <a:ext cx="1257300" cy="711200"/>
          </a:xfrm>
          <a:prstGeom prst="rect">
            <a:avLst/>
          </a:prstGeom>
          <a:noFill/>
        </p:spPr>
        <p:txBody>
          <a:bodyPr wrap="square" lIns="0" tIns="0" rIns="0" bIns="0" anchor="ctr">
            <a:noAutofit/>
          </a:bodyPr>
          <a:lstStyle/>
          <a:p>
            <a:pPr algn="l">
              <a:lnSpc>
                <a:spcPct val="100000"/>
              </a:lnSpc>
              <a:spcBef>
                <a:spcPts val="0"/>
              </a:spcBef>
              <a:spcAft>
                <a:spcPts val="0"/>
              </a:spcAft>
            </a:pPr>
            <a:r>
              <a:rPr sz="2000" b="1" i="0" lang="fr-FR">
                <a:solidFill>
                  <a:srgbClr val="12264A"/>
                </a:solidFill>
                <a:latin typeface="Calibri"/>
              </a:rPr>
              <a:t>Électricité</a:t>
            </a: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advTm="30000">
        <p159:morph option="byObject"/>
      </p:transition>
    </mc:Choice>
    <mc:Fallback>
      <p:transition spd="slow" advTm="30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childTnLst>
                          </p:cTn>
                        </p:par>
                        <p:par>
                          <p:cTn id="8" fill="hold">
                            <p:stCondLst>
                              <p:cond delay="600"/>
                            </p:stCondLst>
                            <p:childTnLst>
                              <p:par>
                                <p:cTn id="9" presetID="10" presetClass="entr" presetSubtype="0" fill="hold" grpId="0" nodeType="afterEffect">
                                  <p:stCondLst>
                                    <p:cond delay="5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400"/>
                                        <p:tgtEl>
                                          <p:spTgt spid="15"/>
                                        </p:tgtEl>
                                      </p:cBhvr>
                                    </p:animEffect>
                                  </p:childTnLst>
                                </p:cTn>
                              </p:par>
                              <p:par>
                                <p:cTn id="12" presetID="22" presetClass="entr" presetSubtype="8" fill="hold" grpId="0" nodeType="withEffect">
                                  <p:stCondLst>
                                    <p:cond delay="100"/>
                                  </p:stCondLst>
                                  <p:childTnLst>
                                    <p:set>
                                      <p:cBhvr>
                                        <p:cTn id="13" dur="1" fill="hold">
                                          <p:stCondLst>
                                            <p:cond delay="0"/>
                                          </p:stCondLst>
                                        </p:cTn>
                                        <p:tgtEl>
                                          <p:spTgt spid="14">
                                            <p:graphicEl>
                                              <a:chart seriesIdx="-4" categoryIdx="0" bldStep="category"/>
                                            </p:graphicEl>
                                          </p:spTgt>
                                        </p:tgtEl>
                                        <p:attrNameLst>
                                          <p:attrName>style.visibility</p:attrName>
                                        </p:attrNameLst>
                                      </p:cBhvr>
                                      <p:to>
                                        <p:strVal val="visible"/>
                                      </p:to>
                                    </p:set>
                                    <p:animEffect transition="in" filter="wipe(right)">
                                      <p:cBhvr>
                                        <p:cTn id="14" dur="600"/>
                                        <p:tgtEl>
                                          <p:spTgt spid="14">
                                            <p:graphicEl>
                                              <a:chart seriesIdx="-4" categoryIdx="0" bldStep="category"/>
                                            </p:graphicEl>
                                          </p:spTgt>
                                        </p:tgtEl>
                                      </p:cBhvr>
                                    </p:animEffect>
                                  </p:childTnLst>
                                </p:cTn>
                              </p:par>
                              <p:par>
                                <p:cTn id="15" presetID="10" presetClass="entr" presetSubtype="0" fill="hold" grpId="0" nodeType="withEffect">
                                  <p:stCondLst>
                                    <p:cond delay="50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400"/>
                                        <p:tgtEl>
                                          <p:spTgt spid="16"/>
                                        </p:tgtEl>
                                      </p:cBhvr>
                                    </p:animEffect>
                                  </p:childTnLst>
                                </p:cTn>
                              </p:par>
                            </p:childTnLst>
                          </p:cTn>
                        </p:par>
                        <p:par>
                          <p:cTn id="18" fill="hold">
                            <p:stCondLst>
                              <p:cond delay="1500"/>
                            </p:stCondLst>
                            <p:childTnLst>
                              <p:par>
                                <p:cTn id="19" presetID="10" presetClass="entr" presetSubtype="0" fill="hold" grpId="0" nodeType="afterEffect">
                                  <p:stCondLst>
                                    <p:cond delay="5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400"/>
                                        <p:tgtEl>
                                          <p:spTgt spid="17"/>
                                        </p:tgtEl>
                                      </p:cBhvr>
                                    </p:animEffect>
                                  </p:childTnLst>
                                </p:cTn>
                              </p:par>
                              <p:par>
                                <p:cTn id="22" presetID="22" presetClass="entr" presetSubtype="8" fill="hold" grpId="0" nodeType="withEffect">
                                  <p:stCondLst>
                                    <p:cond delay="100"/>
                                  </p:stCondLst>
                                  <p:childTnLst>
                                    <p:set>
                                      <p:cBhvr>
                                        <p:cTn id="23" dur="1" fill="hold">
                                          <p:stCondLst>
                                            <p:cond delay="0"/>
                                          </p:stCondLst>
                                        </p:cTn>
                                        <p:tgtEl>
                                          <p:spTgt spid="14">
                                            <p:graphicEl>
                                              <a:chart seriesIdx="-4" categoryIdx="1" bldStep="category"/>
                                            </p:graphicEl>
                                          </p:spTgt>
                                        </p:tgtEl>
                                        <p:attrNameLst>
                                          <p:attrName>style.visibility</p:attrName>
                                        </p:attrNameLst>
                                      </p:cBhvr>
                                      <p:to>
                                        <p:strVal val="visible"/>
                                      </p:to>
                                    </p:set>
                                    <p:animEffect transition="in" filter="wipe(right)">
                                      <p:cBhvr>
                                        <p:cTn id="24" dur="600"/>
                                        <p:tgtEl>
                                          <p:spTgt spid="14">
                                            <p:graphicEl>
                                              <a:chart seriesIdx="-4" categoryIdx="1" bldStep="category"/>
                                            </p:graphicEl>
                                          </p:spTgt>
                                        </p:tgtEl>
                                      </p:cBhvr>
                                    </p:animEffect>
                                  </p:childTnLst>
                                </p:cTn>
                              </p:par>
                              <p:par>
                                <p:cTn id="25" presetID="10" presetClass="entr" presetSubtype="0" fill="hold" grpId="0" nodeType="withEffect">
                                  <p:stCondLst>
                                    <p:cond delay="50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400"/>
                                        <p:tgtEl>
                                          <p:spTgt spid="18"/>
                                        </p:tgtEl>
                                      </p:cBhvr>
                                    </p:animEffect>
                                  </p:childTnLst>
                                </p:cTn>
                              </p:par>
                            </p:childTnLst>
                          </p:cTn>
                        </p:par>
                        <p:par>
                          <p:cTn id="28" fill="hold">
                            <p:stCondLst>
                              <p:cond delay="2400"/>
                            </p:stCondLst>
                            <p:childTnLst>
                              <p:par>
                                <p:cTn id="29" presetID="10" presetClass="entr" presetSubtype="0" fill="hold" grpId="0" nodeType="afterEffect">
                                  <p:stCondLst>
                                    <p:cond delay="5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400"/>
                                        <p:tgtEl>
                                          <p:spTgt spid="19"/>
                                        </p:tgtEl>
                                      </p:cBhvr>
                                    </p:animEffect>
                                  </p:childTnLst>
                                </p:cTn>
                              </p:par>
                              <p:par>
                                <p:cTn id="32" presetID="22" presetClass="entr" presetSubtype="8" fill="hold" grpId="0" nodeType="withEffect">
                                  <p:stCondLst>
                                    <p:cond delay="100"/>
                                  </p:stCondLst>
                                  <p:childTnLst>
                                    <p:set>
                                      <p:cBhvr>
                                        <p:cTn id="33" dur="1" fill="hold">
                                          <p:stCondLst>
                                            <p:cond delay="0"/>
                                          </p:stCondLst>
                                        </p:cTn>
                                        <p:tgtEl>
                                          <p:spTgt spid="14">
                                            <p:graphicEl>
                                              <a:chart seriesIdx="-4" categoryIdx="2" bldStep="category"/>
                                            </p:graphicEl>
                                          </p:spTgt>
                                        </p:tgtEl>
                                        <p:attrNameLst>
                                          <p:attrName>style.visibility</p:attrName>
                                        </p:attrNameLst>
                                      </p:cBhvr>
                                      <p:to>
                                        <p:strVal val="visible"/>
                                      </p:to>
                                    </p:set>
                                    <p:animEffect transition="in" filter="wipe(right)">
                                      <p:cBhvr>
                                        <p:cTn id="34" dur="600"/>
                                        <p:tgtEl>
                                          <p:spTgt spid="14">
                                            <p:graphicEl>
                                              <a:chart seriesIdx="-4" categoryIdx="2" bldStep="category"/>
                                            </p:graphicEl>
                                          </p:spTgt>
                                        </p:tgtEl>
                                      </p:cBhvr>
                                    </p:animEffect>
                                  </p:childTnLst>
                                </p:cTn>
                              </p:par>
                              <p:par>
                                <p:cTn id="35" presetID="10" presetClass="entr" presetSubtype="0" fill="hold" grpId="0" nodeType="withEffect">
                                  <p:stCondLst>
                                    <p:cond delay="50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400"/>
                                        <p:tgtEl>
                                          <p:spTgt spid="20"/>
                                        </p:tgtEl>
                                      </p:cBhvr>
                                    </p:animEffect>
                                  </p:childTnLst>
                                </p:cTn>
                              </p:par>
                            </p:childTnLst>
                          </p:cTn>
                        </p:par>
                        <p:par>
                          <p:cTn id="38" fill="hold">
                            <p:stCondLst>
                              <p:cond delay="3300"/>
                            </p:stCondLst>
                            <p:childTnLst>
                              <p:par>
                                <p:cTn id="39" presetID="10" presetClass="entr" presetSubtype="0" fill="hold" grpId="0" nodeType="afterEffect">
                                  <p:stCondLst>
                                    <p:cond delay="5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400"/>
                                        <p:tgtEl>
                                          <p:spTgt spid="21"/>
                                        </p:tgtEl>
                                      </p:cBhvr>
                                    </p:animEffect>
                                  </p:childTnLst>
                                </p:cTn>
                              </p:par>
                              <p:par>
                                <p:cTn id="42" presetID="22" presetClass="entr" presetSubtype="8" fill="hold" grpId="0" nodeType="withEffect">
                                  <p:stCondLst>
                                    <p:cond delay="100"/>
                                  </p:stCondLst>
                                  <p:childTnLst>
                                    <p:set>
                                      <p:cBhvr>
                                        <p:cTn id="43" dur="1" fill="hold">
                                          <p:stCondLst>
                                            <p:cond delay="0"/>
                                          </p:stCondLst>
                                        </p:cTn>
                                        <p:tgtEl>
                                          <p:spTgt spid="14">
                                            <p:graphicEl>
                                              <a:chart seriesIdx="-4" categoryIdx="3" bldStep="category"/>
                                            </p:graphicEl>
                                          </p:spTgt>
                                        </p:tgtEl>
                                        <p:attrNameLst>
                                          <p:attrName>style.visibility</p:attrName>
                                        </p:attrNameLst>
                                      </p:cBhvr>
                                      <p:to>
                                        <p:strVal val="visible"/>
                                      </p:to>
                                    </p:set>
                                    <p:animEffect transition="in" filter="wipe(right)">
                                      <p:cBhvr>
                                        <p:cTn id="44" dur="600"/>
                                        <p:tgtEl>
                                          <p:spTgt spid="14">
                                            <p:graphicEl>
                                              <a:chart seriesIdx="-4" categoryIdx="3" bldStep="category"/>
                                            </p:graphicEl>
                                          </p:spTgt>
                                        </p:tgtEl>
                                      </p:cBhvr>
                                    </p:animEffect>
                                  </p:childTnLst>
                                </p:cTn>
                              </p:par>
                              <p:par>
                                <p:cTn id="45" presetID="10" presetClass="entr" presetSubtype="0" fill="hold" grpId="0" nodeType="withEffect">
                                  <p:stCondLst>
                                    <p:cond delay="500"/>
                                  </p:stCondLst>
                                  <p:childTnLst>
                                    <p:set>
                                      <p:cBhvr>
                                        <p:cTn id="46" dur="1" fill="hold">
                                          <p:stCondLst>
                                            <p:cond delay="0"/>
                                          </p:stCondLst>
                                        </p:cTn>
                                        <p:tgtEl>
                                          <p:spTgt spid="22"/>
                                        </p:tgtEl>
                                        <p:attrNameLst>
                                          <p:attrName>style.visibility</p:attrName>
                                        </p:attrNameLst>
                                      </p:cBhvr>
                                      <p:to>
                                        <p:strVal val="visible"/>
                                      </p:to>
                                    </p:set>
                                    <p:animEffect transition="in" filter="fade">
                                      <p:cBhvr>
                                        <p:cTn id="47" dur="400"/>
                                        <p:tgtEl>
                                          <p:spTgt spid="22"/>
                                        </p:tgtEl>
                                      </p:cBhvr>
                                    </p:animEffect>
                                  </p:childTnLst>
                                </p:cTn>
                              </p:par>
                            </p:childTnLst>
                          </p:cTn>
                        </p:par>
                        <p:par>
                          <p:cTn id="48" fill="hold">
                            <p:stCondLst>
                              <p:cond delay="4200"/>
                            </p:stCondLst>
                            <p:childTnLst>
                              <p:par>
                                <p:cTn id="49" presetID="10" presetClass="entr" presetSubtype="0" fill="hold" grpId="0" nodeType="afterEffect">
                                  <p:stCondLst>
                                    <p:cond delay="5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400"/>
                                        <p:tgtEl>
                                          <p:spTgt spid="23"/>
                                        </p:tgtEl>
                                      </p:cBhvr>
                                    </p:animEffect>
                                  </p:childTnLst>
                                </p:cTn>
                              </p:par>
                              <p:par>
                                <p:cTn id="52" presetID="22" presetClass="entr" presetSubtype="8" fill="hold" grpId="0" nodeType="withEffect">
                                  <p:stCondLst>
                                    <p:cond delay="100"/>
                                  </p:stCondLst>
                                  <p:childTnLst>
                                    <p:set>
                                      <p:cBhvr>
                                        <p:cTn id="53" dur="1" fill="hold">
                                          <p:stCondLst>
                                            <p:cond delay="0"/>
                                          </p:stCondLst>
                                        </p:cTn>
                                        <p:tgtEl>
                                          <p:spTgt spid="14">
                                            <p:graphicEl>
                                              <a:chart seriesIdx="-4" categoryIdx="4" bldStep="category"/>
                                            </p:graphicEl>
                                          </p:spTgt>
                                        </p:tgtEl>
                                        <p:attrNameLst>
                                          <p:attrName>style.visibility</p:attrName>
                                        </p:attrNameLst>
                                      </p:cBhvr>
                                      <p:to>
                                        <p:strVal val="visible"/>
                                      </p:to>
                                    </p:set>
                                    <p:animEffect transition="in" filter="wipe(right)">
                                      <p:cBhvr>
                                        <p:cTn id="54" dur="600"/>
                                        <p:tgtEl>
                                          <p:spTgt spid="14">
                                            <p:graphicEl>
                                              <a:chart seriesIdx="-4" categoryIdx="4" bldStep="category"/>
                                            </p:graphicEl>
                                          </p:spTgt>
                                        </p:tgtEl>
                                      </p:cBhvr>
                                    </p:animEffect>
                                  </p:childTnLst>
                                </p:cTn>
                              </p:par>
                              <p:par>
                                <p:cTn id="55" presetID="10" presetClass="entr" presetSubtype="0" fill="hold" grpId="0" nodeType="withEffect">
                                  <p:stCondLst>
                                    <p:cond delay="500"/>
                                  </p:stCondLst>
                                  <p:childTnLst>
                                    <p:set>
                                      <p:cBhvr>
                                        <p:cTn id="56" dur="1" fill="hold">
                                          <p:stCondLst>
                                            <p:cond delay="0"/>
                                          </p:stCondLst>
                                        </p:cTn>
                                        <p:tgtEl>
                                          <p:spTgt spid="24"/>
                                        </p:tgtEl>
                                        <p:attrNameLst>
                                          <p:attrName>style.visibility</p:attrName>
                                        </p:attrNameLst>
                                      </p:cBhvr>
                                      <p:to>
                                        <p:strVal val="visible"/>
                                      </p:to>
                                    </p:set>
                                    <p:animEffect transition="in" filter="fade">
                                      <p:cBhvr>
                                        <p:cTn id="57" dur="400"/>
                                        <p:tgtEl>
                                          <p:spTgt spid="24"/>
                                        </p:tgtEl>
                                      </p:cBhvr>
                                    </p:animEffect>
                                  </p:childTnLst>
                                </p:cTn>
                              </p:par>
                            </p:childTnLst>
                          </p:cTn>
                        </p:par>
                        <p:par>
                          <p:cTn id="58" fill="hold">
                            <p:stCondLst>
                              <p:cond delay="5100"/>
                            </p:stCondLst>
                            <p:childTnLst>
                              <p:par>
                                <p:cTn id="59" presetID="10" presetClass="entr" presetSubtype="0" fill="hold" grpId="0" nodeType="afterEffect">
                                  <p:stCondLst>
                                    <p:cond delay="50"/>
                                  </p:stCondLst>
                                  <p:childTnLst>
                                    <p:set>
                                      <p:cBhvr>
                                        <p:cTn id="60" dur="1" fill="hold">
                                          <p:stCondLst>
                                            <p:cond delay="0"/>
                                          </p:stCondLst>
                                        </p:cTn>
                                        <p:tgtEl>
                                          <p:spTgt spid="25"/>
                                        </p:tgtEl>
                                        <p:attrNameLst>
                                          <p:attrName>style.visibility</p:attrName>
                                        </p:attrNameLst>
                                      </p:cBhvr>
                                      <p:to>
                                        <p:strVal val="visible"/>
                                      </p:to>
                                    </p:set>
                                    <p:animEffect transition="in" filter="fade">
                                      <p:cBhvr>
                                        <p:cTn id="61" dur="400"/>
                                        <p:tgtEl>
                                          <p:spTgt spid="25"/>
                                        </p:tgtEl>
                                      </p:cBhvr>
                                    </p:animEffect>
                                  </p:childTnLst>
                                </p:cTn>
                              </p:par>
                              <p:par>
                                <p:cTn id="62" presetID="22" presetClass="entr" presetSubtype="8" fill="hold" grpId="0" nodeType="withEffect">
                                  <p:stCondLst>
                                    <p:cond delay="100"/>
                                  </p:stCondLst>
                                  <p:childTnLst>
                                    <p:set>
                                      <p:cBhvr>
                                        <p:cTn id="63" dur="1" fill="hold">
                                          <p:stCondLst>
                                            <p:cond delay="0"/>
                                          </p:stCondLst>
                                        </p:cTn>
                                        <p:tgtEl>
                                          <p:spTgt spid="14">
                                            <p:graphicEl>
                                              <a:chart seriesIdx="-4" categoryIdx="5" bldStep="category"/>
                                            </p:graphicEl>
                                          </p:spTgt>
                                        </p:tgtEl>
                                        <p:attrNameLst>
                                          <p:attrName>style.visibility</p:attrName>
                                        </p:attrNameLst>
                                      </p:cBhvr>
                                      <p:to>
                                        <p:strVal val="visible"/>
                                      </p:to>
                                    </p:set>
                                    <p:animEffect transition="in" filter="wipe(right)">
                                      <p:cBhvr>
                                        <p:cTn id="64" dur="600"/>
                                        <p:tgtEl>
                                          <p:spTgt spid="14">
                                            <p:graphicEl>
                                              <a:chart seriesIdx="-4" categoryIdx="5" bldStep="category"/>
                                            </p:graphicEl>
                                          </p:spTgt>
                                        </p:tgtEl>
                                      </p:cBhvr>
                                    </p:animEffect>
                                  </p:childTnLst>
                                </p:cTn>
                              </p:par>
                              <p:par>
                                <p:cTn id="65" presetID="10" presetClass="entr" presetSubtype="0" fill="hold" grpId="0" nodeType="withEffect">
                                  <p:stCondLst>
                                    <p:cond delay="50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00"/>
                                        <p:tgtEl>
                                          <p:spTgt spid="26"/>
                                        </p:tgtEl>
                                      </p:cBhvr>
                                    </p:animEffect>
                                  </p:childTnLst>
                                </p:cTn>
                              </p:par>
                            </p:childTnLst>
                          </p:cTn>
                        </p:par>
                        <p:par>
                          <p:cTn id="68" fill="hold">
                            <p:stCondLst>
                              <p:cond delay="6000"/>
                            </p:stCondLst>
                            <p:childTnLst>
                              <p:par>
                                <p:cTn id="69" presetID="10" presetClass="entr" presetSubtype="0" fill="hold" grpId="0" nodeType="afterEffect">
                                  <p:stCondLst>
                                    <p:cond delay="50"/>
                                  </p:stCondLst>
                                  <p:childTnLst>
                                    <p:set>
                                      <p:cBhvr>
                                        <p:cTn id="70" dur="1" fill="hold">
                                          <p:stCondLst>
                                            <p:cond delay="0"/>
                                          </p:stCondLst>
                                        </p:cTn>
                                        <p:tgtEl>
                                          <p:spTgt spid="27"/>
                                        </p:tgtEl>
                                        <p:attrNameLst>
                                          <p:attrName>style.visibility</p:attrName>
                                        </p:attrNameLst>
                                      </p:cBhvr>
                                      <p:to>
                                        <p:strVal val="visible"/>
                                      </p:to>
                                    </p:set>
                                    <p:animEffect transition="in" filter="fade">
                                      <p:cBhvr>
                                        <p:cTn id="71" dur="400"/>
                                        <p:tgtEl>
                                          <p:spTgt spid="27"/>
                                        </p:tgtEl>
                                      </p:cBhvr>
                                    </p:animEffect>
                                  </p:childTnLst>
                                </p:cTn>
                              </p:par>
                              <p:par>
                                <p:cTn id="72" presetID="22" presetClass="entr" presetSubtype="8" fill="hold" grpId="0" nodeType="withEffect">
                                  <p:stCondLst>
                                    <p:cond delay="100"/>
                                  </p:stCondLst>
                                  <p:childTnLst>
                                    <p:set>
                                      <p:cBhvr>
                                        <p:cTn id="73" dur="1" fill="hold">
                                          <p:stCondLst>
                                            <p:cond delay="0"/>
                                          </p:stCondLst>
                                        </p:cTn>
                                        <p:tgtEl>
                                          <p:spTgt spid="14">
                                            <p:graphicEl>
                                              <a:chart seriesIdx="-4" categoryIdx="6" bldStep="category"/>
                                            </p:graphicEl>
                                          </p:spTgt>
                                        </p:tgtEl>
                                        <p:attrNameLst>
                                          <p:attrName>style.visibility</p:attrName>
                                        </p:attrNameLst>
                                      </p:cBhvr>
                                      <p:to>
                                        <p:strVal val="visible"/>
                                      </p:to>
                                    </p:set>
                                    <p:animEffect transition="in" filter="wipe(right)">
                                      <p:cBhvr>
                                        <p:cTn id="74" dur="600"/>
                                        <p:tgtEl>
                                          <p:spTgt spid="14">
                                            <p:graphicEl>
                                              <a:chart seriesIdx="-4" categoryIdx="6" bldStep="category"/>
                                            </p:graphicEl>
                                          </p:spTgt>
                                        </p:tgtEl>
                                      </p:cBhvr>
                                    </p:animEffect>
                                  </p:childTnLst>
                                </p:cTn>
                              </p:par>
                              <p:par>
                                <p:cTn id="75" presetID="10" presetClass="entr" presetSubtype="0" fill="hold" grpId="0" nodeType="withEffect">
                                  <p:stCondLst>
                                    <p:cond delay="50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400"/>
                                        <p:tgtEl>
                                          <p:spTgt spid="28"/>
                                        </p:tgtEl>
                                      </p:cBhvr>
                                    </p:animEffect>
                                  </p:childTnLst>
                                </p:cTn>
                              </p:par>
                            </p:childTnLst>
                          </p:cTn>
                        </p:par>
                        <p:par>
                          <p:cTn id="78" fill="hold">
                            <p:stCondLst>
                              <p:cond delay="6900"/>
                            </p:stCondLst>
                            <p:childTnLst>
                              <p:par>
                                <p:cTn id="79" presetID="10" presetClass="entr" presetSubtype="0" fill="hold" grpId="0" nodeType="afterEffect">
                                  <p:stCondLst>
                                    <p:cond delay="50"/>
                                  </p:stCondLst>
                                  <p:childTnLst>
                                    <p:set>
                                      <p:cBhvr>
                                        <p:cTn id="80" dur="1" fill="hold">
                                          <p:stCondLst>
                                            <p:cond delay="0"/>
                                          </p:stCondLst>
                                        </p:cTn>
                                        <p:tgtEl>
                                          <p:spTgt spid="29"/>
                                        </p:tgtEl>
                                        <p:attrNameLst>
                                          <p:attrName>style.visibility</p:attrName>
                                        </p:attrNameLst>
                                      </p:cBhvr>
                                      <p:to>
                                        <p:strVal val="visible"/>
                                      </p:to>
                                    </p:set>
                                    <p:animEffect transition="in" filter="fade">
                                      <p:cBhvr>
                                        <p:cTn id="81" dur="400"/>
                                        <p:tgtEl>
                                          <p:spTgt spid="29"/>
                                        </p:tgtEl>
                                      </p:cBhvr>
                                    </p:animEffect>
                                  </p:childTnLst>
                                </p:cTn>
                              </p:par>
                              <p:par>
                                <p:cTn id="82" presetID="22" presetClass="entr" presetSubtype="8" fill="hold" grpId="0" nodeType="withEffect">
                                  <p:stCondLst>
                                    <p:cond delay="100"/>
                                  </p:stCondLst>
                                  <p:childTnLst>
                                    <p:set>
                                      <p:cBhvr>
                                        <p:cTn id="83" dur="1" fill="hold">
                                          <p:stCondLst>
                                            <p:cond delay="0"/>
                                          </p:stCondLst>
                                        </p:cTn>
                                        <p:tgtEl>
                                          <p:spTgt spid="14">
                                            <p:graphicEl>
                                              <a:chart seriesIdx="-4" categoryIdx="7" bldStep="category"/>
                                            </p:graphicEl>
                                          </p:spTgt>
                                        </p:tgtEl>
                                        <p:attrNameLst>
                                          <p:attrName>style.visibility</p:attrName>
                                        </p:attrNameLst>
                                      </p:cBhvr>
                                      <p:to>
                                        <p:strVal val="visible"/>
                                      </p:to>
                                    </p:set>
                                    <p:animEffect transition="in" filter="wipe(right)">
                                      <p:cBhvr>
                                        <p:cTn id="84" dur="600"/>
                                        <p:tgtEl>
                                          <p:spTgt spid="14">
                                            <p:graphicEl>
                                              <a:chart seriesIdx="-4" categoryIdx="7" bldStep="category"/>
                                            </p:graphicEl>
                                          </p:spTgt>
                                        </p:tgtEl>
                                      </p:cBhvr>
                                    </p:animEffect>
                                  </p:childTnLst>
                                </p:cTn>
                              </p:par>
                              <p:par>
                                <p:cTn id="85" presetID="10" presetClass="entr" presetSubtype="0" fill="hold" grpId="0" nodeType="withEffect">
                                  <p:stCondLst>
                                    <p:cond delay="500"/>
                                  </p:stCondLst>
                                  <p:childTnLst>
                                    <p:set>
                                      <p:cBhvr>
                                        <p:cTn id="86" dur="1" fill="hold">
                                          <p:stCondLst>
                                            <p:cond delay="0"/>
                                          </p:stCondLst>
                                        </p:cTn>
                                        <p:tgtEl>
                                          <p:spTgt spid="30"/>
                                        </p:tgtEl>
                                        <p:attrNameLst>
                                          <p:attrName>style.visibility</p:attrName>
                                        </p:attrNameLst>
                                      </p:cBhvr>
                                      <p:to>
                                        <p:strVal val="visible"/>
                                      </p:to>
                                    </p:set>
                                    <p:animEffect transition="in" filter="fade">
                                      <p:cBhvr>
                                        <p:cTn id="87" dur="400"/>
                                        <p:tgtEl>
                                          <p:spTgt spid="30"/>
                                        </p:tgtEl>
                                      </p:cBhvr>
                                    </p:animEffect>
                                  </p:childTnLst>
                                </p:cTn>
                              </p:par>
                            </p:childTnLst>
                          </p:cTn>
                        </p:par>
                        <p:par>
                          <p:cTn id="88" fill="hold">
                            <p:stCondLst>
                              <p:cond delay="7800"/>
                            </p:stCondLst>
                            <p:childTnLst>
                              <p:par>
                                <p:cTn id="89" presetID="10" presetClass="entr" presetSubtype="0" fill="hold" grpId="0" nodeType="afterEffect">
                                  <p:stCondLst>
                                    <p:cond delay="0"/>
                                  </p:stCondLst>
                                  <p:childTnLst>
                                    <p:set>
                                      <p:cBhvr>
                                        <p:cTn id="90" dur="1" fill="hold">
                                          <p:stCondLst>
                                            <p:cond delay="0"/>
                                          </p:stCondLst>
                                        </p:cTn>
                                        <p:tgtEl>
                                          <p:spTgt spid="31"/>
                                        </p:tgtEl>
                                        <p:attrNameLst>
                                          <p:attrName>style.visibility</p:attrName>
                                        </p:attrNameLst>
                                      </p:cBhvr>
                                      <p:to>
                                        <p:strVal val="visible"/>
                                      </p:to>
                                    </p:set>
                                    <p:animEffect transition="in" filter="fade">
                                      <p:cBhvr>
                                        <p:cTn id="91" dur="500"/>
                                        <p:tgtEl>
                                          <p:spTgt spid="31"/>
                                        </p:tgtEl>
                                      </p:cBhvr>
                                    </p:animEffect>
                                  </p:childTnLst>
                                </p:cTn>
                              </p:par>
                            </p:childTnLst>
                          </p:cTn>
                        </p:par>
                        <p:par>
                          <p:cTn id="92" fill="hold">
                            <p:stCondLst>
                              <p:cond delay="8300"/>
                            </p:stCondLst>
                            <p:childTnLst>
                              <p:par>
                                <p:cTn id="93" presetID="10" presetClass="entr" presetSubtype="0" fill="hold" grpId="0" nodeType="afterEffect">
                                  <p:stCondLst>
                                    <p:cond delay="0"/>
                                  </p:stCondLst>
                                  <p:childTnLst>
                                    <p:set>
                                      <p:cBhvr>
                                        <p:cTn id="94" dur="1" fill="hold">
                                          <p:stCondLst>
                                            <p:cond delay="0"/>
                                          </p:stCondLst>
                                        </p:cTn>
                                        <p:tgtEl>
                                          <p:spTgt spid="32"/>
                                        </p:tgtEl>
                                        <p:attrNameLst>
                                          <p:attrName>style.visibility</p:attrName>
                                        </p:attrNameLst>
                                      </p:cBhvr>
                                      <p:to>
                                        <p:strVal val="visible"/>
                                      </p:to>
                                    </p:set>
                                    <p:animEffect transition="in" filter="fade">
                                      <p:cBhvr>
                                        <p:cTn id="95" dur="500"/>
                                        <p:tgtEl>
                                          <p:spTgt spid="32"/>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3"/>
                                        </p:tgtEl>
                                        <p:attrNameLst>
                                          <p:attrName>style.visibility</p:attrName>
                                        </p:attrNameLst>
                                      </p:cBhvr>
                                      <p:to>
                                        <p:strVal val="visible"/>
                                      </p:to>
                                    </p:set>
                                    <p:animEffect transition="in" filter="fade">
                                      <p:cBhvr>
                                        <p:cTn id="98" dur="500"/>
                                        <p:tgtEl>
                                          <p:spTgt spid="33"/>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4"/>
                                        </p:tgtEl>
                                        <p:attrNameLst>
                                          <p:attrName>style.visibility</p:attrName>
                                        </p:attrNameLst>
                                      </p:cBhvr>
                                      <p:to>
                                        <p:strVal val="visible"/>
                                      </p:to>
                                    </p:set>
                                    <p:animEffect transition="in" filter="fade">
                                      <p:cBhvr>
                                        <p:cTn id="101" dur="500"/>
                                        <p:tgtEl>
                                          <p:spTgt spid="34"/>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5"/>
                                        </p:tgtEl>
                                        <p:attrNameLst>
                                          <p:attrName>style.visibility</p:attrName>
                                        </p:attrNameLst>
                                      </p:cBhvr>
                                      <p:to>
                                        <p:strVal val="visible"/>
                                      </p:to>
                                    </p:set>
                                    <p:animEffect transition="in" filter="fade">
                                      <p:cBhvr>
                                        <p:cTn id="104" dur="500"/>
                                        <p:tgtEl>
                                          <p:spTgt spid="35"/>
                                        </p:tgtEl>
                                      </p:cBhvr>
                                    </p:animEffect>
                                  </p:childTnLst>
                                </p:cTn>
                              </p:par>
                              <p:par>
                                <p:cTn id="105" presetID="10" presetClass="entr" presetSubtype="0" fill="hold" grpId="0" nodeType="withEffect">
                                  <p:stCondLst>
                                    <p:cond delay="120"/>
                                  </p:stCondLst>
                                  <p:childTnLst>
                                    <p:set>
                                      <p:cBhvr>
                                        <p:cTn id="106" dur="1" fill="hold">
                                          <p:stCondLst>
                                            <p:cond delay="0"/>
                                          </p:stCondLst>
                                        </p:cTn>
                                        <p:tgtEl>
                                          <p:spTgt spid="36"/>
                                        </p:tgtEl>
                                        <p:attrNameLst>
                                          <p:attrName>style.visibility</p:attrName>
                                        </p:attrNameLst>
                                      </p:cBhvr>
                                      <p:to>
                                        <p:strVal val="visible"/>
                                      </p:to>
                                    </p:set>
                                    <p:animEffect transition="in" filter="fade">
                                      <p:cBhvr>
                                        <p:cTn id="107" dur="500"/>
                                        <p:tgtEl>
                                          <p:spTgt spid="36"/>
                                        </p:tgtEl>
                                      </p:cBhvr>
                                    </p:animEffect>
                                  </p:childTnLst>
                                </p:cTn>
                              </p:par>
                              <p:par>
                                <p:cTn id="108" presetID="10" presetClass="entr" presetSubtype="0" fill="hold" grpId="0" nodeType="withEffect">
                                  <p:stCondLst>
                                    <p:cond delay="120"/>
                                  </p:stCondLst>
                                  <p:childTnLst>
                                    <p:set>
                                      <p:cBhvr>
                                        <p:cTn id="109" dur="1" fill="hold">
                                          <p:stCondLst>
                                            <p:cond delay="0"/>
                                          </p:stCondLst>
                                        </p:cTn>
                                        <p:tgtEl>
                                          <p:spTgt spid="37"/>
                                        </p:tgtEl>
                                        <p:attrNameLst>
                                          <p:attrName>style.visibility</p:attrName>
                                        </p:attrNameLst>
                                      </p:cBhvr>
                                      <p:to>
                                        <p:strVal val="visible"/>
                                      </p:to>
                                    </p:set>
                                    <p:animEffect transition="in" filter="fade">
                                      <p:cBhvr>
                                        <p:cTn id="110" dur="500"/>
                                        <p:tgtEl>
                                          <p:spTgt spid="37"/>
                                        </p:tgtEl>
                                      </p:cBhvr>
                                    </p:animEffect>
                                  </p:childTnLst>
                                </p:cTn>
                              </p:par>
                              <p:par>
                                <p:cTn id="111" presetID="10" presetClass="entr" presetSubtype="0" fill="hold" grpId="0" nodeType="withEffect">
                                  <p:stCondLst>
                                    <p:cond delay="120"/>
                                  </p:stCondLst>
                                  <p:childTnLst>
                                    <p:set>
                                      <p:cBhvr>
                                        <p:cTn id="112" dur="1" fill="hold">
                                          <p:stCondLst>
                                            <p:cond delay="0"/>
                                          </p:stCondLst>
                                        </p:cTn>
                                        <p:tgtEl>
                                          <p:spTgt spid="38"/>
                                        </p:tgtEl>
                                        <p:attrNameLst>
                                          <p:attrName>style.visibility</p:attrName>
                                        </p:attrNameLst>
                                      </p:cBhvr>
                                      <p:to>
                                        <p:strVal val="visible"/>
                                      </p:to>
                                    </p:set>
                                    <p:animEffect transition="in" filter="fade">
                                      <p:cBhvr>
                                        <p:cTn id="113" dur="500"/>
                                        <p:tgtEl>
                                          <p:spTgt spid="38"/>
                                        </p:tgtEl>
                                      </p:cBhvr>
                                    </p:animEffect>
                                  </p:childTnLst>
                                </p:cTn>
                              </p:par>
                              <p:par>
                                <p:cTn id="114" presetID="10" presetClass="entr" presetSubtype="0" fill="hold" grpId="0" nodeType="withEffect">
                                  <p:stCondLst>
                                    <p:cond delay="120"/>
                                  </p:stCondLst>
                                  <p:childTnLst>
                                    <p:set>
                                      <p:cBhvr>
                                        <p:cTn id="115" dur="1" fill="hold">
                                          <p:stCondLst>
                                            <p:cond delay="0"/>
                                          </p:stCondLst>
                                        </p:cTn>
                                        <p:tgtEl>
                                          <p:spTgt spid="39"/>
                                        </p:tgtEl>
                                        <p:attrNameLst>
                                          <p:attrName>style.visibility</p:attrName>
                                        </p:attrNameLst>
                                      </p:cBhvr>
                                      <p:to>
                                        <p:strVal val="visible"/>
                                      </p:to>
                                    </p:set>
                                    <p:animEffect transition="in" filter="fade">
                                      <p:cBhvr>
                                        <p:cTn id="116" dur="500"/>
                                        <p:tgtEl>
                                          <p:spTgt spid="39"/>
                                        </p:tgtEl>
                                      </p:cBhvr>
                                    </p:animEffect>
                                  </p:childTnLst>
                                </p:cTn>
                              </p:par>
                              <p:par>
                                <p:cTn id="117" presetID="10" presetClass="entr" presetSubtype="0" fill="hold" grpId="0" nodeType="withEffect">
                                  <p:stCondLst>
                                    <p:cond delay="240"/>
                                  </p:stCondLst>
                                  <p:childTnLst>
                                    <p:set>
                                      <p:cBhvr>
                                        <p:cTn id="118" dur="1" fill="hold">
                                          <p:stCondLst>
                                            <p:cond delay="0"/>
                                          </p:stCondLst>
                                        </p:cTn>
                                        <p:tgtEl>
                                          <p:spTgt spid="40"/>
                                        </p:tgtEl>
                                        <p:attrNameLst>
                                          <p:attrName>style.visibility</p:attrName>
                                        </p:attrNameLst>
                                      </p:cBhvr>
                                      <p:to>
                                        <p:strVal val="visible"/>
                                      </p:to>
                                    </p:set>
                                    <p:animEffect transition="in" filter="fade">
                                      <p:cBhvr>
                                        <p:cTn id="119" dur="500"/>
                                        <p:tgtEl>
                                          <p:spTgt spid="40"/>
                                        </p:tgtEl>
                                      </p:cBhvr>
                                    </p:animEffect>
                                  </p:childTnLst>
                                </p:cTn>
                              </p:par>
                              <p:par>
                                <p:cTn id="120" presetID="10" presetClass="entr" presetSubtype="0" fill="hold" grpId="0" nodeType="withEffect">
                                  <p:stCondLst>
                                    <p:cond delay="240"/>
                                  </p:stCondLst>
                                  <p:childTnLst>
                                    <p:set>
                                      <p:cBhvr>
                                        <p:cTn id="121" dur="1" fill="hold">
                                          <p:stCondLst>
                                            <p:cond delay="0"/>
                                          </p:stCondLst>
                                        </p:cTn>
                                        <p:tgtEl>
                                          <p:spTgt spid="41"/>
                                        </p:tgtEl>
                                        <p:attrNameLst>
                                          <p:attrName>style.visibility</p:attrName>
                                        </p:attrNameLst>
                                      </p:cBhvr>
                                      <p:to>
                                        <p:strVal val="visible"/>
                                      </p:to>
                                    </p:set>
                                    <p:animEffect transition="in" filter="fade">
                                      <p:cBhvr>
                                        <p:cTn id="122" dur="500"/>
                                        <p:tgtEl>
                                          <p:spTgt spid="41"/>
                                        </p:tgtEl>
                                      </p:cBhvr>
                                    </p:animEffect>
                                  </p:childTnLst>
                                </p:cTn>
                              </p:par>
                              <p:par>
                                <p:cTn id="123" presetID="10" presetClass="entr" presetSubtype="0" fill="hold" grpId="0" nodeType="withEffect">
                                  <p:stCondLst>
                                    <p:cond delay="240"/>
                                  </p:stCondLst>
                                  <p:childTnLst>
                                    <p:set>
                                      <p:cBhvr>
                                        <p:cTn id="124" dur="1" fill="hold">
                                          <p:stCondLst>
                                            <p:cond delay="0"/>
                                          </p:stCondLst>
                                        </p:cTn>
                                        <p:tgtEl>
                                          <p:spTgt spid="42"/>
                                        </p:tgtEl>
                                        <p:attrNameLst>
                                          <p:attrName>style.visibility</p:attrName>
                                        </p:attrNameLst>
                                      </p:cBhvr>
                                      <p:to>
                                        <p:strVal val="visible"/>
                                      </p:to>
                                    </p:set>
                                    <p:animEffect transition="in" filter="fade">
                                      <p:cBhvr>
                                        <p:cTn id="125" dur="500"/>
                                        <p:tgtEl>
                                          <p:spTgt spid="42"/>
                                        </p:tgtEl>
                                      </p:cBhvr>
                                    </p:animEffect>
                                  </p:childTnLst>
                                </p:cTn>
                              </p:par>
                              <p:par>
                                <p:cTn id="126" presetID="10" presetClass="entr" presetSubtype="0" fill="hold" grpId="0" nodeType="withEffect">
                                  <p:stCondLst>
                                    <p:cond delay="240"/>
                                  </p:stCondLst>
                                  <p:childTnLst>
                                    <p:set>
                                      <p:cBhvr>
                                        <p:cTn id="127" dur="1" fill="hold">
                                          <p:stCondLst>
                                            <p:cond delay="0"/>
                                          </p:stCondLst>
                                        </p:cTn>
                                        <p:tgtEl>
                                          <p:spTgt spid="43"/>
                                        </p:tgtEl>
                                        <p:attrNameLst>
                                          <p:attrName>style.visibility</p:attrName>
                                        </p:attrNameLst>
                                      </p:cBhvr>
                                      <p:to>
                                        <p:strVal val="visible"/>
                                      </p:to>
                                    </p:set>
                                    <p:animEffect transition="in" filter="fade">
                                      <p:cBhvr>
                                        <p:cTn id="128" dur="500"/>
                                        <p:tgtEl>
                                          <p:spTgt spid="43"/>
                                        </p:tgtEl>
                                      </p:cBhvr>
                                    </p:animEffect>
                                  </p:childTnLst>
                                </p:cTn>
                              </p:par>
                              <p:par>
                                <p:cTn id="129" presetID="10" presetClass="entr" presetSubtype="0" fill="hold" grpId="0" nodeType="withEffect">
                                  <p:stCondLst>
                                    <p:cond delay="360"/>
                                  </p:stCondLst>
                                  <p:childTnLst>
                                    <p:set>
                                      <p:cBhvr>
                                        <p:cTn id="130" dur="1" fill="hold">
                                          <p:stCondLst>
                                            <p:cond delay="0"/>
                                          </p:stCondLst>
                                        </p:cTn>
                                        <p:tgtEl>
                                          <p:spTgt spid="44"/>
                                        </p:tgtEl>
                                        <p:attrNameLst>
                                          <p:attrName>style.visibility</p:attrName>
                                        </p:attrNameLst>
                                      </p:cBhvr>
                                      <p:to>
                                        <p:strVal val="visible"/>
                                      </p:to>
                                    </p:set>
                                    <p:animEffect transition="in" filter="fade">
                                      <p:cBhvr>
                                        <p:cTn id="131" dur="500"/>
                                        <p:tgtEl>
                                          <p:spTgt spid="44"/>
                                        </p:tgtEl>
                                      </p:cBhvr>
                                    </p:animEffect>
                                  </p:childTnLst>
                                </p:cTn>
                              </p:par>
                              <p:par>
                                <p:cTn id="132" presetID="10" presetClass="entr" presetSubtype="0" fill="hold" grpId="0" nodeType="withEffect">
                                  <p:stCondLst>
                                    <p:cond delay="360"/>
                                  </p:stCondLst>
                                  <p:childTnLst>
                                    <p:set>
                                      <p:cBhvr>
                                        <p:cTn id="133" dur="1" fill="hold">
                                          <p:stCondLst>
                                            <p:cond delay="0"/>
                                          </p:stCondLst>
                                        </p:cTn>
                                        <p:tgtEl>
                                          <p:spTgt spid="45"/>
                                        </p:tgtEl>
                                        <p:attrNameLst>
                                          <p:attrName>style.visibility</p:attrName>
                                        </p:attrNameLst>
                                      </p:cBhvr>
                                      <p:to>
                                        <p:strVal val="visible"/>
                                      </p:to>
                                    </p:set>
                                    <p:animEffect transition="in" filter="fade">
                                      <p:cBhvr>
                                        <p:cTn id="134" dur="500"/>
                                        <p:tgtEl>
                                          <p:spTgt spid="45"/>
                                        </p:tgtEl>
                                      </p:cBhvr>
                                    </p:animEffect>
                                  </p:childTnLst>
                                </p:cTn>
                              </p:par>
                              <p:par>
                                <p:cTn id="135" presetID="10" presetClass="entr" presetSubtype="0" fill="hold" grpId="0" nodeType="withEffect">
                                  <p:stCondLst>
                                    <p:cond delay="360"/>
                                  </p:stCondLst>
                                  <p:childTnLst>
                                    <p:set>
                                      <p:cBhvr>
                                        <p:cTn id="136" dur="1" fill="hold">
                                          <p:stCondLst>
                                            <p:cond delay="0"/>
                                          </p:stCondLst>
                                        </p:cTn>
                                        <p:tgtEl>
                                          <p:spTgt spid="46"/>
                                        </p:tgtEl>
                                        <p:attrNameLst>
                                          <p:attrName>style.visibility</p:attrName>
                                        </p:attrNameLst>
                                      </p:cBhvr>
                                      <p:to>
                                        <p:strVal val="visible"/>
                                      </p:to>
                                    </p:set>
                                    <p:animEffect transition="in" filter="fade">
                                      <p:cBhvr>
                                        <p:cTn id="137" dur="500"/>
                                        <p:tgtEl>
                                          <p:spTgt spid="46"/>
                                        </p:tgtEl>
                                      </p:cBhvr>
                                    </p:animEffect>
                                  </p:childTnLst>
                                </p:cTn>
                              </p:par>
                              <p:par>
                                <p:cTn id="138" presetID="10" presetClass="entr" presetSubtype="0" fill="hold" grpId="0" nodeType="withEffect">
                                  <p:stCondLst>
                                    <p:cond delay="360"/>
                                  </p:stCondLst>
                                  <p:childTnLst>
                                    <p:set>
                                      <p:cBhvr>
                                        <p:cTn id="139" dur="1" fill="hold">
                                          <p:stCondLst>
                                            <p:cond delay="0"/>
                                          </p:stCondLst>
                                        </p:cTn>
                                        <p:tgtEl>
                                          <p:spTgt spid="47"/>
                                        </p:tgtEl>
                                        <p:attrNameLst>
                                          <p:attrName>style.visibility</p:attrName>
                                        </p:attrNameLst>
                                      </p:cBhvr>
                                      <p:to>
                                        <p:strVal val="visible"/>
                                      </p:to>
                                    </p:set>
                                    <p:animEffect transition="in" filter="fade">
                                      <p:cBhvr>
                                        <p:cTn id="140" dur="500"/>
                                        <p:tgtEl>
                                          <p:spTgt spid="47"/>
                                        </p:tgtEl>
                                      </p:cBhvr>
                                    </p:animEffect>
                                  </p:childTnLst>
                                </p:cTn>
                              </p:par>
                              <p:par>
                                <p:cTn id="141" presetID="10" presetClass="entr" presetSubtype="0" fill="hold" grpId="0" nodeType="withEffect">
                                  <p:stCondLst>
                                    <p:cond delay="480"/>
                                  </p:stCondLst>
                                  <p:childTnLst>
                                    <p:set>
                                      <p:cBhvr>
                                        <p:cTn id="142" dur="1" fill="hold">
                                          <p:stCondLst>
                                            <p:cond delay="0"/>
                                          </p:stCondLst>
                                        </p:cTn>
                                        <p:tgtEl>
                                          <p:spTgt spid="48"/>
                                        </p:tgtEl>
                                        <p:attrNameLst>
                                          <p:attrName>style.visibility</p:attrName>
                                        </p:attrNameLst>
                                      </p:cBhvr>
                                      <p:to>
                                        <p:strVal val="visible"/>
                                      </p:to>
                                    </p:set>
                                    <p:animEffect transition="in" filter="fade">
                                      <p:cBhvr>
                                        <p:cTn id="143" dur="500"/>
                                        <p:tgtEl>
                                          <p:spTgt spid="48"/>
                                        </p:tgtEl>
                                      </p:cBhvr>
                                    </p:animEffect>
                                  </p:childTnLst>
                                </p:cTn>
                              </p:par>
                              <p:par>
                                <p:cTn id="144" presetID="10" presetClass="entr" presetSubtype="0" fill="hold" grpId="0" nodeType="withEffect">
                                  <p:stCondLst>
                                    <p:cond delay="480"/>
                                  </p:stCondLst>
                                  <p:childTnLst>
                                    <p:set>
                                      <p:cBhvr>
                                        <p:cTn id="145" dur="1" fill="hold">
                                          <p:stCondLst>
                                            <p:cond delay="0"/>
                                          </p:stCondLst>
                                        </p:cTn>
                                        <p:tgtEl>
                                          <p:spTgt spid="49"/>
                                        </p:tgtEl>
                                        <p:attrNameLst>
                                          <p:attrName>style.visibility</p:attrName>
                                        </p:attrNameLst>
                                      </p:cBhvr>
                                      <p:to>
                                        <p:strVal val="visible"/>
                                      </p:to>
                                    </p:set>
                                    <p:animEffect transition="in" filter="fade">
                                      <p:cBhvr>
                                        <p:cTn id="146" dur="500"/>
                                        <p:tgtEl>
                                          <p:spTgt spid="49"/>
                                        </p:tgtEl>
                                      </p:cBhvr>
                                    </p:animEffect>
                                  </p:childTnLst>
                                </p:cTn>
                              </p:par>
                              <p:par>
                                <p:cTn id="147" presetID="10" presetClass="entr" presetSubtype="0" fill="hold" grpId="0" nodeType="withEffect">
                                  <p:stCondLst>
                                    <p:cond delay="480"/>
                                  </p:stCondLst>
                                  <p:childTnLst>
                                    <p:set>
                                      <p:cBhvr>
                                        <p:cTn id="148" dur="1" fill="hold">
                                          <p:stCondLst>
                                            <p:cond delay="0"/>
                                          </p:stCondLst>
                                        </p:cTn>
                                        <p:tgtEl>
                                          <p:spTgt spid="50"/>
                                        </p:tgtEl>
                                        <p:attrNameLst>
                                          <p:attrName>style.visibility</p:attrName>
                                        </p:attrNameLst>
                                      </p:cBhvr>
                                      <p:to>
                                        <p:strVal val="visible"/>
                                      </p:to>
                                    </p:set>
                                    <p:animEffect transition="in" filter="fade">
                                      <p:cBhvr>
                                        <p:cTn id="149" dur="500"/>
                                        <p:tgtEl>
                                          <p:spTgt spid="50"/>
                                        </p:tgtEl>
                                      </p:cBhvr>
                                    </p:animEffect>
                                  </p:childTnLst>
                                </p:cTn>
                              </p:par>
                              <p:par>
                                <p:cTn id="150" presetID="10" presetClass="entr" presetSubtype="0" fill="hold" grpId="0" nodeType="withEffect">
                                  <p:stCondLst>
                                    <p:cond delay="480"/>
                                  </p:stCondLst>
                                  <p:childTnLst>
                                    <p:set>
                                      <p:cBhvr>
                                        <p:cTn id="151" dur="1" fill="hold">
                                          <p:stCondLst>
                                            <p:cond delay="0"/>
                                          </p:stCondLst>
                                        </p:cTn>
                                        <p:tgtEl>
                                          <p:spTgt spid="51"/>
                                        </p:tgtEl>
                                        <p:attrNameLst>
                                          <p:attrName>style.visibility</p:attrName>
                                        </p:attrNameLst>
                                      </p:cBhvr>
                                      <p:to>
                                        <p:strVal val="visible"/>
                                      </p:to>
                                    </p:set>
                                    <p:animEffect transition="in" filter="fade">
                                      <p:cBhvr>
                                        <p:cTn id="152" dur="500"/>
                                        <p:tgtEl>
                                          <p:spTgt spid="51"/>
                                        </p:tgtEl>
                                      </p:cBhvr>
                                    </p:animEffect>
                                  </p:childTnLst>
                                </p:cTn>
                              </p:par>
                              <p:par>
                                <p:cTn id="153" presetID="10" presetClass="entr" presetSubtype="0" fill="hold" grpId="0" nodeType="withEffect">
                                  <p:stCondLst>
                                    <p:cond delay="600"/>
                                  </p:stCondLst>
                                  <p:childTnLst>
                                    <p:set>
                                      <p:cBhvr>
                                        <p:cTn id="154" dur="1" fill="hold">
                                          <p:stCondLst>
                                            <p:cond delay="0"/>
                                          </p:stCondLst>
                                        </p:cTn>
                                        <p:tgtEl>
                                          <p:spTgt spid="52"/>
                                        </p:tgtEl>
                                        <p:attrNameLst>
                                          <p:attrName>style.visibility</p:attrName>
                                        </p:attrNameLst>
                                      </p:cBhvr>
                                      <p:to>
                                        <p:strVal val="visible"/>
                                      </p:to>
                                    </p:set>
                                    <p:animEffect transition="in" filter="fade">
                                      <p:cBhvr>
                                        <p:cTn id="155" dur="500"/>
                                        <p:tgtEl>
                                          <p:spTgt spid="52"/>
                                        </p:tgtEl>
                                      </p:cBhvr>
                                    </p:animEffect>
                                  </p:childTnLst>
                                </p:cTn>
                              </p:par>
                              <p:par>
                                <p:cTn id="156" presetID="10" presetClass="entr" presetSubtype="0" fill="hold" grpId="0" nodeType="withEffect">
                                  <p:stCondLst>
                                    <p:cond delay="600"/>
                                  </p:stCondLst>
                                  <p:childTnLst>
                                    <p:set>
                                      <p:cBhvr>
                                        <p:cTn id="157" dur="1" fill="hold">
                                          <p:stCondLst>
                                            <p:cond delay="0"/>
                                          </p:stCondLst>
                                        </p:cTn>
                                        <p:tgtEl>
                                          <p:spTgt spid="53"/>
                                        </p:tgtEl>
                                        <p:attrNameLst>
                                          <p:attrName>style.visibility</p:attrName>
                                        </p:attrNameLst>
                                      </p:cBhvr>
                                      <p:to>
                                        <p:strVal val="visible"/>
                                      </p:to>
                                    </p:set>
                                    <p:animEffect transition="in" filter="fade">
                                      <p:cBhvr>
                                        <p:cTn id="158" dur="500"/>
                                        <p:tgtEl>
                                          <p:spTgt spid="53"/>
                                        </p:tgtEl>
                                      </p:cBhvr>
                                    </p:animEffect>
                                  </p:childTnLst>
                                </p:cTn>
                              </p:par>
                              <p:par>
                                <p:cTn id="159" presetID="10" presetClass="entr" presetSubtype="0" fill="hold" grpId="0" nodeType="withEffect">
                                  <p:stCondLst>
                                    <p:cond delay="600"/>
                                  </p:stCondLst>
                                  <p:childTnLst>
                                    <p:set>
                                      <p:cBhvr>
                                        <p:cTn id="160" dur="1" fill="hold">
                                          <p:stCondLst>
                                            <p:cond delay="0"/>
                                          </p:stCondLst>
                                        </p:cTn>
                                        <p:tgtEl>
                                          <p:spTgt spid="54"/>
                                        </p:tgtEl>
                                        <p:attrNameLst>
                                          <p:attrName>style.visibility</p:attrName>
                                        </p:attrNameLst>
                                      </p:cBhvr>
                                      <p:to>
                                        <p:strVal val="visible"/>
                                      </p:to>
                                    </p:set>
                                    <p:animEffect transition="in" filter="fade">
                                      <p:cBhvr>
                                        <p:cTn id="161" dur="500"/>
                                        <p:tgtEl>
                                          <p:spTgt spid="54"/>
                                        </p:tgtEl>
                                      </p:cBhvr>
                                    </p:animEffect>
                                  </p:childTnLst>
                                </p:cTn>
                              </p:par>
                              <p:par>
                                <p:cTn id="162" presetID="10" presetClass="entr" presetSubtype="0" fill="hold" grpId="0" nodeType="withEffect">
                                  <p:stCondLst>
                                    <p:cond delay="600"/>
                                  </p:stCondLst>
                                  <p:childTnLst>
                                    <p:set>
                                      <p:cBhvr>
                                        <p:cTn id="163" dur="1" fill="hold">
                                          <p:stCondLst>
                                            <p:cond delay="0"/>
                                          </p:stCondLst>
                                        </p:cTn>
                                        <p:tgtEl>
                                          <p:spTgt spid="55"/>
                                        </p:tgtEl>
                                        <p:attrNameLst>
                                          <p:attrName>style.visibility</p:attrName>
                                        </p:attrNameLst>
                                      </p:cBhvr>
                                      <p:to>
                                        <p:strVal val="visible"/>
                                      </p:to>
                                    </p:set>
                                    <p:animEffect transition="in" filter="fade">
                                      <p:cBhvr>
                                        <p:cTn id="164" dur="500"/>
                                        <p:tgtEl>
                                          <p:spTgt spid="55"/>
                                        </p:tgtEl>
                                      </p:cBhvr>
                                    </p:animEffect>
                                  </p:childTnLst>
                                </p:cTn>
                              </p:par>
                              <p:par>
                                <p:cTn id="165" presetID="10" presetClass="entr" presetSubtype="0" fill="hold" grpId="0" nodeType="withEffect">
                                  <p:stCondLst>
                                    <p:cond delay="720"/>
                                  </p:stCondLst>
                                  <p:childTnLst>
                                    <p:set>
                                      <p:cBhvr>
                                        <p:cTn id="166" dur="1" fill="hold">
                                          <p:stCondLst>
                                            <p:cond delay="0"/>
                                          </p:stCondLst>
                                        </p:cTn>
                                        <p:tgtEl>
                                          <p:spTgt spid="56"/>
                                        </p:tgtEl>
                                        <p:attrNameLst>
                                          <p:attrName>style.visibility</p:attrName>
                                        </p:attrNameLst>
                                      </p:cBhvr>
                                      <p:to>
                                        <p:strVal val="visible"/>
                                      </p:to>
                                    </p:set>
                                    <p:animEffect transition="in" filter="fade">
                                      <p:cBhvr>
                                        <p:cTn id="167" dur="500"/>
                                        <p:tgtEl>
                                          <p:spTgt spid="56"/>
                                        </p:tgtEl>
                                      </p:cBhvr>
                                    </p:animEffect>
                                  </p:childTnLst>
                                </p:cTn>
                              </p:par>
                              <p:par>
                                <p:cTn id="168" presetID="10" presetClass="entr" presetSubtype="0" fill="hold" grpId="0" nodeType="withEffect">
                                  <p:stCondLst>
                                    <p:cond delay="720"/>
                                  </p:stCondLst>
                                  <p:childTnLst>
                                    <p:set>
                                      <p:cBhvr>
                                        <p:cTn id="169" dur="1" fill="hold">
                                          <p:stCondLst>
                                            <p:cond delay="0"/>
                                          </p:stCondLst>
                                        </p:cTn>
                                        <p:tgtEl>
                                          <p:spTgt spid="57"/>
                                        </p:tgtEl>
                                        <p:attrNameLst>
                                          <p:attrName>style.visibility</p:attrName>
                                        </p:attrNameLst>
                                      </p:cBhvr>
                                      <p:to>
                                        <p:strVal val="visible"/>
                                      </p:to>
                                    </p:set>
                                    <p:animEffect transition="in" filter="fade">
                                      <p:cBhvr>
                                        <p:cTn id="170" dur="500"/>
                                        <p:tgtEl>
                                          <p:spTgt spid="57"/>
                                        </p:tgtEl>
                                      </p:cBhvr>
                                    </p:animEffect>
                                  </p:childTnLst>
                                </p:cTn>
                              </p:par>
                              <p:par>
                                <p:cTn id="171" presetID="10" presetClass="entr" presetSubtype="0" fill="hold" grpId="0" nodeType="withEffect">
                                  <p:stCondLst>
                                    <p:cond delay="720"/>
                                  </p:stCondLst>
                                  <p:childTnLst>
                                    <p:set>
                                      <p:cBhvr>
                                        <p:cTn id="172" dur="1" fill="hold">
                                          <p:stCondLst>
                                            <p:cond delay="0"/>
                                          </p:stCondLst>
                                        </p:cTn>
                                        <p:tgtEl>
                                          <p:spTgt spid="58"/>
                                        </p:tgtEl>
                                        <p:attrNameLst>
                                          <p:attrName>style.visibility</p:attrName>
                                        </p:attrNameLst>
                                      </p:cBhvr>
                                      <p:to>
                                        <p:strVal val="visible"/>
                                      </p:to>
                                    </p:set>
                                    <p:animEffect transition="in" filter="fade">
                                      <p:cBhvr>
                                        <p:cTn id="173" dur="500"/>
                                        <p:tgtEl>
                                          <p:spTgt spid="58"/>
                                        </p:tgtEl>
                                      </p:cBhvr>
                                    </p:animEffect>
                                  </p:childTnLst>
                                </p:cTn>
                              </p:par>
                              <p:par>
                                <p:cTn id="174" presetID="10" presetClass="entr" presetSubtype="0" fill="hold" grpId="0" nodeType="withEffect">
                                  <p:stCondLst>
                                    <p:cond delay="720"/>
                                  </p:stCondLst>
                                  <p:childTnLst>
                                    <p:set>
                                      <p:cBhvr>
                                        <p:cTn id="175" dur="1" fill="hold">
                                          <p:stCondLst>
                                            <p:cond delay="0"/>
                                          </p:stCondLst>
                                        </p:cTn>
                                        <p:tgtEl>
                                          <p:spTgt spid="59"/>
                                        </p:tgtEl>
                                        <p:attrNameLst>
                                          <p:attrName>style.visibility</p:attrName>
                                        </p:attrNameLst>
                                      </p:cBhvr>
                                      <p:to>
                                        <p:strVal val="visible"/>
                                      </p:to>
                                    </p:set>
                                    <p:animEffect transition="in" filter="fade">
                                      <p:cBhvr>
                                        <p:cTn id="176" dur="500"/>
                                        <p:tgtEl>
                                          <p:spTgt spid="59"/>
                                        </p:tgtEl>
                                      </p:cBhvr>
                                    </p:animEffect>
                                  </p:childTnLst>
                                </p:cTn>
                              </p:par>
                              <p:par>
                                <p:cTn id="177" presetID="10" presetClass="entr" presetSubtype="0" fill="hold" grpId="0" nodeType="withEffect">
                                  <p:stCondLst>
                                    <p:cond delay="840"/>
                                  </p:stCondLst>
                                  <p:childTnLst>
                                    <p:set>
                                      <p:cBhvr>
                                        <p:cTn id="178" dur="1" fill="hold">
                                          <p:stCondLst>
                                            <p:cond delay="0"/>
                                          </p:stCondLst>
                                        </p:cTn>
                                        <p:tgtEl>
                                          <p:spTgt spid="60"/>
                                        </p:tgtEl>
                                        <p:attrNameLst>
                                          <p:attrName>style.visibility</p:attrName>
                                        </p:attrNameLst>
                                      </p:cBhvr>
                                      <p:to>
                                        <p:strVal val="visible"/>
                                      </p:to>
                                    </p:set>
                                    <p:animEffect transition="in" filter="fade">
                                      <p:cBhvr>
                                        <p:cTn id="179" dur="500"/>
                                        <p:tgtEl>
                                          <p:spTgt spid="60"/>
                                        </p:tgtEl>
                                      </p:cBhvr>
                                    </p:animEffect>
                                  </p:childTnLst>
                                </p:cTn>
                              </p:par>
                              <p:par>
                                <p:cTn id="180" presetID="10" presetClass="entr" presetSubtype="0" fill="hold" grpId="0" nodeType="withEffect">
                                  <p:stCondLst>
                                    <p:cond delay="840"/>
                                  </p:stCondLst>
                                  <p:childTnLst>
                                    <p:set>
                                      <p:cBhvr>
                                        <p:cTn id="181" dur="1" fill="hold">
                                          <p:stCondLst>
                                            <p:cond delay="0"/>
                                          </p:stCondLst>
                                        </p:cTn>
                                        <p:tgtEl>
                                          <p:spTgt spid="61"/>
                                        </p:tgtEl>
                                        <p:attrNameLst>
                                          <p:attrName>style.visibility</p:attrName>
                                        </p:attrNameLst>
                                      </p:cBhvr>
                                      <p:to>
                                        <p:strVal val="visible"/>
                                      </p:to>
                                    </p:set>
                                    <p:animEffect transition="in" filter="fade">
                                      <p:cBhvr>
                                        <p:cTn id="182" dur="500"/>
                                        <p:tgtEl>
                                          <p:spTgt spid="61"/>
                                        </p:tgtEl>
                                      </p:cBhvr>
                                    </p:animEffect>
                                  </p:childTnLst>
                                </p:cTn>
                              </p:par>
                              <p:par>
                                <p:cTn id="183" presetID="10" presetClass="entr" presetSubtype="0" fill="hold" grpId="0" nodeType="withEffect">
                                  <p:stCondLst>
                                    <p:cond delay="840"/>
                                  </p:stCondLst>
                                  <p:childTnLst>
                                    <p:set>
                                      <p:cBhvr>
                                        <p:cTn id="184" dur="1" fill="hold">
                                          <p:stCondLst>
                                            <p:cond delay="0"/>
                                          </p:stCondLst>
                                        </p:cTn>
                                        <p:tgtEl>
                                          <p:spTgt spid="62"/>
                                        </p:tgtEl>
                                        <p:attrNameLst>
                                          <p:attrName>style.visibility</p:attrName>
                                        </p:attrNameLst>
                                      </p:cBhvr>
                                      <p:to>
                                        <p:strVal val="visible"/>
                                      </p:to>
                                    </p:set>
                                    <p:animEffect transition="in" filter="fade">
                                      <p:cBhvr>
                                        <p:cTn id="185" dur="500"/>
                                        <p:tgtEl>
                                          <p:spTgt spid="62"/>
                                        </p:tgtEl>
                                      </p:cBhvr>
                                    </p:animEffect>
                                  </p:childTnLst>
                                </p:cTn>
                              </p:par>
                              <p:par>
                                <p:cTn id="186" presetID="10" presetClass="entr" presetSubtype="0" fill="hold" grpId="0" nodeType="withEffect">
                                  <p:stCondLst>
                                    <p:cond delay="840"/>
                                  </p:stCondLst>
                                  <p:childTnLst>
                                    <p:set>
                                      <p:cBhvr>
                                        <p:cTn id="187" dur="1" fill="hold">
                                          <p:stCondLst>
                                            <p:cond delay="0"/>
                                          </p:stCondLst>
                                        </p:cTn>
                                        <p:tgtEl>
                                          <p:spTgt spid="63"/>
                                        </p:tgtEl>
                                        <p:attrNameLst>
                                          <p:attrName>style.visibility</p:attrName>
                                        </p:attrNameLst>
                                      </p:cBhvr>
                                      <p:to>
                                        <p:strVal val="visible"/>
                                      </p:to>
                                    </p:set>
                                    <p:animEffect transition="in" filter="fade">
                                      <p:cBhvr>
                                        <p:cTn id="188" dur="500"/>
                                        <p:tgtEl>
                                          <p:spTgt spid="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5" grpId="0"/>
      <p:bldGraphic spid="14" grpId="0">
        <p:bldSub>
          <a:bldChart bld="category" animBg="0"/>
        </p:bldSub>
      </p:bldGraphic>
      <p:bldP spid="16" grpId="0"/>
      <p:bldP spid="17" grpId="0"/>
      <p:bldP spid="18" grpId="0"/>
      <p:bldP spid="19" grpId="0"/>
      <p:bldP spid="20" grpId="0"/>
      <p:bldP spid="21" grpId="0"/>
      <p:bldP spid="22" grpId="0"/>
      <p:bldP spid="23" grpId="0"/>
      <p:bldP spid="24" grpId="0"/>
      <p:bldP spid="25" grpId="0"/>
      <p:bldP spid="26" grpId="0"/>
      <p:bldP spid="27" grpId="0"/>
      <p:bldP spid="28" grpId="0"/>
      <p:bldP spid="29" grpId="0"/>
      <p:bldP spid="30" grpId="0"/>
      <p:bldP spid="31" grpId="0"/>
      <p:bldP spid="32" grpId="0" animBg="1"/>
      <p:bldP spid="33" grpId="0" animBg="1"/>
      <p:bldP spid="35" grpId="0"/>
      <p:bldP spid="36" grpId="0" animBg="1"/>
      <p:bldP spid="37" grpId="0" animBg="1"/>
      <p:bldP spid="39" grpId="0"/>
      <p:bldP spid="40" grpId="0" animBg="1"/>
      <p:bldP spid="41" grpId="0" animBg="1"/>
      <p:bldP spid="43" grpId="0"/>
      <p:bldP spid="44" grpId="0" animBg="1"/>
      <p:bldP spid="45" grpId="0" animBg="1"/>
      <p:bldP spid="47" grpId="0"/>
      <p:bldP spid="48" grpId="0" animBg="1"/>
      <p:bldP spid="49" grpId="0" animBg="1"/>
      <p:bldP spid="51" grpId="0"/>
      <p:bldP spid="52" grpId="0" animBg="1"/>
      <p:bldP spid="53" grpId="0" animBg="1"/>
      <p:bldP spid="55" grpId="0"/>
      <p:bldP spid="56" grpId="0" animBg="1"/>
      <p:bldP spid="57" grpId="0" animBg="1"/>
      <p:bldP spid="59" grpId="0"/>
      <p:bldP spid="60" grpId="0" animBg="1"/>
      <p:bldP spid="61" grpId="0" animBg="1"/>
      <p:bldP spid="63" grpId="0"/>
    </p:bld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8F3"/>
        </a:solidFill>
        <a:effectLst/>
      </p:bgPr>
    </p:bg>
    <p:spTree>
      <p:nvGrpSpPr>
        <p:cNvPr id="1" name=""/>
        <p:cNvGrpSpPr/>
        <p:nvPr/>
      </p:nvGrpSpPr>
      <p:grpSpPr/>
      <p:sp>
        <p:nvSpPr>
          <p:cNvPr id="2" name="Trait or"/>
          <p:cNvSpPr/>
          <p:nvPr/>
        </p:nvSpPr>
        <p:spPr>
          <a:xfrm>
            <a:off x="609600" y="444500"/>
            <a:ext cx="406400" cy="38100"/>
          </a:xfrm>
          <a:prstGeom prst="rect">
            <a:avLst/>
          </a:prstGeom>
          <a:solidFill>
            <a:srgbClr val="D3A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brique"/>
          <p:cNvSpPr txBox="1"/>
          <p:nvPr/>
        </p:nvSpPr>
        <p:spPr>
          <a:xfrm>
            <a:off x="609600" y="508000"/>
            <a:ext cx="10160000" cy="304800"/>
          </a:xfrm>
          <a:prstGeom prst="rect">
            <a:avLst/>
          </a:prstGeom>
          <a:noFill/>
        </p:spPr>
        <p:txBody>
          <a:bodyPr wrap="square" lIns="0" tIns="0" rIns="0" bIns="0" anchor="ctr">
            <a:noAutofit/>
          </a:bodyPr>
          <a:lstStyle/>
          <a:p>
            <a:pPr algn="l">
              <a:lnSpc>
                <a:spcPct val="100000"/>
              </a:lnSpc>
              <a:spcBef>
                <a:spcPts val="0"/>
              </a:spcBef>
              <a:spcAft>
                <a:spcPts val="0"/>
              </a:spcAft>
            </a:pPr>
            <a:r>
              <a:rPr sz="2000" b="1" i="0" lang="fr-FR" spc="150">
                <a:solidFill>
                  <a:srgbClr val="1E7B67"/>
                </a:solidFill>
                <a:latin typeface="Calibri"/>
              </a:rPr>
              <a:t>09 / LA GOUVERNANCE</a:t>
            </a:r>
          </a:p>
        </p:txBody>
      </p:sp>
      <p:sp>
        <p:nvSpPr>
          <p:cNvPr id="4" name="Titre"/>
          <p:cNvSpPr txBox="1"/>
          <p:nvPr/>
        </p:nvSpPr>
        <p:spPr>
          <a:xfrm>
            <a:off x="609600" y="774700"/>
            <a:ext cx="10972800" cy="609600"/>
          </a:xfrm>
          <a:prstGeom prst="rect">
            <a:avLst/>
          </a:prstGeom>
          <a:noFill/>
        </p:spPr>
        <p:txBody>
          <a:bodyPr wrap="square" lIns="0" tIns="0" rIns="0" bIns="0" anchor="ctr">
            <a:noAutofit/>
          </a:bodyPr>
          <a:lstStyle/>
          <a:p>
            <a:pPr algn="l">
              <a:lnSpc>
                <a:spcPct val="100000"/>
              </a:lnSpc>
              <a:spcBef>
                <a:spcPts val="0"/>
              </a:spcBef>
              <a:spcAft>
                <a:spcPts val="0"/>
              </a:spcAft>
            </a:pPr>
            <a:r>
              <a:rPr sz="4000" b="1" i="0" lang="fr-FR">
                <a:solidFill>
                  <a:srgbClr val="12264A"/>
                </a:solidFill>
                <a:latin typeface="Calibri"/>
              </a:rPr>
              <a:t>Qui décide, qui exécute, qui contrôle</a:t>
            </a:r>
          </a:p>
        </p:txBody>
      </p:sp>
      <p:sp>
        <p:nvSpPr>
          <p:cNvPr id="5" name="Accroche"/>
          <p:cNvSpPr txBox="1"/>
          <p:nvPr/>
        </p:nvSpPr>
        <p:spPr>
          <a:xfrm>
            <a:off x="609600" y="1358900"/>
            <a:ext cx="10972800" cy="355600"/>
          </a:xfrm>
          <a:prstGeom prst="rect">
            <a:avLst/>
          </a:prstGeom>
          <a:noFill/>
        </p:spPr>
        <p:txBody>
          <a:bodyPr wrap="square" lIns="0" tIns="0" rIns="0" bIns="0" anchor="t">
            <a:noAutofit/>
          </a:bodyPr>
          <a:lstStyle/>
          <a:p>
            <a:pPr algn="l">
              <a:lnSpc>
                <a:spcPct val="100000"/>
              </a:lnSpc>
              <a:spcBef>
                <a:spcPts val="0"/>
              </a:spcBef>
              <a:spcAft>
                <a:spcPts val="0"/>
              </a:spcAft>
            </a:pPr>
            <a:r>
              <a:rPr sz="2200" b="0" i="0" lang="fr-FR">
                <a:solidFill>
                  <a:srgbClr val="1B2A41"/>
                </a:solidFill>
                <a:latin typeface="Calibri"/>
              </a:rPr>
              <a:t>Cinq organes, des rôles séparés.</a:t>
            </a:r>
          </a:p>
        </p:txBody>
      </p:sp>
      <p:sp>
        <p:nvSpPr>
          <p:cNvPr id="6" name="Pied de page"/>
          <p:cNvSpPr txBox="1"/>
          <p:nvPr/>
        </p:nvSpPr>
        <p:spPr>
          <a:xfrm>
            <a:off x="609600" y="6413500"/>
            <a:ext cx="4826000" cy="241300"/>
          </a:xfrm>
          <a:prstGeom prst="rect">
            <a:avLst/>
          </a:prstGeom>
          <a:noFill/>
        </p:spPr>
        <p:txBody>
          <a:bodyPr wrap="square" lIns="0" tIns="0" rIns="0" bIns="0" anchor="ctr">
            <a:noAutofit/>
          </a:bodyPr>
          <a:lstStyle/>
          <a:p>
            <a:pPr algn="l">
              <a:lnSpc>
                <a:spcPct val="100000"/>
              </a:lnSpc>
              <a:spcBef>
                <a:spcPts val="0"/>
              </a:spcBef>
              <a:spcAft>
                <a:spcPts val="0"/>
              </a:spcAft>
            </a:pPr>
            <a:r>
              <a:rPr sz="1400" b="1" i="0" lang="fr-FR" spc="50">
                <a:solidFill>
                  <a:srgbClr val="1B2A41"/>
                </a:solidFill>
                <a:latin typeface="Calibri"/>
              </a:rPr>
              <a:t>FUTURA - KOUROUSSA | Octobre 2026</a:t>
            </a:r>
          </a:p>
        </p:txBody>
      </p:sp>
      <p:sp>
        <p:nvSpPr>
          <p:cNvPr id="7" name="Pied bandeau"/>
          <p:cNvSpPr/>
          <p:nvPr/>
        </p:nvSpPr>
        <p:spPr>
          <a:xfrm>
            <a:off x="9069742" y="6350000"/>
            <a:ext cx="2512658" cy="355600"/>
          </a:xfrm>
          <a:prstGeom prst="roundRect">
            <a:avLst>
              <a:gd name="adj" fmla="val 42857"/>
            </a:avLst>
          </a:prstGeom>
          <a:solidFill>
            <a:srgbClr val="FFFFFF"/>
          </a:solidFill>
          <a:ln w="9525">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ed logo futura-kouroussa" descr="futura-kouroussa.png"/>
          <p:cNvPicPr>
            <a:picLocks noChangeAspect="1"/>
          </p:cNvPicPr>
          <p:nvPr/>
        </p:nvPicPr>
        <p:blipFill>
          <a:blip r:embed="rId2"/>
          <a:stretch>
            <a:fillRect/>
          </a:stretch>
        </p:blipFill>
        <p:spPr>
          <a:xfrm>
            <a:off x="9184042" y="6419850"/>
            <a:ext cx="391970" cy="215900"/>
          </a:xfrm>
          <a:prstGeom prst="rect">
            <a:avLst/>
          </a:prstGeom>
        </p:spPr>
      </p:pic>
      <p:pic>
        <p:nvPicPr>
          <p:cNvPr id="9" name="Pied logo republique-de-guinee-armoiries" descr="republique-de-guinee-armoiries.png"/>
          <p:cNvPicPr>
            <a:picLocks noChangeAspect="1"/>
          </p:cNvPicPr>
          <p:nvPr/>
        </p:nvPicPr>
        <p:blipFill>
          <a:blip r:embed="rId3"/>
          <a:stretch>
            <a:fillRect/>
          </a:stretch>
        </p:blipFill>
        <p:spPr>
          <a:xfrm>
            <a:off x="9664912" y="6419850"/>
            <a:ext cx="179814" cy="215900"/>
          </a:xfrm>
          <a:prstGeom prst="rect">
            <a:avLst/>
          </a:prstGeom>
        </p:spPr>
      </p:pic>
      <p:pic>
        <p:nvPicPr>
          <p:cNvPr id="10" name="Pied logo assemblee-nationale" descr="assemblee-nationale.png"/>
          <p:cNvPicPr>
            <a:picLocks noChangeAspect="1"/>
          </p:cNvPicPr>
          <p:nvPr/>
        </p:nvPicPr>
        <p:blipFill>
          <a:blip r:embed="rId4"/>
          <a:stretch>
            <a:fillRect/>
          </a:stretch>
        </p:blipFill>
        <p:spPr>
          <a:xfrm>
            <a:off x="9933626" y="6419850"/>
            <a:ext cx="217442" cy="215900"/>
          </a:xfrm>
          <a:prstGeom prst="rect">
            <a:avLst/>
          </a:prstGeom>
        </p:spPr>
      </p:pic>
      <p:pic>
        <p:nvPicPr>
          <p:cNvPr id="11" name="Pied logo simandou-2040" descr="simandou-2040.png"/>
          <p:cNvPicPr>
            <a:picLocks noChangeAspect="1"/>
          </p:cNvPicPr>
          <p:nvPr/>
        </p:nvPicPr>
        <p:blipFill>
          <a:blip r:embed="rId5"/>
          <a:stretch>
            <a:fillRect/>
          </a:stretch>
        </p:blipFill>
        <p:spPr>
          <a:xfrm>
            <a:off x="10239968" y="6419850"/>
            <a:ext cx="674774" cy="215900"/>
          </a:xfrm>
          <a:prstGeom prst="rect">
            <a:avLst/>
          </a:prstGeom>
        </p:spPr>
      </p:pic>
      <p:pic>
        <p:nvPicPr>
          <p:cNvPr id="12" name="Pied logo guinee" descr="guinee.png"/>
          <p:cNvPicPr>
            <a:picLocks noChangeAspect="1"/>
          </p:cNvPicPr>
          <p:nvPr/>
        </p:nvPicPr>
        <p:blipFill>
          <a:blip r:embed="rId6"/>
          <a:stretch>
            <a:fillRect/>
          </a:stretch>
        </p:blipFill>
        <p:spPr>
          <a:xfrm>
            <a:off x="11003643" y="6419850"/>
            <a:ext cx="464457" cy="215900"/>
          </a:xfrm>
          <a:prstGeom prst="rect">
            <a:avLst/>
          </a:prstGeom>
        </p:spPr>
      </p:pic>
      <p:sp>
        <p:nvSpPr>
          <p:cNvPr id="13" name="Numéro"/>
          <p:cNvSpPr txBox="1"/>
          <p:nvPr/>
        </p:nvSpPr>
        <p:spPr>
          <a:xfrm>
            <a:off x="7990242" y="6413500"/>
            <a:ext cx="952500" cy="241300"/>
          </a:xfrm>
          <a:prstGeom prst="rect">
            <a:avLst/>
          </a:prstGeom>
          <a:noFill/>
        </p:spPr>
        <p:txBody>
          <a:bodyPr wrap="square" lIns="0" tIns="0" rIns="0" bIns="0" anchor="ctr">
            <a:noAutofit/>
          </a:bodyPr>
          <a:lstStyle/>
          <a:p>
            <a:pPr algn="r">
              <a:lnSpc>
                <a:spcPct val="100000"/>
              </a:lnSpc>
              <a:spcBef>
                <a:spcPts val="0"/>
              </a:spcBef>
              <a:spcAft>
                <a:spcPts val="0"/>
              </a:spcAft>
            </a:pPr>
            <a:r>
              <a:rPr sz="1400" b="1" i="0" lang="fr-FR">
                <a:solidFill>
                  <a:srgbClr val="12264A"/>
                </a:solidFill>
                <a:latin typeface="Calibri"/>
              </a:rPr>
              <a:t>10 / 15</a:t>
            </a:r>
          </a:p>
        </p:txBody>
      </p:sp>
      <p:sp>
        <p:nvSpPr>
          <p:cNvPr id="14" name="s10 CoPiS"/>
          <p:cNvSpPr/>
          <p:nvPr/>
        </p:nvSpPr>
        <p:spPr>
          <a:xfrm>
            <a:off x="2286000" y="1828800"/>
            <a:ext cx="7620000" cy="749300"/>
          </a:xfrm>
          <a:prstGeom prst="roundRect">
            <a:avLst>
              <a:gd name="adj" fmla="val 13559"/>
            </a:avLst>
          </a:prstGeom>
          <a:solidFill>
            <a:srgbClr val="FFFFFF"/>
          </a:solidFill>
          <a:ln w="9525">
            <a:solidFill>
              <a:srgbClr val="E3DED3"/>
            </a:solidFill>
          </a:ln>
          <a:effectLst>
            <a:outerShdw blurRad="165100" dist="38100" dir="5400000" algn="t" rotWithShape="0">
              <a:srgbClr val="12264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10 CoPiS filet"/>
          <p:cNvSpPr/>
          <p:nvPr/>
        </p:nvSpPr>
        <p:spPr>
          <a:xfrm>
            <a:off x="2286000" y="1930400"/>
            <a:ext cx="50800" cy="546100"/>
          </a:xfrm>
          <a:prstGeom prst="rect">
            <a:avLst/>
          </a:prstGeom>
          <a:solidFill>
            <a:srgbClr val="D3A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10 texte CoPiS"/>
          <p:cNvSpPr txBox="1"/>
          <p:nvPr/>
        </p:nvSpPr>
        <p:spPr>
          <a:xfrm>
            <a:off x="2514600" y="1892300"/>
            <a:ext cx="7213600" cy="622300"/>
          </a:xfrm>
          <a:prstGeom prst="rect">
            <a:avLst/>
          </a:prstGeom>
          <a:noFill/>
        </p:spPr>
        <p:txBody>
          <a:bodyPr wrap="square" lIns="0" tIns="0" rIns="0" bIns="0" anchor="ctr">
            <a:noAutofit/>
          </a:bodyPr>
          <a:lstStyle/>
          <a:p>
            <a:pPr algn="l">
              <a:lnSpc>
                <a:spcPct val="100000"/>
              </a:lnSpc>
              <a:spcBef>
                <a:spcPts val="0"/>
              </a:spcBef>
              <a:spcAft>
                <a:spcPts val="400"/>
              </a:spcAft>
            </a:pPr>
            <a:r>
              <a:rPr sz="2000" b="1" i="0" lang="fr-FR" spc="150">
                <a:solidFill>
                  <a:srgbClr val="12264A"/>
                </a:solidFill>
                <a:latin typeface="Calibri"/>
              </a:rPr>
              <a:t>ORIENTE</a:t>
            </a:r>
            <a:r>
              <a:rPr sz="2400" b="1" i="0" lang="fr-FR">
                <a:solidFill>
                  <a:srgbClr val="12264A"/>
                </a:solidFill>
                <a:latin typeface="Calibri"/>
              </a:rPr>
              <a:t>   Comité de Pilotage Stratégique (CoPiS)</a:t>
            </a:r>
          </a:p>
          <a:p>
            <a:pPr algn="l">
              <a:lnSpc>
                <a:spcPct val="100000"/>
              </a:lnSpc>
              <a:spcBef>
                <a:spcPts val="0"/>
              </a:spcBef>
              <a:spcAft>
                <a:spcPts val="0"/>
              </a:spcAft>
            </a:pPr>
            <a:r>
              <a:rPr sz="2000" b="0" i="0" lang="fr-FR">
                <a:solidFill>
                  <a:srgbClr val="1B2A41"/>
                </a:solidFill>
                <a:latin typeface="Calibri"/>
              </a:rPr>
              <a:t>Réunion annuelle</a:t>
            </a:r>
          </a:p>
        </p:txBody>
      </p:sp>
      <p:cxnSp>
        <p:nvCxnSpPr>
          <p:cNvPr id="17" name="s10 lien 1"/>
          <p:cNvCxnSpPr/>
          <p:nvPr/>
        </p:nvCxnSpPr>
        <p:spPr>
          <a:xfrm>
            <a:off x="6096000" y="2578100"/>
            <a:ext cx="0" cy="127000"/>
          </a:xfrm>
          <a:prstGeom prst="line">
            <a:avLst/>
          </a:prstGeom>
          <a:ln w="25400">
            <a:solidFill>
              <a:srgbClr val="8F98A3"/>
            </a:solidFill>
          </a:ln>
        </p:spPr>
        <p:style>
          <a:lnRef idx="2">
            <a:schemeClr val="accent1"/>
          </a:lnRef>
          <a:fillRef idx="0">
            <a:schemeClr val="accent1"/>
          </a:fillRef>
          <a:effectRef idx="1">
            <a:schemeClr val="accent1"/>
          </a:effectRef>
          <a:fontRef idx="minor">
            <a:schemeClr val="tx1"/>
          </a:fontRef>
        </p:style>
      </p:cxnSp>
      <p:sp>
        <p:nvSpPr>
          <p:cNvPr id="18" name="s10 CA"/>
          <p:cNvSpPr/>
          <p:nvPr/>
        </p:nvSpPr>
        <p:spPr>
          <a:xfrm>
            <a:off x="609600" y="2705100"/>
            <a:ext cx="10972800" cy="1130300"/>
          </a:xfrm>
          <a:prstGeom prst="roundRect">
            <a:avLst>
              <a:gd name="adj" fmla="val 8988"/>
            </a:avLst>
          </a:prstGeom>
          <a:solidFill>
            <a:srgbClr val="FFFFFF"/>
          </a:solidFill>
          <a:ln w="9525">
            <a:solidFill>
              <a:srgbClr val="E3DED3"/>
            </a:solidFill>
          </a:ln>
          <a:effectLst>
            <a:outerShdw blurRad="165100" dist="38100" dir="5400000" algn="t" rotWithShape="0">
              <a:srgbClr val="12264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10 CA filet"/>
          <p:cNvSpPr/>
          <p:nvPr/>
        </p:nvSpPr>
        <p:spPr>
          <a:xfrm>
            <a:off x="609600" y="2806700"/>
            <a:ext cx="50800" cy="927100"/>
          </a:xfrm>
          <a:prstGeom prst="rect">
            <a:avLst/>
          </a:prstGeom>
          <a:solidFill>
            <a:srgbClr val="1E7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10 texte CA"/>
          <p:cNvSpPr txBox="1"/>
          <p:nvPr/>
        </p:nvSpPr>
        <p:spPr>
          <a:xfrm>
            <a:off x="838200" y="2768600"/>
            <a:ext cx="10541000" cy="342900"/>
          </a:xfrm>
          <a:prstGeom prst="rect">
            <a:avLst/>
          </a:prstGeom>
          <a:noFill/>
        </p:spPr>
        <p:txBody>
          <a:bodyPr wrap="square" lIns="0" tIns="0" rIns="0" bIns="0" anchor="ctr">
            <a:noAutofit/>
          </a:bodyPr>
          <a:lstStyle/>
          <a:p>
            <a:pPr algn="l">
              <a:lnSpc>
                <a:spcPct val="100000"/>
              </a:lnSpc>
              <a:spcBef>
                <a:spcPts val="0"/>
              </a:spcBef>
              <a:spcAft>
                <a:spcPts val="0"/>
              </a:spcAft>
            </a:pPr>
            <a:r>
              <a:rPr sz="2000" b="1" i="0" lang="fr-FR" spc="150">
                <a:solidFill>
                  <a:srgbClr val="1E7B67"/>
                </a:solidFill>
                <a:latin typeface="Calibri"/>
              </a:rPr>
              <a:t>DÉCIDE</a:t>
            </a:r>
            <a:r>
              <a:rPr sz="2400" b="1" i="0" lang="fr-FR">
                <a:solidFill>
                  <a:srgbClr val="12264A"/>
                </a:solidFill>
                <a:latin typeface="Calibri"/>
              </a:rPr>
              <a:t>   Conseil d’Administration</a:t>
            </a:r>
            <a:r>
              <a:rPr sz="2200" b="0" i="0" lang="fr-FR">
                <a:solidFill>
                  <a:srgbClr val="1B2A41"/>
                </a:solidFill>
                <a:latin typeface="Calibri"/>
              </a:rPr>
              <a:t> · 11 membres, quatre collèges</a:t>
            </a:r>
          </a:p>
        </p:txBody>
      </p:sp>
      <p:sp>
        <p:nvSpPr>
          <p:cNvPr id="21" name="s10 collège 1"/>
          <p:cNvSpPr/>
          <p:nvPr/>
        </p:nvSpPr>
        <p:spPr>
          <a:xfrm>
            <a:off x="838200" y="3162300"/>
            <a:ext cx="2514600" cy="558800"/>
          </a:xfrm>
          <a:prstGeom prst="roundRect">
            <a:avLst>
              <a:gd name="adj" fmla="val 15909"/>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10 collège nombre 1"/>
          <p:cNvSpPr txBox="1"/>
          <p:nvPr/>
        </p:nvSpPr>
        <p:spPr>
          <a:xfrm>
            <a:off x="927100" y="3162300"/>
            <a:ext cx="406400" cy="558800"/>
          </a:xfrm>
          <a:prstGeom prst="rect">
            <a:avLst/>
          </a:prstGeom>
          <a:noFill/>
        </p:spPr>
        <p:txBody>
          <a:bodyPr wrap="square" lIns="0" tIns="0" rIns="0" bIns="0" anchor="ctr">
            <a:noAutofit/>
          </a:bodyPr>
          <a:lstStyle/>
          <a:p>
            <a:pPr algn="ctr">
              <a:lnSpc>
                <a:spcPct val="100000"/>
              </a:lnSpc>
              <a:spcBef>
                <a:spcPts val="0"/>
              </a:spcBef>
              <a:spcAft>
                <a:spcPts val="0"/>
              </a:spcAft>
            </a:pPr>
            <a:r>
              <a:rPr sz="4000" b="1" i="0" lang="fr-FR">
                <a:solidFill>
                  <a:srgbClr val="1E7B67"/>
                </a:solidFill>
                <a:latin typeface="Calibri"/>
              </a:rPr>
              <a:t>3</a:t>
            </a:r>
          </a:p>
        </p:txBody>
      </p:sp>
      <p:sp>
        <p:nvSpPr>
          <p:cNvPr id="23" name="s10 collège texte 1"/>
          <p:cNvSpPr txBox="1"/>
          <p:nvPr/>
        </p:nvSpPr>
        <p:spPr>
          <a:xfrm>
            <a:off x="1371600" y="3162300"/>
            <a:ext cx="1905000" cy="558800"/>
          </a:xfrm>
          <a:prstGeom prst="rect">
            <a:avLst/>
          </a:prstGeom>
          <a:noFill/>
        </p:spPr>
        <p:txBody>
          <a:bodyPr wrap="square" lIns="0" tIns="0" rIns="0" bIns="0" anchor="ctr">
            <a:noAutofit/>
          </a:bodyPr>
          <a:lstStyle/>
          <a:p>
            <a:pPr algn="l">
              <a:lnSpc>
                <a:spcPct val="100000"/>
              </a:lnSpc>
              <a:spcBef>
                <a:spcPts val="0"/>
              </a:spcBef>
              <a:spcAft>
                <a:spcPts val="0"/>
              </a:spcAft>
            </a:pPr>
            <a:r>
              <a:rPr sz="2000" b="1" i="0" lang="fr-FR">
                <a:solidFill>
                  <a:srgbClr val="1B2A41"/>
                </a:solidFill>
                <a:latin typeface="Calibri"/>
              </a:rPr>
              <a:t>Collectivités locales</a:t>
            </a:r>
          </a:p>
        </p:txBody>
      </p:sp>
      <p:sp>
        <p:nvSpPr>
          <p:cNvPr id="24" name="s10 collège 2"/>
          <p:cNvSpPr/>
          <p:nvPr/>
        </p:nvSpPr>
        <p:spPr>
          <a:xfrm>
            <a:off x="3479800" y="3162300"/>
            <a:ext cx="2514600" cy="558800"/>
          </a:xfrm>
          <a:prstGeom prst="roundRect">
            <a:avLst>
              <a:gd name="adj" fmla="val 15909"/>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10 collège nombre 2"/>
          <p:cNvSpPr txBox="1"/>
          <p:nvPr/>
        </p:nvSpPr>
        <p:spPr>
          <a:xfrm>
            <a:off x="3568700" y="3162300"/>
            <a:ext cx="406400" cy="558800"/>
          </a:xfrm>
          <a:prstGeom prst="rect">
            <a:avLst/>
          </a:prstGeom>
          <a:noFill/>
        </p:spPr>
        <p:txBody>
          <a:bodyPr wrap="square" lIns="0" tIns="0" rIns="0" bIns="0" anchor="ctr">
            <a:noAutofit/>
          </a:bodyPr>
          <a:lstStyle/>
          <a:p>
            <a:pPr algn="ctr">
              <a:lnSpc>
                <a:spcPct val="100000"/>
              </a:lnSpc>
              <a:spcBef>
                <a:spcPts val="0"/>
              </a:spcBef>
              <a:spcAft>
                <a:spcPts val="0"/>
              </a:spcAft>
            </a:pPr>
            <a:r>
              <a:rPr sz="4000" b="1" i="0" lang="fr-FR">
                <a:solidFill>
                  <a:srgbClr val="12264A"/>
                </a:solidFill>
                <a:latin typeface="Calibri"/>
              </a:rPr>
              <a:t>3</a:t>
            </a:r>
          </a:p>
        </p:txBody>
      </p:sp>
      <p:sp>
        <p:nvSpPr>
          <p:cNvPr id="26" name="s10 collège texte 2"/>
          <p:cNvSpPr txBox="1"/>
          <p:nvPr/>
        </p:nvSpPr>
        <p:spPr>
          <a:xfrm>
            <a:off x="4013200" y="3162300"/>
            <a:ext cx="1905000" cy="558800"/>
          </a:xfrm>
          <a:prstGeom prst="rect">
            <a:avLst/>
          </a:prstGeom>
          <a:noFill/>
        </p:spPr>
        <p:txBody>
          <a:bodyPr wrap="square" lIns="0" tIns="0" rIns="0" bIns="0" anchor="ctr">
            <a:noAutofit/>
          </a:bodyPr>
          <a:lstStyle/>
          <a:p>
            <a:pPr algn="l">
              <a:lnSpc>
                <a:spcPct val="100000"/>
              </a:lnSpc>
              <a:spcBef>
                <a:spcPts val="0"/>
              </a:spcBef>
              <a:spcAft>
                <a:spcPts val="0"/>
              </a:spcAft>
            </a:pPr>
            <a:r>
              <a:rPr sz="2000" b="1" i="0" lang="fr-FR">
                <a:solidFill>
                  <a:srgbClr val="1B2A41"/>
                </a:solidFill>
                <a:latin typeface="Calibri"/>
              </a:rPr>
              <a:t>Sociétés minières</a:t>
            </a:r>
          </a:p>
        </p:txBody>
      </p:sp>
      <p:sp>
        <p:nvSpPr>
          <p:cNvPr id="27" name="s10 collège 3"/>
          <p:cNvSpPr/>
          <p:nvPr/>
        </p:nvSpPr>
        <p:spPr>
          <a:xfrm>
            <a:off x="6121400" y="3162300"/>
            <a:ext cx="2514600" cy="558800"/>
          </a:xfrm>
          <a:prstGeom prst="roundRect">
            <a:avLst>
              <a:gd name="adj" fmla="val 15909"/>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10 collège nombre 3"/>
          <p:cNvSpPr txBox="1"/>
          <p:nvPr/>
        </p:nvSpPr>
        <p:spPr>
          <a:xfrm>
            <a:off x="6210300" y="3162300"/>
            <a:ext cx="406400" cy="558800"/>
          </a:xfrm>
          <a:prstGeom prst="rect">
            <a:avLst/>
          </a:prstGeom>
          <a:noFill/>
        </p:spPr>
        <p:txBody>
          <a:bodyPr wrap="square" lIns="0" tIns="0" rIns="0" bIns="0" anchor="ctr">
            <a:noAutofit/>
          </a:bodyPr>
          <a:lstStyle/>
          <a:p>
            <a:pPr algn="ctr">
              <a:lnSpc>
                <a:spcPct val="100000"/>
              </a:lnSpc>
              <a:spcBef>
                <a:spcPts val="0"/>
              </a:spcBef>
              <a:spcAft>
                <a:spcPts val="0"/>
              </a:spcAft>
            </a:pPr>
            <a:r>
              <a:rPr sz="4000" b="1" i="0" lang="fr-FR">
                <a:solidFill>
                  <a:srgbClr val="3A7CA5"/>
                </a:solidFill>
                <a:latin typeface="Calibri"/>
              </a:rPr>
              <a:t>3</a:t>
            </a:r>
          </a:p>
        </p:txBody>
      </p:sp>
      <p:sp>
        <p:nvSpPr>
          <p:cNvPr id="29" name="s10 collège texte 3"/>
          <p:cNvSpPr txBox="1"/>
          <p:nvPr/>
        </p:nvSpPr>
        <p:spPr>
          <a:xfrm>
            <a:off x="6654800" y="3162300"/>
            <a:ext cx="1905000" cy="558800"/>
          </a:xfrm>
          <a:prstGeom prst="rect">
            <a:avLst/>
          </a:prstGeom>
          <a:noFill/>
        </p:spPr>
        <p:txBody>
          <a:bodyPr wrap="square" lIns="0" tIns="0" rIns="0" bIns="0" anchor="ctr">
            <a:noAutofit/>
          </a:bodyPr>
          <a:lstStyle/>
          <a:p>
            <a:pPr algn="l">
              <a:lnSpc>
                <a:spcPct val="100000"/>
              </a:lnSpc>
              <a:spcBef>
                <a:spcPts val="0"/>
              </a:spcBef>
              <a:spcAft>
                <a:spcPts val="0"/>
              </a:spcAft>
            </a:pPr>
            <a:r>
              <a:rPr sz="2000" b="1" i="0" lang="fr-FR">
                <a:solidFill>
                  <a:srgbClr val="1B2A41"/>
                </a:solidFill>
                <a:latin typeface="Calibri"/>
              </a:rPr>
              <a:t>Administrateurs indépendants</a:t>
            </a:r>
          </a:p>
        </p:txBody>
      </p:sp>
      <p:sp>
        <p:nvSpPr>
          <p:cNvPr id="30" name="s10 collège 4"/>
          <p:cNvSpPr/>
          <p:nvPr/>
        </p:nvSpPr>
        <p:spPr>
          <a:xfrm>
            <a:off x="8763000" y="3162300"/>
            <a:ext cx="2514600" cy="558800"/>
          </a:xfrm>
          <a:prstGeom prst="roundRect">
            <a:avLst>
              <a:gd name="adj" fmla="val 15909"/>
            </a:avLst>
          </a:prstGeom>
          <a:solidFill>
            <a:srgbClr val="FAF8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s10 collège nombre 4"/>
          <p:cNvSpPr txBox="1"/>
          <p:nvPr/>
        </p:nvSpPr>
        <p:spPr>
          <a:xfrm>
            <a:off x="8851900" y="3162300"/>
            <a:ext cx="406400" cy="558800"/>
          </a:xfrm>
          <a:prstGeom prst="rect">
            <a:avLst/>
          </a:prstGeom>
          <a:noFill/>
        </p:spPr>
        <p:txBody>
          <a:bodyPr wrap="square" lIns="0" tIns="0" rIns="0" bIns="0" anchor="ctr">
            <a:noAutofit/>
          </a:bodyPr>
          <a:lstStyle/>
          <a:p>
            <a:pPr algn="ctr">
              <a:lnSpc>
                <a:spcPct val="100000"/>
              </a:lnSpc>
              <a:spcBef>
                <a:spcPts val="0"/>
              </a:spcBef>
              <a:spcAft>
                <a:spcPts val="0"/>
              </a:spcAft>
            </a:pPr>
            <a:r>
              <a:rPr sz="4000" b="1" i="0" lang="fr-FR">
                <a:solidFill>
                  <a:srgbClr val="7A5C9E"/>
                </a:solidFill>
                <a:latin typeface="Calibri"/>
              </a:rPr>
              <a:t>2</a:t>
            </a:r>
          </a:p>
        </p:txBody>
      </p:sp>
      <p:sp>
        <p:nvSpPr>
          <p:cNvPr id="32" name="s10 collège texte 4"/>
          <p:cNvSpPr txBox="1"/>
          <p:nvPr/>
        </p:nvSpPr>
        <p:spPr>
          <a:xfrm>
            <a:off x="9296400" y="3162300"/>
            <a:ext cx="1905000" cy="558800"/>
          </a:xfrm>
          <a:prstGeom prst="rect">
            <a:avLst/>
          </a:prstGeom>
          <a:noFill/>
        </p:spPr>
        <p:txBody>
          <a:bodyPr wrap="square" lIns="0" tIns="0" rIns="0" bIns="0" anchor="ctr">
            <a:noAutofit/>
          </a:bodyPr>
          <a:lstStyle/>
          <a:p>
            <a:pPr algn="l">
              <a:lnSpc>
                <a:spcPct val="100000"/>
              </a:lnSpc>
              <a:spcBef>
                <a:spcPts val="0"/>
              </a:spcBef>
              <a:spcAft>
                <a:spcPts val="0"/>
              </a:spcAft>
            </a:pPr>
            <a:r>
              <a:rPr sz="2000" b="1" i="0" lang="fr-FR">
                <a:solidFill>
                  <a:srgbClr val="1B2A41"/>
                </a:solidFill>
                <a:latin typeface="Calibri"/>
              </a:rPr>
              <a:t>État</a:t>
            </a:r>
          </a:p>
        </p:txBody>
      </p:sp>
      <p:cxnSp>
        <p:nvCxnSpPr>
          <p:cNvPr id="33" name="s10 lien 2"/>
          <p:cNvCxnSpPr/>
          <p:nvPr/>
        </p:nvCxnSpPr>
        <p:spPr>
          <a:xfrm>
            <a:off x="3289300" y="3835400"/>
            <a:ext cx="0" cy="127000"/>
          </a:xfrm>
          <a:prstGeom prst="line">
            <a:avLst/>
          </a:prstGeom>
          <a:ln w="25400">
            <a:solidFill>
              <a:srgbClr val="8F98A3"/>
            </a:solidFill>
          </a:ln>
        </p:spPr>
        <p:style>
          <a:lnRef idx="2">
            <a:schemeClr val="accent1"/>
          </a:lnRef>
          <a:fillRef idx="0">
            <a:schemeClr val="accent1"/>
          </a:fillRef>
          <a:effectRef idx="1">
            <a:schemeClr val="accent1"/>
          </a:effectRef>
          <a:fontRef idx="minor">
            <a:schemeClr val="tx1"/>
          </a:fontRef>
        </p:style>
      </p:cxnSp>
      <p:cxnSp>
        <p:nvCxnSpPr>
          <p:cNvPr id="34" name="s10 lien 3"/>
          <p:cNvCxnSpPr/>
          <p:nvPr/>
        </p:nvCxnSpPr>
        <p:spPr>
          <a:xfrm>
            <a:off x="8902700" y="3835400"/>
            <a:ext cx="0" cy="127000"/>
          </a:xfrm>
          <a:prstGeom prst="line">
            <a:avLst/>
          </a:prstGeom>
          <a:ln w="25400">
            <a:solidFill>
              <a:srgbClr val="8F98A3"/>
            </a:solidFill>
          </a:ln>
        </p:spPr>
        <p:style>
          <a:lnRef idx="2">
            <a:schemeClr val="accent1"/>
          </a:lnRef>
          <a:fillRef idx="0">
            <a:schemeClr val="accent1"/>
          </a:fillRef>
          <a:effectRef idx="1">
            <a:schemeClr val="accent1"/>
          </a:effectRef>
          <a:fontRef idx="minor">
            <a:schemeClr val="tx1"/>
          </a:fontRef>
        </p:style>
      </p:cxnSp>
      <p:sp>
        <p:nvSpPr>
          <p:cNvPr id="35" name="s10 DG"/>
          <p:cNvSpPr/>
          <p:nvPr/>
        </p:nvSpPr>
        <p:spPr>
          <a:xfrm>
            <a:off x="609600" y="3962400"/>
            <a:ext cx="5359400" cy="1092200"/>
          </a:xfrm>
          <a:prstGeom prst="roundRect">
            <a:avLst>
              <a:gd name="adj" fmla="val 9302"/>
            </a:avLst>
          </a:prstGeom>
          <a:solidFill>
            <a:srgbClr val="FFFFFF"/>
          </a:solidFill>
          <a:ln w="9525">
            <a:solidFill>
              <a:srgbClr val="E3DED3"/>
            </a:solidFill>
          </a:ln>
          <a:effectLst>
            <a:outerShdw blurRad="165100" dist="38100" dir="5400000" algn="t" rotWithShape="0">
              <a:srgbClr val="12264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10 DG filet"/>
          <p:cNvSpPr/>
          <p:nvPr/>
        </p:nvSpPr>
        <p:spPr>
          <a:xfrm>
            <a:off x="609600" y="4064000"/>
            <a:ext cx="50800" cy="889000"/>
          </a:xfrm>
          <a:prstGeom prst="rect">
            <a:avLst/>
          </a:prstGeom>
          <a:solidFill>
            <a:srgbClr val="3A7C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s10 texte DG"/>
          <p:cNvSpPr txBox="1"/>
          <p:nvPr/>
        </p:nvSpPr>
        <p:spPr>
          <a:xfrm>
            <a:off x="838200" y="4025900"/>
            <a:ext cx="4953000" cy="965200"/>
          </a:xfrm>
          <a:prstGeom prst="rect">
            <a:avLst/>
          </a:prstGeom>
          <a:noFill/>
        </p:spPr>
        <p:txBody>
          <a:bodyPr wrap="square" lIns="0" tIns="0" rIns="0" bIns="0" anchor="ctr">
            <a:noAutofit/>
          </a:bodyPr>
          <a:lstStyle/>
          <a:p>
            <a:pPr algn="l">
              <a:lnSpc>
                <a:spcPct val="100000"/>
              </a:lnSpc>
              <a:spcBef>
                <a:spcPts val="0"/>
              </a:spcBef>
              <a:spcAft>
                <a:spcPts val="400"/>
              </a:spcAft>
            </a:pPr>
            <a:r>
              <a:rPr sz="2000" b="1" i="0" lang="fr-FR" spc="150">
                <a:solidFill>
                  <a:srgbClr val="3A7CA5"/>
                </a:solidFill>
                <a:latin typeface="Calibri"/>
              </a:rPr>
              <a:t>EXÉCUTE</a:t>
            </a:r>
            <a:r>
              <a:rPr sz="2400" b="1" i="0" lang="fr-FR">
                <a:solidFill>
                  <a:srgbClr val="12264A"/>
                </a:solidFill>
                <a:latin typeface="Calibri"/>
              </a:rPr>
              <a:t>   Direction Générale</a:t>
            </a:r>
          </a:p>
          <a:p>
            <a:pPr algn="l">
              <a:lnSpc>
                <a:spcPct val="100000"/>
              </a:lnSpc>
              <a:spcBef>
                <a:spcPts val="0"/>
              </a:spcBef>
              <a:spcAft>
                <a:spcPts val="0"/>
              </a:spcAft>
            </a:pPr>
            <a:r>
              <a:rPr sz="2000" b="0" i="0" lang="fr-FR">
                <a:solidFill>
                  <a:srgbClr val="1B2A41"/>
                </a:solidFill>
                <a:latin typeface="Calibri"/>
              </a:rPr>
              <a:t>Le Directeur Général n’est pas administrateur.</a:t>
            </a:r>
          </a:p>
        </p:txBody>
      </p:sp>
      <p:sp>
        <p:nvSpPr>
          <p:cNvPr id="38" name="s10 Audit"/>
          <p:cNvSpPr/>
          <p:nvPr/>
        </p:nvSpPr>
        <p:spPr>
          <a:xfrm>
            <a:off x="6223000" y="3962400"/>
            <a:ext cx="5359400" cy="1092200"/>
          </a:xfrm>
          <a:prstGeom prst="roundRect">
            <a:avLst>
              <a:gd name="adj" fmla="val 9302"/>
            </a:avLst>
          </a:prstGeom>
          <a:solidFill>
            <a:srgbClr val="FFFFFF"/>
          </a:solidFill>
          <a:ln w="9525">
            <a:solidFill>
              <a:srgbClr val="E3DED3"/>
            </a:solidFill>
          </a:ln>
          <a:effectLst>
            <a:outerShdw blurRad="165100" dist="38100" dir="5400000" algn="t" rotWithShape="0">
              <a:srgbClr val="12264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10 Audit filet"/>
          <p:cNvSpPr/>
          <p:nvPr/>
        </p:nvSpPr>
        <p:spPr>
          <a:xfrm>
            <a:off x="6223000" y="4064000"/>
            <a:ext cx="50800" cy="889000"/>
          </a:xfrm>
          <a:prstGeom prst="rect">
            <a:avLst/>
          </a:prstGeom>
          <a:solidFill>
            <a:srgbClr val="A955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s10 texte Audit"/>
          <p:cNvSpPr txBox="1"/>
          <p:nvPr/>
        </p:nvSpPr>
        <p:spPr>
          <a:xfrm>
            <a:off x="6451600" y="4025900"/>
            <a:ext cx="4953000" cy="965200"/>
          </a:xfrm>
          <a:prstGeom prst="rect">
            <a:avLst/>
          </a:prstGeom>
          <a:noFill/>
        </p:spPr>
        <p:txBody>
          <a:bodyPr wrap="square" lIns="0" tIns="0" rIns="0" bIns="0" anchor="ctr">
            <a:noAutofit/>
          </a:bodyPr>
          <a:lstStyle/>
          <a:p>
            <a:pPr algn="l">
              <a:lnSpc>
                <a:spcPct val="100000"/>
              </a:lnSpc>
              <a:spcBef>
                <a:spcPts val="0"/>
              </a:spcBef>
              <a:spcAft>
                <a:spcPts val="400"/>
              </a:spcAft>
            </a:pPr>
            <a:r>
              <a:rPr sz="2000" b="1" i="0" lang="fr-FR" spc="150">
                <a:solidFill>
                  <a:srgbClr val="A9553E"/>
                </a:solidFill>
                <a:latin typeface="Calibri"/>
              </a:rPr>
              <a:t>CONTRÔLE</a:t>
            </a:r>
            <a:r>
              <a:rPr sz="2400" b="1" i="0" lang="fr-FR">
                <a:solidFill>
                  <a:srgbClr val="12264A"/>
                </a:solidFill>
                <a:latin typeface="Calibri"/>
              </a:rPr>
              <a:t>   Comité d’Audit et de Surveillance</a:t>
            </a:r>
          </a:p>
          <a:p>
            <a:pPr algn="l">
              <a:lnSpc>
                <a:spcPct val="100000"/>
              </a:lnSpc>
              <a:spcBef>
                <a:spcPts val="0"/>
              </a:spcBef>
              <a:spcAft>
                <a:spcPts val="0"/>
              </a:spcAft>
            </a:pPr>
            <a:r>
              <a:rPr sz="2000" b="0" i="0" lang="fr-FR">
                <a:solidFill>
                  <a:srgbClr val="1B2A41"/>
                </a:solidFill>
                <a:latin typeface="Calibri"/>
              </a:rPr>
              <a:t>Rapport public avant le 30 juin.</a:t>
            </a:r>
          </a:p>
        </p:txBody>
      </p:sp>
      <p:cxnSp>
        <p:nvCxnSpPr>
          <p:cNvPr id="41" name="s10 lien 4"/>
          <p:cNvCxnSpPr/>
          <p:nvPr/>
        </p:nvCxnSpPr>
        <p:spPr>
          <a:xfrm>
            <a:off x="6096000" y="5054600"/>
            <a:ext cx="0" cy="127000"/>
          </a:xfrm>
          <a:prstGeom prst="line">
            <a:avLst/>
          </a:prstGeom>
          <a:ln w="25400">
            <a:solidFill>
              <a:srgbClr val="8F98A3"/>
            </a:solidFill>
          </a:ln>
        </p:spPr>
        <p:style>
          <a:lnRef idx="2">
            <a:schemeClr val="accent1"/>
          </a:lnRef>
          <a:fillRef idx="0">
            <a:schemeClr val="accent1"/>
          </a:fillRef>
          <a:effectRef idx="1">
            <a:schemeClr val="accent1"/>
          </a:effectRef>
          <a:fontRef idx="minor">
            <a:schemeClr val="tx1"/>
          </a:fontRef>
        </p:style>
      </p:cxnSp>
      <p:sp>
        <p:nvSpPr>
          <p:cNvPr id="42" name="s10 Assemblée"/>
          <p:cNvSpPr/>
          <p:nvPr/>
        </p:nvSpPr>
        <p:spPr>
          <a:xfrm>
            <a:off x="609600" y="5181600"/>
            <a:ext cx="10972800" cy="889000"/>
          </a:xfrm>
          <a:prstGeom prst="roundRect">
            <a:avLst>
              <a:gd name="adj" fmla="val 11428"/>
            </a:avLst>
          </a:prstGeom>
          <a:solidFill>
            <a:srgbClr val="FFFFFF"/>
          </a:solidFill>
          <a:ln w="9525">
            <a:solidFill>
              <a:srgbClr val="E3DED3"/>
            </a:solidFill>
          </a:ln>
          <a:effectLst>
            <a:outerShdw blurRad="165100" dist="38100" dir="5400000" algn="t" rotWithShape="0">
              <a:srgbClr val="12264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s10 Assemblée filet"/>
          <p:cNvSpPr/>
          <p:nvPr/>
        </p:nvSpPr>
        <p:spPr>
          <a:xfrm>
            <a:off x="609600" y="5283200"/>
            <a:ext cx="50800" cy="685800"/>
          </a:xfrm>
          <a:prstGeom prst="rect">
            <a:avLst/>
          </a:prstGeom>
          <a:solidFill>
            <a:srgbClr val="7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s10 texte Assemblée"/>
          <p:cNvSpPr txBox="1"/>
          <p:nvPr/>
        </p:nvSpPr>
        <p:spPr>
          <a:xfrm>
            <a:off x="838200" y="5245100"/>
            <a:ext cx="10566400" cy="762000"/>
          </a:xfrm>
          <a:prstGeom prst="rect">
            <a:avLst/>
          </a:prstGeom>
          <a:noFill/>
        </p:spPr>
        <p:txBody>
          <a:bodyPr wrap="square" lIns="0" tIns="0" rIns="0" bIns="0" anchor="ctr">
            <a:noAutofit/>
          </a:bodyPr>
          <a:lstStyle/>
          <a:p>
            <a:pPr algn="l">
              <a:lnSpc>
                <a:spcPct val="100000"/>
              </a:lnSpc>
              <a:spcBef>
                <a:spcPts val="0"/>
              </a:spcBef>
              <a:spcAft>
                <a:spcPts val="400"/>
              </a:spcAft>
            </a:pPr>
            <a:r>
              <a:rPr sz="2000" b="1" i="0" lang="fr-FR" spc="150">
                <a:solidFill>
                  <a:srgbClr val="7A5C9E"/>
                </a:solidFill>
                <a:latin typeface="Calibri"/>
              </a:rPr>
              <a:t>EXPRIME LES BESOINS</a:t>
            </a:r>
            <a:r>
              <a:rPr sz="2400" b="1" i="0" lang="fr-FR">
                <a:solidFill>
                  <a:srgbClr val="12264A"/>
                </a:solidFill>
                <a:latin typeface="Calibri"/>
              </a:rPr>
              <a:t>   Assemblée Communautaire</a:t>
            </a:r>
          </a:p>
          <a:p>
            <a:pPr algn="l">
              <a:lnSpc>
                <a:spcPct val="100000"/>
              </a:lnSpc>
              <a:spcBef>
                <a:spcPts val="0"/>
              </a:spcBef>
              <a:spcAft>
                <a:spcPts val="0"/>
              </a:spcAft>
            </a:pPr>
            <a:r>
              <a:rPr sz="2000" b="0" i="0" lang="fr-FR">
                <a:solidFill>
                  <a:srgbClr val="1B2A41"/>
                </a:solidFill>
                <a:latin typeface="Calibri"/>
              </a:rPr>
              <a:t>Valide les priorités, élit le Comité d’Audit ; au moins un tiers de femmes.</a:t>
            </a:r>
          </a:p>
        </p:txBody>
      </p:sp>
    </p:spTree>
  </p:cSld>
  <p:clrMapOvr>
    <a:masterClrMapping/>
  </p:clrMapOvr>
  <mc:AlternateContent xmlns:mc="http://schemas.openxmlformats.org/markup-compatibility/2006">
    <mc:Choice xmlns:p14="http://schemas.microsoft.com/office/powerpoint/2010/main" Requires="p14">
      <p:transition spd="med" p14:dur="700" advTm="30000">
        <p:fade/>
      </p:transition>
    </mc:Choice>
    <mc:Fallback>
      <p:transition spd="med" advTm="30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childTnLst>
                          </p:cTn>
                        </p:par>
                        <p:par>
                          <p:cTn id="8" fill="hold">
                            <p:stCondLst>
                              <p:cond delay="600"/>
                            </p:stCondLst>
                            <p:childTnLst>
                              <p:par>
                                <p:cTn id="9" presetID="42" presetClass="entr" presetSubtype="0"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600"/>
                                        <p:tgtEl>
                                          <p:spTgt spid="14"/>
                                        </p:tgtEl>
                                      </p:cBhvr>
                                    </p:animEffect>
                                    <p:anim calcmode="lin" valueType="num">
                                      <p:cBhvr>
                                        <p:cTn id="12" dur="600" fill="hold" decel="100000"/>
                                        <p:tgtEl>
                                          <p:spTgt spid="14"/>
                                        </p:tgtEl>
                                        <p:attrNameLst>
                                          <p:attrName>ppt_x</p:attrName>
                                        </p:attrNameLst>
                                      </p:cBhvr>
                                      <p:tavLst>
                                        <p:tav tm="0">
                                          <p:val>
                                            <p:strVal val="#ppt_x"/>
                                          </p:val>
                                        </p:tav>
                                        <p:tav tm="100000">
                                          <p:val>
                                            <p:strVal val="#ppt_x"/>
                                          </p:val>
                                        </p:tav>
                                      </p:tavLst>
                                    </p:anim>
                                    <p:anim calcmode="lin" valueType="num">
                                      <p:cBhvr>
                                        <p:cTn id="13" dur="600" fill="hold" decel="100000"/>
                                        <p:tgtEl>
                                          <p:spTgt spid="14"/>
                                        </p:tgtEl>
                                        <p:attrNameLst>
                                          <p:attrName>ppt_y</p:attrName>
                                        </p:attrNameLst>
                                      </p:cBhvr>
                                      <p:tavLst>
                                        <p:tav tm="0">
                                          <p:val>
                                            <p:strVal val="#ppt_y+.04"/>
                                          </p:val>
                                        </p:tav>
                                        <p:tav tm="100000">
                                          <p:val>
                                            <p:strVal val="#ppt_y"/>
                                          </p:val>
                                        </p:tav>
                                      </p:tavLst>
                                    </p:anim>
                                  </p:childTnLst>
                                </p:cTn>
                              </p:par>
                              <p:par>
                                <p:cTn id="14" presetID="42"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600"/>
                                        <p:tgtEl>
                                          <p:spTgt spid="15"/>
                                        </p:tgtEl>
                                      </p:cBhvr>
                                    </p:animEffect>
                                    <p:anim calcmode="lin" valueType="num">
                                      <p:cBhvr>
                                        <p:cTn id="17" dur="600" fill="hold" decel="100000"/>
                                        <p:tgtEl>
                                          <p:spTgt spid="15"/>
                                        </p:tgtEl>
                                        <p:attrNameLst>
                                          <p:attrName>ppt_x</p:attrName>
                                        </p:attrNameLst>
                                      </p:cBhvr>
                                      <p:tavLst>
                                        <p:tav tm="0">
                                          <p:val>
                                            <p:strVal val="#ppt_x"/>
                                          </p:val>
                                        </p:tav>
                                        <p:tav tm="100000">
                                          <p:val>
                                            <p:strVal val="#ppt_x"/>
                                          </p:val>
                                        </p:tav>
                                      </p:tavLst>
                                    </p:anim>
                                    <p:anim calcmode="lin" valueType="num">
                                      <p:cBhvr>
                                        <p:cTn id="18" dur="600" fill="hold" decel="100000"/>
                                        <p:tgtEl>
                                          <p:spTgt spid="15"/>
                                        </p:tgtEl>
                                        <p:attrNameLst>
                                          <p:attrName>ppt_y</p:attrName>
                                        </p:attrNameLst>
                                      </p:cBhvr>
                                      <p:tavLst>
                                        <p:tav tm="0">
                                          <p:val>
                                            <p:strVal val="#ppt_y+.04"/>
                                          </p:val>
                                        </p:tav>
                                        <p:tav tm="100000">
                                          <p:val>
                                            <p:strVal val="#ppt_y"/>
                                          </p:val>
                                        </p:tav>
                                      </p:tavLst>
                                    </p:anim>
                                  </p:childTnLst>
                                </p:cTn>
                              </p:par>
                              <p:par>
                                <p:cTn id="19" presetID="42"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600"/>
                                        <p:tgtEl>
                                          <p:spTgt spid="16"/>
                                        </p:tgtEl>
                                      </p:cBhvr>
                                    </p:animEffect>
                                    <p:anim calcmode="lin" valueType="num">
                                      <p:cBhvr>
                                        <p:cTn id="22" dur="600" fill="hold" decel="100000"/>
                                        <p:tgtEl>
                                          <p:spTgt spid="16"/>
                                        </p:tgtEl>
                                        <p:attrNameLst>
                                          <p:attrName>ppt_x</p:attrName>
                                        </p:attrNameLst>
                                      </p:cBhvr>
                                      <p:tavLst>
                                        <p:tav tm="0">
                                          <p:val>
                                            <p:strVal val="#ppt_x"/>
                                          </p:val>
                                        </p:tav>
                                        <p:tav tm="100000">
                                          <p:val>
                                            <p:strVal val="#ppt_x"/>
                                          </p:val>
                                        </p:tav>
                                      </p:tavLst>
                                    </p:anim>
                                    <p:anim calcmode="lin" valueType="num">
                                      <p:cBhvr>
                                        <p:cTn id="23" dur="600" fill="hold" decel="100000"/>
                                        <p:tgtEl>
                                          <p:spTgt spid="16"/>
                                        </p:tgtEl>
                                        <p:attrNameLst>
                                          <p:attrName>ppt_y</p:attrName>
                                        </p:attrNameLst>
                                      </p:cBhvr>
                                      <p:tavLst>
                                        <p:tav tm="0">
                                          <p:val>
                                            <p:strVal val="#ppt_y+.04"/>
                                          </p:val>
                                        </p:tav>
                                        <p:tav tm="100000">
                                          <p:val>
                                            <p:strVal val="#ppt_y"/>
                                          </p:val>
                                        </p:tav>
                                      </p:tavLst>
                                    </p:anim>
                                  </p:childTnLst>
                                </p:cTn>
                              </p:par>
                            </p:childTnLst>
                          </p:cTn>
                        </p:par>
                        <p:par>
                          <p:cTn id="24" fill="hold">
                            <p:stCondLst>
                              <p:cond delay="1200"/>
                            </p:stCondLst>
                            <p:childTnLst>
                              <p:par>
                                <p:cTn id="25" presetID="22" presetClass="entr" presetSubtype="1" fill="hold" grpId="0" nodeType="after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wipe(down)">
                                      <p:cBhvr>
                                        <p:cTn id="27" dur="500"/>
                                        <p:tgtEl>
                                          <p:spTgt spid="17"/>
                                        </p:tgtEl>
                                      </p:cBhvr>
                                    </p:animEffect>
                                  </p:childTnLst>
                                </p:cTn>
                              </p:par>
                            </p:childTnLst>
                          </p:cTn>
                        </p:par>
                        <p:par>
                          <p:cTn id="28" fill="hold">
                            <p:stCondLst>
                              <p:cond delay="1700"/>
                            </p:stCondLst>
                            <p:childTnLst>
                              <p:par>
                                <p:cTn id="29" presetID="42" presetClass="entr" presetSubtype="0" fill="hold" grpId="0" nodeType="after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600"/>
                                        <p:tgtEl>
                                          <p:spTgt spid="18"/>
                                        </p:tgtEl>
                                      </p:cBhvr>
                                    </p:animEffect>
                                    <p:anim calcmode="lin" valueType="num">
                                      <p:cBhvr>
                                        <p:cTn id="32" dur="600" fill="hold" decel="100000"/>
                                        <p:tgtEl>
                                          <p:spTgt spid="18"/>
                                        </p:tgtEl>
                                        <p:attrNameLst>
                                          <p:attrName>ppt_x</p:attrName>
                                        </p:attrNameLst>
                                      </p:cBhvr>
                                      <p:tavLst>
                                        <p:tav tm="0">
                                          <p:val>
                                            <p:strVal val="#ppt_x"/>
                                          </p:val>
                                        </p:tav>
                                        <p:tav tm="100000">
                                          <p:val>
                                            <p:strVal val="#ppt_x"/>
                                          </p:val>
                                        </p:tav>
                                      </p:tavLst>
                                    </p:anim>
                                    <p:anim calcmode="lin" valueType="num">
                                      <p:cBhvr>
                                        <p:cTn id="33" dur="600" fill="hold" decel="100000"/>
                                        <p:tgtEl>
                                          <p:spTgt spid="18"/>
                                        </p:tgtEl>
                                        <p:attrNameLst>
                                          <p:attrName>ppt_y</p:attrName>
                                        </p:attrNameLst>
                                      </p:cBhvr>
                                      <p:tavLst>
                                        <p:tav tm="0">
                                          <p:val>
                                            <p:strVal val="#ppt_y+.04"/>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600"/>
                                        <p:tgtEl>
                                          <p:spTgt spid="19"/>
                                        </p:tgtEl>
                                      </p:cBhvr>
                                    </p:animEffect>
                                    <p:anim calcmode="lin" valueType="num">
                                      <p:cBhvr>
                                        <p:cTn id="37" dur="600" fill="hold" decel="100000"/>
                                        <p:tgtEl>
                                          <p:spTgt spid="19"/>
                                        </p:tgtEl>
                                        <p:attrNameLst>
                                          <p:attrName>ppt_x</p:attrName>
                                        </p:attrNameLst>
                                      </p:cBhvr>
                                      <p:tavLst>
                                        <p:tav tm="0">
                                          <p:val>
                                            <p:strVal val="#ppt_x"/>
                                          </p:val>
                                        </p:tav>
                                        <p:tav tm="100000">
                                          <p:val>
                                            <p:strVal val="#ppt_x"/>
                                          </p:val>
                                        </p:tav>
                                      </p:tavLst>
                                    </p:anim>
                                    <p:anim calcmode="lin" valueType="num">
                                      <p:cBhvr>
                                        <p:cTn id="38" dur="600" fill="hold" decel="100000"/>
                                        <p:tgtEl>
                                          <p:spTgt spid="19"/>
                                        </p:tgtEl>
                                        <p:attrNameLst>
                                          <p:attrName>ppt_y</p:attrName>
                                        </p:attrNameLst>
                                      </p:cBhvr>
                                      <p:tavLst>
                                        <p:tav tm="0">
                                          <p:val>
                                            <p:strVal val="#ppt_y+.04"/>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fade">
                                      <p:cBhvr>
                                        <p:cTn id="41" dur="600"/>
                                        <p:tgtEl>
                                          <p:spTgt spid="20"/>
                                        </p:tgtEl>
                                      </p:cBhvr>
                                    </p:animEffect>
                                    <p:anim calcmode="lin" valueType="num">
                                      <p:cBhvr>
                                        <p:cTn id="42" dur="600" fill="hold" decel="100000"/>
                                        <p:tgtEl>
                                          <p:spTgt spid="20"/>
                                        </p:tgtEl>
                                        <p:attrNameLst>
                                          <p:attrName>ppt_x</p:attrName>
                                        </p:attrNameLst>
                                      </p:cBhvr>
                                      <p:tavLst>
                                        <p:tav tm="0">
                                          <p:val>
                                            <p:strVal val="#ppt_x"/>
                                          </p:val>
                                        </p:tav>
                                        <p:tav tm="100000">
                                          <p:val>
                                            <p:strVal val="#ppt_x"/>
                                          </p:val>
                                        </p:tav>
                                      </p:tavLst>
                                    </p:anim>
                                    <p:anim calcmode="lin" valueType="num">
                                      <p:cBhvr>
                                        <p:cTn id="43" dur="600" fill="hold" decel="100000"/>
                                        <p:tgtEl>
                                          <p:spTgt spid="20"/>
                                        </p:tgtEl>
                                        <p:attrNameLst>
                                          <p:attrName>ppt_y</p:attrName>
                                        </p:attrNameLst>
                                      </p:cBhvr>
                                      <p:tavLst>
                                        <p:tav tm="0">
                                          <p:val>
                                            <p:strVal val="#ppt_y+.04"/>
                                          </p:val>
                                        </p:tav>
                                        <p:tav tm="100000">
                                          <p:val>
                                            <p:strVal val="#ppt_y"/>
                                          </p:val>
                                        </p:tav>
                                      </p:tavLst>
                                    </p:anim>
                                  </p:childTnLst>
                                </p:cTn>
                              </p:par>
                              <p:par>
                                <p:cTn id="44" presetID="10" presetClass="entr" presetSubtype="0" fill="hold" grpId="0" nodeType="withEffect">
                                  <p:stCondLst>
                                    <p:cond delay="300"/>
                                  </p:stCondLst>
                                  <p:childTnLst>
                                    <p:set>
                                      <p:cBhvr>
                                        <p:cTn id="45" dur="1" fill="hold">
                                          <p:stCondLst>
                                            <p:cond delay="0"/>
                                          </p:stCondLst>
                                        </p:cTn>
                                        <p:tgtEl>
                                          <p:spTgt spid="21"/>
                                        </p:tgtEl>
                                        <p:attrNameLst>
                                          <p:attrName>style.visibility</p:attrName>
                                        </p:attrNameLst>
                                      </p:cBhvr>
                                      <p:to>
                                        <p:strVal val="visible"/>
                                      </p:to>
                                    </p:set>
                                    <p:animEffect transition="in" filter="fade">
                                      <p:cBhvr>
                                        <p:cTn id="46" dur="500"/>
                                        <p:tgtEl>
                                          <p:spTgt spid="21"/>
                                        </p:tgtEl>
                                      </p:cBhvr>
                                    </p:animEffect>
                                  </p:childTnLst>
                                </p:cTn>
                              </p:par>
                              <p:par>
                                <p:cTn id="47" presetID="10" presetClass="entr" presetSubtype="0" fill="hold" grpId="0" nodeType="withEffect">
                                  <p:stCondLst>
                                    <p:cond delay="300"/>
                                  </p:stCondLst>
                                  <p:childTnLst>
                                    <p:set>
                                      <p:cBhvr>
                                        <p:cTn id="48" dur="1" fill="hold">
                                          <p:stCondLst>
                                            <p:cond delay="0"/>
                                          </p:stCondLst>
                                        </p:cTn>
                                        <p:tgtEl>
                                          <p:spTgt spid="22"/>
                                        </p:tgtEl>
                                        <p:attrNameLst>
                                          <p:attrName>style.visibility</p:attrName>
                                        </p:attrNameLst>
                                      </p:cBhvr>
                                      <p:to>
                                        <p:strVal val="visible"/>
                                      </p:to>
                                    </p:set>
                                    <p:animEffect transition="in" filter="fade">
                                      <p:cBhvr>
                                        <p:cTn id="49" dur="500"/>
                                        <p:tgtEl>
                                          <p:spTgt spid="22"/>
                                        </p:tgtEl>
                                      </p:cBhvr>
                                    </p:animEffect>
                                  </p:childTnLst>
                                </p:cTn>
                              </p:par>
                              <p:par>
                                <p:cTn id="50" presetID="10" presetClass="entr" presetSubtype="0" fill="hold" grpId="0" nodeType="withEffect">
                                  <p:stCondLst>
                                    <p:cond delay="30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500"/>
                                        <p:tgtEl>
                                          <p:spTgt spid="23"/>
                                        </p:tgtEl>
                                      </p:cBhvr>
                                    </p:animEffect>
                                  </p:childTnLst>
                                </p:cTn>
                              </p:par>
                              <p:par>
                                <p:cTn id="53" presetID="10" presetClass="entr" presetSubtype="0" fill="hold" grpId="0" nodeType="withEffect">
                                  <p:stCondLst>
                                    <p:cond delay="450"/>
                                  </p:stCondLst>
                                  <p:childTnLst>
                                    <p:set>
                                      <p:cBhvr>
                                        <p:cTn id="54" dur="1" fill="hold">
                                          <p:stCondLst>
                                            <p:cond delay="0"/>
                                          </p:stCondLst>
                                        </p:cTn>
                                        <p:tgtEl>
                                          <p:spTgt spid="24"/>
                                        </p:tgtEl>
                                        <p:attrNameLst>
                                          <p:attrName>style.visibility</p:attrName>
                                        </p:attrNameLst>
                                      </p:cBhvr>
                                      <p:to>
                                        <p:strVal val="visible"/>
                                      </p:to>
                                    </p:set>
                                    <p:animEffect transition="in" filter="fade">
                                      <p:cBhvr>
                                        <p:cTn id="55" dur="500"/>
                                        <p:tgtEl>
                                          <p:spTgt spid="24"/>
                                        </p:tgtEl>
                                      </p:cBhvr>
                                    </p:animEffect>
                                  </p:childTnLst>
                                </p:cTn>
                              </p:par>
                              <p:par>
                                <p:cTn id="56" presetID="10" presetClass="entr" presetSubtype="0" fill="hold" grpId="0" nodeType="withEffect">
                                  <p:stCondLst>
                                    <p:cond delay="45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500"/>
                                        <p:tgtEl>
                                          <p:spTgt spid="25"/>
                                        </p:tgtEl>
                                      </p:cBhvr>
                                    </p:animEffect>
                                  </p:childTnLst>
                                </p:cTn>
                              </p:par>
                              <p:par>
                                <p:cTn id="59" presetID="10" presetClass="entr" presetSubtype="0" fill="hold" grpId="0" nodeType="withEffect">
                                  <p:stCondLst>
                                    <p:cond delay="450"/>
                                  </p:stCondLst>
                                  <p:childTnLst>
                                    <p:set>
                                      <p:cBhvr>
                                        <p:cTn id="60" dur="1" fill="hold">
                                          <p:stCondLst>
                                            <p:cond delay="0"/>
                                          </p:stCondLst>
                                        </p:cTn>
                                        <p:tgtEl>
                                          <p:spTgt spid="26"/>
                                        </p:tgtEl>
                                        <p:attrNameLst>
                                          <p:attrName>style.visibility</p:attrName>
                                        </p:attrNameLst>
                                      </p:cBhvr>
                                      <p:to>
                                        <p:strVal val="visible"/>
                                      </p:to>
                                    </p:set>
                                    <p:animEffect transition="in" filter="fade">
                                      <p:cBhvr>
                                        <p:cTn id="61" dur="500"/>
                                        <p:tgtEl>
                                          <p:spTgt spid="26"/>
                                        </p:tgtEl>
                                      </p:cBhvr>
                                    </p:animEffect>
                                  </p:childTnLst>
                                </p:cTn>
                              </p:par>
                              <p:par>
                                <p:cTn id="62" presetID="10" presetClass="entr" presetSubtype="0" fill="hold" grpId="0" nodeType="withEffect">
                                  <p:stCondLst>
                                    <p:cond delay="60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500"/>
                                        <p:tgtEl>
                                          <p:spTgt spid="27"/>
                                        </p:tgtEl>
                                      </p:cBhvr>
                                    </p:animEffect>
                                  </p:childTnLst>
                                </p:cTn>
                              </p:par>
                              <p:par>
                                <p:cTn id="65" presetID="10" presetClass="entr" presetSubtype="0" fill="hold" grpId="0" nodeType="withEffect">
                                  <p:stCondLst>
                                    <p:cond delay="600"/>
                                  </p:stCondLst>
                                  <p:childTnLst>
                                    <p:set>
                                      <p:cBhvr>
                                        <p:cTn id="66" dur="1" fill="hold">
                                          <p:stCondLst>
                                            <p:cond delay="0"/>
                                          </p:stCondLst>
                                        </p:cTn>
                                        <p:tgtEl>
                                          <p:spTgt spid="28"/>
                                        </p:tgtEl>
                                        <p:attrNameLst>
                                          <p:attrName>style.visibility</p:attrName>
                                        </p:attrNameLst>
                                      </p:cBhvr>
                                      <p:to>
                                        <p:strVal val="visible"/>
                                      </p:to>
                                    </p:set>
                                    <p:animEffect transition="in" filter="fade">
                                      <p:cBhvr>
                                        <p:cTn id="67" dur="500"/>
                                        <p:tgtEl>
                                          <p:spTgt spid="28"/>
                                        </p:tgtEl>
                                      </p:cBhvr>
                                    </p:animEffect>
                                  </p:childTnLst>
                                </p:cTn>
                              </p:par>
                              <p:par>
                                <p:cTn id="68" presetID="10" presetClass="entr" presetSubtype="0" fill="hold" grpId="0" nodeType="withEffect">
                                  <p:stCondLst>
                                    <p:cond delay="600"/>
                                  </p:stCondLst>
                                  <p:childTnLst>
                                    <p:set>
                                      <p:cBhvr>
                                        <p:cTn id="69" dur="1" fill="hold">
                                          <p:stCondLst>
                                            <p:cond delay="0"/>
                                          </p:stCondLst>
                                        </p:cTn>
                                        <p:tgtEl>
                                          <p:spTgt spid="29"/>
                                        </p:tgtEl>
                                        <p:attrNameLst>
                                          <p:attrName>style.visibility</p:attrName>
                                        </p:attrNameLst>
                                      </p:cBhvr>
                                      <p:to>
                                        <p:strVal val="visible"/>
                                      </p:to>
                                    </p:set>
                                    <p:animEffect transition="in" filter="fade">
                                      <p:cBhvr>
                                        <p:cTn id="70" dur="500"/>
                                        <p:tgtEl>
                                          <p:spTgt spid="29"/>
                                        </p:tgtEl>
                                      </p:cBhvr>
                                    </p:animEffect>
                                  </p:childTnLst>
                                </p:cTn>
                              </p:par>
                              <p:par>
                                <p:cTn id="71" presetID="10" presetClass="entr" presetSubtype="0" fill="hold" grpId="0" nodeType="withEffect">
                                  <p:stCondLst>
                                    <p:cond delay="750"/>
                                  </p:stCondLst>
                                  <p:childTnLst>
                                    <p:set>
                                      <p:cBhvr>
                                        <p:cTn id="72" dur="1" fill="hold">
                                          <p:stCondLst>
                                            <p:cond delay="0"/>
                                          </p:stCondLst>
                                        </p:cTn>
                                        <p:tgtEl>
                                          <p:spTgt spid="30"/>
                                        </p:tgtEl>
                                        <p:attrNameLst>
                                          <p:attrName>style.visibility</p:attrName>
                                        </p:attrNameLst>
                                      </p:cBhvr>
                                      <p:to>
                                        <p:strVal val="visible"/>
                                      </p:to>
                                    </p:set>
                                    <p:animEffect transition="in" filter="fade">
                                      <p:cBhvr>
                                        <p:cTn id="73" dur="500"/>
                                        <p:tgtEl>
                                          <p:spTgt spid="30"/>
                                        </p:tgtEl>
                                      </p:cBhvr>
                                    </p:animEffect>
                                  </p:childTnLst>
                                </p:cTn>
                              </p:par>
                              <p:par>
                                <p:cTn id="74" presetID="10" presetClass="entr" presetSubtype="0" fill="hold" grpId="0" nodeType="withEffect">
                                  <p:stCondLst>
                                    <p:cond delay="750"/>
                                  </p:stCondLst>
                                  <p:childTnLst>
                                    <p:set>
                                      <p:cBhvr>
                                        <p:cTn id="75" dur="1" fill="hold">
                                          <p:stCondLst>
                                            <p:cond delay="0"/>
                                          </p:stCondLst>
                                        </p:cTn>
                                        <p:tgtEl>
                                          <p:spTgt spid="31"/>
                                        </p:tgtEl>
                                        <p:attrNameLst>
                                          <p:attrName>style.visibility</p:attrName>
                                        </p:attrNameLst>
                                      </p:cBhvr>
                                      <p:to>
                                        <p:strVal val="visible"/>
                                      </p:to>
                                    </p:set>
                                    <p:animEffect transition="in" filter="fade">
                                      <p:cBhvr>
                                        <p:cTn id="76" dur="500"/>
                                        <p:tgtEl>
                                          <p:spTgt spid="31"/>
                                        </p:tgtEl>
                                      </p:cBhvr>
                                    </p:animEffect>
                                  </p:childTnLst>
                                </p:cTn>
                              </p:par>
                              <p:par>
                                <p:cTn id="77" presetID="10" presetClass="entr" presetSubtype="0" fill="hold" grpId="0" nodeType="withEffect">
                                  <p:stCondLst>
                                    <p:cond delay="750"/>
                                  </p:stCondLst>
                                  <p:childTnLst>
                                    <p:set>
                                      <p:cBhvr>
                                        <p:cTn id="78" dur="1" fill="hold">
                                          <p:stCondLst>
                                            <p:cond delay="0"/>
                                          </p:stCondLst>
                                        </p:cTn>
                                        <p:tgtEl>
                                          <p:spTgt spid="32"/>
                                        </p:tgtEl>
                                        <p:attrNameLst>
                                          <p:attrName>style.visibility</p:attrName>
                                        </p:attrNameLst>
                                      </p:cBhvr>
                                      <p:to>
                                        <p:strVal val="visible"/>
                                      </p:to>
                                    </p:set>
                                    <p:animEffect transition="in" filter="fade">
                                      <p:cBhvr>
                                        <p:cTn id="79" dur="500"/>
                                        <p:tgtEl>
                                          <p:spTgt spid="32"/>
                                        </p:tgtEl>
                                      </p:cBhvr>
                                    </p:animEffect>
                                  </p:childTnLst>
                                </p:cTn>
                              </p:par>
                            </p:childTnLst>
                          </p:cTn>
                        </p:par>
                        <p:par>
                          <p:cTn id="80" fill="hold">
                            <p:stCondLst>
                              <p:cond delay="2950"/>
                            </p:stCondLst>
                            <p:childTnLst>
                              <p:par>
                                <p:cTn id="81" presetID="22" presetClass="entr" presetSubtype="1" fill="hold" grpId="0" nodeType="afterEffect">
                                  <p:stCondLst>
                                    <p:cond delay="0"/>
                                  </p:stCondLst>
                                  <p:childTnLst>
                                    <p:set>
                                      <p:cBhvr>
                                        <p:cTn id="82" dur="1" fill="hold">
                                          <p:stCondLst>
                                            <p:cond delay="0"/>
                                          </p:stCondLst>
                                        </p:cTn>
                                        <p:tgtEl>
                                          <p:spTgt spid="33"/>
                                        </p:tgtEl>
                                        <p:attrNameLst>
                                          <p:attrName>style.visibility</p:attrName>
                                        </p:attrNameLst>
                                      </p:cBhvr>
                                      <p:to>
                                        <p:strVal val="visible"/>
                                      </p:to>
                                    </p:set>
                                    <p:animEffect transition="in" filter="wipe(down)">
                                      <p:cBhvr>
                                        <p:cTn id="83" dur="500"/>
                                        <p:tgtEl>
                                          <p:spTgt spid="33"/>
                                        </p:tgtEl>
                                      </p:cBhvr>
                                    </p:animEffect>
                                  </p:childTnLst>
                                </p:cTn>
                              </p:par>
                              <p:par>
                                <p:cTn id="84" presetID="22" presetClass="entr" presetSubtype="1" fill="hold" grpId="0" nodeType="withEffect">
                                  <p:stCondLst>
                                    <p:cond delay="0"/>
                                  </p:stCondLst>
                                  <p:childTnLst>
                                    <p:set>
                                      <p:cBhvr>
                                        <p:cTn id="85" dur="1" fill="hold">
                                          <p:stCondLst>
                                            <p:cond delay="0"/>
                                          </p:stCondLst>
                                        </p:cTn>
                                        <p:tgtEl>
                                          <p:spTgt spid="34"/>
                                        </p:tgtEl>
                                        <p:attrNameLst>
                                          <p:attrName>style.visibility</p:attrName>
                                        </p:attrNameLst>
                                      </p:cBhvr>
                                      <p:to>
                                        <p:strVal val="visible"/>
                                      </p:to>
                                    </p:set>
                                    <p:animEffect transition="in" filter="wipe(down)">
                                      <p:cBhvr>
                                        <p:cTn id="86" dur="500"/>
                                        <p:tgtEl>
                                          <p:spTgt spid="34"/>
                                        </p:tgtEl>
                                      </p:cBhvr>
                                    </p:animEffect>
                                  </p:childTnLst>
                                </p:cTn>
                              </p:par>
                            </p:childTnLst>
                          </p:cTn>
                        </p:par>
                        <p:par>
                          <p:cTn id="87" fill="hold">
                            <p:stCondLst>
                              <p:cond delay="3450"/>
                            </p:stCondLst>
                            <p:childTnLst>
                              <p:par>
                                <p:cTn id="88" presetID="42" presetClass="entr" presetSubtype="0" fill="hold" grpId="0" nodeType="afterEffect">
                                  <p:stCondLst>
                                    <p:cond delay="0"/>
                                  </p:stCondLst>
                                  <p:childTnLst>
                                    <p:set>
                                      <p:cBhvr>
                                        <p:cTn id="89" dur="1" fill="hold">
                                          <p:stCondLst>
                                            <p:cond delay="0"/>
                                          </p:stCondLst>
                                        </p:cTn>
                                        <p:tgtEl>
                                          <p:spTgt spid="35"/>
                                        </p:tgtEl>
                                        <p:attrNameLst>
                                          <p:attrName>style.visibility</p:attrName>
                                        </p:attrNameLst>
                                      </p:cBhvr>
                                      <p:to>
                                        <p:strVal val="visible"/>
                                      </p:to>
                                    </p:set>
                                    <p:animEffect transition="in" filter="fade">
                                      <p:cBhvr>
                                        <p:cTn id="90" dur="600"/>
                                        <p:tgtEl>
                                          <p:spTgt spid="35"/>
                                        </p:tgtEl>
                                      </p:cBhvr>
                                    </p:animEffect>
                                    <p:anim calcmode="lin" valueType="num">
                                      <p:cBhvr>
                                        <p:cTn id="91" dur="600" fill="hold" decel="100000"/>
                                        <p:tgtEl>
                                          <p:spTgt spid="35"/>
                                        </p:tgtEl>
                                        <p:attrNameLst>
                                          <p:attrName>ppt_x</p:attrName>
                                        </p:attrNameLst>
                                      </p:cBhvr>
                                      <p:tavLst>
                                        <p:tav tm="0">
                                          <p:val>
                                            <p:strVal val="#ppt_x"/>
                                          </p:val>
                                        </p:tav>
                                        <p:tav tm="100000">
                                          <p:val>
                                            <p:strVal val="#ppt_x"/>
                                          </p:val>
                                        </p:tav>
                                      </p:tavLst>
                                    </p:anim>
                                    <p:anim calcmode="lin" valueType="num">
                                      <p:cBhvr>
                                        <p:cTn id="92" dur="600" fill="hold" decel="100000"/>
                                        <p:tgtEl>
                                          <p:spTgt spid="35"/>
                                        </p:tgtEl>
                                        <p:attrNameLst>
                                          <p:attrName>ppt_y</p:attrName>
                                        </p:attrNameLst>
                                      </p:cBhvr>
                                      <p:tavLst>
                                        <p:tav tm="0">
                                          <p:val>
                                            <p:strVal val="#ppt_y+.04"/>
                                          </p:val>
                                        </p:tav>
                                        <p:tav tm="100000">
                                          <p:val>
                                            <p:strVal val="#ppt_y"/>
                                          </p:val>
                                        </p:tav>
                                      </p:tavLst>
                                    </p:anim>
                                  </p:childTnLst>
                                </p:cTn>
                              </p:par>
                              <p:par>
                                <p:cTn id="93" presetID="42" presetClass="entr" presetSubtype="0" fill="hold" grpId="0" nodeType="withEffect">
                                  <p:stCondLst>
                                    <p:cond delay="0"/>
                                  </p:stCondLst>
                                  <p:childTnLst>
                                    <p:set>
                                      <p:cBhvr>
                                        <p:cTn id="94" dur="1" fill="hold">
                                          <p:stCondLst>
                                            <p:cond delay="0"/>
                                          </p:stCondLst>
                                        </p:cTn>
                                        <p:tgtEl>
                                          <p:spTgt spid="36"/>
                                        </p:tgtEl>
                                        <p:attrNameLst>
                                          <p:attrName>style.visibility</p:attrName>
                                        </p:attrNameLst>
                                      </p:cBhvr>
                                      <p:to>
                                        <p:strVal val="visible"/>
                                      </p:to>
                                    </p:set>
                                    <p:animEffect transition="in" filter="fade">
                                      <p:cBhvr>
                                        <p:cTn id="95" dur="600"/>
                                        <p:tgtEl>
                                          <p:spTgt spid="36"/>
                                        </p:tgtEl>
                                      </p:cBhvr>
                                    </p:animEffect>
                                    <p:anim calcmode="lin" valueType="num">
                                      <p:cBhvr>
                                        <p:cTn id="96" dur="600" fill="hold" decel="100000"/>
                                        <p:tgtEl>
                                          <p:spTgt spid="36"/>
                                        </p:tgtEl>
                                        <p:attrNameLst>
                                          <p:attrName>ppt_x</p:attrName>
                                        </p:attrNameLst>
                                      </p:cBhvr>
                                      <p:tavLst>
                                        <p:tav tm="0">
                                          <p:val>
                                            <p:strVal val="#ppt_x"/>
                                          </p:val>
                                        </p:tav>
                                        <p:tav tm="100000">
                                          <p:val>
                                            <p:strVal val="#ppt_x"/>
                                          </p:val>
                                        </p:tav>
                                      </p:tavLst>
                                    </p:anim>
                                    <p:anim calcmode="lin" valueType="num">
                                      <p:cBhvr>
                                        <p:cTn id="97" dur="600" fill="hold" decel="100000"/>
                                        <p:tgtEl>
                                          <p:spTgt spid="36"/>
                                        </p:tgtEl>
                                        <p:attrNameLst>
                                          <p:attrName>ppt_y</p:attrName>
                                        </p:attrNameLst>
                                      </p:cBhvr>
                                      <p:tavLst>
                                        <p:tav tm="0">
                                          <p:val>
                                            <p:strVal val="#ppt_y+.04"/>
                                          </p:val>
                                        </p:tav>
                                        <p:tav tm="100000">
                                          <p:val>
                                            <p:strVal val="#ppt_y"/>
                                          </p:val>
                                        </p:tav>
                                      </p:tavLst>
                                    </p:anim>
                                  </p:childTnLst>
                                </p:cTn>
                              </p:par>
                              <p:par>
                                <p:cTn id="98" presetID="42" presetClass="entr" presetSubtype="0" fill="hold" grpId="0" nodeType="withEffect">
                                  <p:stCondLst>
                                    <p:cond delay="0"/>
                                  </p:stCondLst>
                                  <p:childTnLst>
                                    <p:set>
                                      <p:cBhvr>
                                        <p:cTn id="99" dur="1" fill="hold">
                                          <p:stCondLst>
                                            <p:cond delay="0"/>
                                          </p:stCondLst>
                                        </p:cTn>
                                        <p:tgtEl>
                                          <p:spTgt spid="37"/>
                                        </p:tgtEl>
                                        <p:attrNameLst>
                                          <p:attrName>style.visibility</p:attrName>
                                        </p:attrNameLst>
                                      </p:cBhvr>
                                      <p:to>
                                        <p:strVal val="visible"/>
                                      </p:to>
                                    </p:set>
                                    <p:animEffect transition="in" filter="fade">
                                      <p:cBhvr>
                                        <p:cTn id="100" dur="600"/>
                                        <p:tgtEl>
                                          <p:spTgt spid="37"/>
                                        </p:tgtEl>
                                      </p:cBhvr>
                                    </p:animEffect>
                                    <p:anim calcmode="lin" valueType="num">
                                      <p:cBhvr>
                                        <p:cTn id="101" dur="600" fill="hold" decel="100000"/>
                                        <p:tgtEl>
                                          <p:spTgt spid="37"/>
                                        </p:tgtEl>
                                        <p:attrNameLst>
                                          <p:attrName>ppt_x</p:attrName>
                                        </p:attrNameLst>
                                      </p:cBhvr>
                                      <p:tavLst>
                                        <p:tav tm="0">
                                          <p:val>
                                            <p:strVal val="#ppt_x"/>
                                          </p:val>
                                        </p:tav>
                                        <p:tav tm="100000">
                                          <p:val>
                                            <p:strVal val="#ppt_x"/>
                                          </p:val>
                                        </p:tav>
                                      </p:tavLst>
                                    </p:anim>
                                    <p:anim calcmode="lin" valueType="num">
                                      <p:cBhvr>
                                        <p:cTn id="102" dur="600" fill="hold" decel="100000"/>
                                        <p:tgtEl>
                                          <p:spTgt spid="37"/>
                                        </p:tgtEl>
                                        <p:attrNameLst>
                                          <p:attrName>ppt_y</p:attrName>
                                        </p:attrNameLst>
                                      </p:cBhvr>
                                      <p:tavLst>
                                        <p:tav tm="0">
                                          <p:val>
                                            <p:strVal val="#ppt_y+.04"/>
                                          </p:val>
                                        </p:tav>
                                        <p:tav tm="100000">
                                          <p:val>
                                            <p:strVal val="#ppt_y"/>
                                          </p:val>
                                        </p:tav>
                                      </p:tavLst>
                                    </p:anim>
                                  </p:childTnLst>
                                </p:cTn>
                              </p:par>
                              <p:par>
                                <p:cTn id="103" presetID="42" presetClass="entr" presetSubtype="0" fill="hold" grpId="0" nodeType="withEffect">
                                  <p:stCondLst>
                                    <p:cond delay="150"/>
                                  </p:stCondLst>
                                  <p:childTnLst>
                                    <p:set>
                                      <p:cBhvr>
                                        <p:cTn id="104" dur="1" fill="hold">
                                          <p:stCondLst>
                                            <p:cond delay="0"/>
                                          </p:stCondLst>
                                        </p:cTn>
                                        <p:tgtEl>
                                          <p:spTgt spid="38"/>
                                        </p:tgtEl>
                                        <p:attrNameLst>
                                          <p:attrName>style.visibility</p:attrName>
                                        </p:attrNameLst>
                                      </p:cBhvr>
                                      <p:to>
                                        <p:strVal val="visible"/>
                                      </p:to>
                                    </p:set>
                                    <p:animEffect transition="in" filter="fade">
                                      <p:cBhvr>
                                        <p:cTn id="105" dur="600"/>
                                        <p:tgtEl>
                                          <p:spTgt spid="38"/>
                                        </p:tgtEl>
                                      </p:cBhvr>
                                    </p:animEffect>
                                    <p:anim calcmode="lin" valueType="num">
                                      <p:cBhvr>
                                        <p:cTn id="106" dur="600" fill="hold" decel="100000"/>
                                        <p:tgtEl>
                                          <p:spTgt spid="38"/>
                                        </p:tgtEl>
                                        <p:attrNameLst>
                                          <p:attrName>ppt_x</p:attrName>
                                        </p:attrNameLst>
                                      </p:cBhvr>
                                      <p:tavLst>
                                        <p:tav tm="0">
                                          <p:val>
                                            <p:strVal val="#ppt_x"/>
                                          </p:val>
                                        </p:tav>
                                        <p:tav tm="100000">
                                          <p:val>
                                            <p:strVal val="#ppt_x"/>
                                          </p:val>
                                        </p:tav>
                                      </p:tavLst>
                                    </p:anim>
                                    <p:anim calcmode="lin" valueType="num">
                                      <p:cBhvr>
                                        <p:cTn id="107" dur="600" fill="hold" decel="100000"/>
                                        <p:tgtEl>
                                          <p:spTgt spid="38"/>
                                        </p:tgtEl>
                                        <p:attrNameLst>
                                          <p:attrName>ppt_y</p:attrName>
                                        </p:attrNameLst>
                                      </p:cBhvr>
                                      <p:tavLst>
                                        <p:tav tm="0">
                                          <p:val>
                                            <p:strVal val="#ppt_y+.04"/>
                                          </p:val>
                                        </p:tav>
                                        <p:tav tm="100000">
                                          <p:val>
                                            <p:strVal val="#ppt_y"/>
                                          </p:val>
                                        </p:tav>
                                      </p:tavLst>
                                    </p:anim>
                                  </p:childTnLst>
                                </p:cTn>
                              </p:par>
                              <p:par>
                                <p:cTn id="108" presetID="42" presetClass="entr" presetSubtype="0" fill="hold" grpId="0" nodeType="withEffect">
                                  <p:stCondLst>
                                    <p:cond delay="150"/>
                                  </p:stCondLst>
                                  <p:childTnLst>
                                    <p:set>
                                      <p:cBhvr>
                                        <p:cTn id="109" dur="1" fill="hold">
                                          <p:stCondLst>
                                            <p:cond delay="0"/>
                                          </p:stCondLst>
                                        </p:cTn>
                                        <p:tgtEl>
                                          <p:spTgt spid="39"/>
                                        </p:tgtEl>
                                        <p:attrNameLst>
                                          <p:attrName>style.visibility</p:attrName>
                                        </p:attrNameLst>
                                      </p:cBhvr>
                                      <p:to>
                                        <p:strVal val="visible"/>
                                      </p:to>
                                    </p:set>
                                    <p:animEffect transition="in" filter="fade">
                                      <p:cBhvr>
                                        <p:cTn id="110" dur="600"/>
                                        <p:tgtEl>
                                          <p:spTgt spid="39"/>
                                        </p:tgtEl>
                                      </p:cBhvr>
                                    </p:animEffect>
                                    <p:anim calcmode="lin" valueType="num">
                                      <p:cBhvr>
                                        <p:cTn id="111" dur="600" fill="hold" decel="100000"/>
                                        <p:tgtEl>
                                          <p:spTgt spid="39"/>
                                        </p:tgtEl>
                                        <p:attrNameLst>
                                          <p:attrName>ppt_x</p:attrName>
                                        </p:attrNameLst>
                                      </p:cBhvr>
                                      <p:tavLst>
                                        <p:tav tm="0">
                                          <p:val>
                                            <p:strVal val="#ppt_x"/>
                                          </p:val>
                                        </p:tav>
                                        <p:tav tm="100000">
                                          <p:val>
                                            <p:strVal val="#ppt_x"/>
                                          </p:val>
                                        </p:tav>
                                      </p:tavLst>
                                    </p:anim>
                                    <p:anim calcmode="lin" valueType="num">
                                      <p:cBhvr>
                                        <p:cTn id="112" dur="600" fill="hold" decel="100000"/>
                                        <p:tgtEl>
                                          <p:spTgt spid="39"/>
                                        </p:tgtEl>
                                        <p:attrNameLst>
                                          <p:attrName>ppt_y</p:attrName>
                                        </p:attrNameLst>
                                      </p:cBhvr>
                                      <p:tavLst>
                                        <p:tav tm="0">
                                          <p:val>
                                            <p:strVal val="#ppt_y+.04"/>
                                          </p:val>
                                        </p:tav>
                                        <p:tav tm="100000">
                                          <p:val>
                                            <p:strVal val="#ppt_y"/>
                                          </p:val>
                                        </p:tav>
                                      </p:tavLst>
                                    </p:anim>
                                  </p:childTnLst>
                                </p:cTn>
                              </p:par>
                              <p:par>
                                <p:cTn id="113" presetID="42" presetClass="entr" presetSubtype="0" fill="hold" grpId="0" nodeType="withEffect">
                                  <p:stCondLst>
                                    <p:cond delay="150"/>
                                  </p:stCondLst>
                                  <p:childTnLst>
                                    <p:set>
                                      <p:cBhvr>
                                        <p:cTn id="114" dur="1" fill="hold">
                                          <p:stCondLst>
                                            <p:cond delay="0"/>
                                          </p:stCondLst>
                                        </p:cTn>
                                        <p:tgtEl>
                                          <p:spTgt spid="40"/>
                                        </p:tgtEl>
                                        <p:attrNameLst>
                                          <p:attrName>style.visibility</p:attrName>
                                        </p:attrNameLst>
                                      </p:cBhvr>
                                      <p:to>
                                        <p:strVal val="visible"/>
                                      </p:to>
                                    </p:set>
                                    <p:animEffect transition="in" filter="fade">
                                      <p:cBhvr>
                                        <p:cTn id="115" dur="600"/>
                                        <p:tgtEl>
                                          <p:spTgt spid="40"/>
                                        </p:tgtEl>
                                      </p:cBhvr>
                                    </p:animEffect>
                                    <p:anim calcmode="lin" valueType="num">
                                      <p:cBhvr>
                                        <p:cTn id="116" dur="600" fill="hold" decel="100000"/>
                                        <p:tgtEl>
                                          <p:spTgt spid="40"/>
                                        </p:tgtEl>
                                        <p:attrNameLst>
                                          <p:attrName>ppt_x</p:attrName>
                                        </p:attrNameLst>
                                      </p:cBhvr>
                                      <p:tavLst>
                                        <p:tav tm="0">
                                          <p:val>
                                            <p:strVal val="#ppt_x"/>
                                          </p:val>
                                        </p:tav>
                                        <p:tav tm="100000">
                                          <p:val>
                                            <p:strVal val="#ppt_x"/>
                                          </p:val>
                                        </p:tav>
                                      </p:tavLst>
                                    </p:anim>
                                    <p:anim calcmode="lin" valueType="num">
                                      <p:cBhvr>
                                        <p:cTn id="117" dur="600" fill="hold" decel="100000"/>
                                        <p:tgtEl>
                                          <p:spTgt spid="40"/>
                                        </p:tgtEl>
                                        <p:attrNameLst>
                                          <p:attrName>ppt_y</p:attrName>
                                        </p:attrNameLst>
                                      </p:cBhvr>
                                      <p:tavLst>
                                        <p:tav tm="0">
                                          <p:val>
                                            <p:strVal val="#ppt_y+.04"/>
                                          </p:val>
                                        </p:tav>
                                        <p:tav tm="100000">
                                          <p:val>
                                            <p:strVal val="#ppt_y"/>
                                          </p:val>
                                        </p:tav>
                                      </p:tavLst>
                                    </p:anim>
                                  </p:childTnLst>
                                </p:cTn>
                              </p:par>
                            </p:childTnLst>
                          </p:cTn>
                        </p:par>
                        <p:par>
                          <p:cTn id="118" fill="hold">
                            <p:stCondLst>
                              <p:cond delay="4200"/>
                            </p:stCondLst>
                            <p:childTnLst>
                              <p:par>
                                <p:cTn id="119" presetID="22" presetClass="entr" presetSubtype="1" fill="hold" grpId="0" nodeType="afterEffect">
                                  <p:stCondLst>
                                    <p:cond delay="0"/>
                                  </p:stCondLst>
                                  <p:childTnLst>
                                    <p:set>
                                      <p:cBhvr>
                                        <p:cTn id="120" dur="1" fill="hold">
                                          <p:stCondLst>
                                            <p:cond delay="0"/>
                                          </p:stCondLst>
                                        </p:cTn>
                                        <p:tgtEl>
                                          <p:spTgt spid="41"/>
                                        </p:tgtEl>
                                        <p:attrNameLst>
                                          <p:attrName>style.visibility</p:attrName>
                                        </p:attrNameLst>
                                      </p:cBhvr>
                                      <p:to>
                                        <p:strVal val="visible"/>
                                      </p:to>
                                    </p:set>
                                    <p:animEffect transition="in" filter="wipe(down)">
                                      <p:cBhvr>
                                        <p:cTn id="121" dur="500"/>
                                        <p:tgtEl>
                                          <p:spTgt spid="41"/>
                                        </p:tgtEl>
                                      </p:cBhvr>
                                    </p:animEffect>
                                  </p:childTnLst>
                                </p:cTn>
                              </p:par>
                            </p:childTnLst>
                          </p:cTn>
                        </p:par>
                        <p:par>
                          <p:cTn id="122" fill="hold">
                            <p:stCondLst>
                              <p:cond delay="4700"/>
                            </p:stCondLst>
                            <p:childTnLst>
                              <p:par>
                                <p:cTn id="123" presetID="42" presetClass="entr" presetSubtype="0" fill="hold" grpId="0" nodeType="afterEffect">
                                  <p:stCondLst>
                                    <p:cond delay="0"/>
                                  </p:stCondLst>
                                  <p:childTnLst>
                                    <p:set>
                                      <p:cBhvr>
                                        <p:cTn id="124" dur="1" fill="hold">
                                          <p:stCondLst>
                                            <p:cond delay="0"/>
                                          </p:stCondLst>
                                        </p:cTn>
                                        <p:tgtEl>
                                          <p:spTgt spid="42"/>
                                        </p:tgtEl>
                                        <p:attrNameLst>
                                          <p:attrName>style.visibility</p:attrName>
                                        </p:attrNameLst>
                                      </p:cBhvr>
                                      <p:to>
                                        <p:strVal val="visible"/>
                                      </p:to>
                                    </p:set>
                                    <p:animEffect transition="in" filter="fade">
                                      <p:cBhvr>
                                        <p:cTn id="125" dur="600"/>
                                        <p:tgtEl>
                                          <p:spTgt spid="42"/>
                                        </p:tgtEl>
                                      </p:cBhvr>
                                    </p:animEffect>
                                    <p:anim calcmode="lin" valueType="num">
                                      <p:cBhvr>
                                        <p:cTn id="126" dur="600" fill="hold" decel="100000"/>
                                        <p:tgtEl>
                                          <p:spTgt spid="42"/>
                                        </p:tgtEl>
                                        <p:attrNameLst>
                                          <p:attrName>ppt_x</p:attrName>
                                        </p:attrNameLst>
                                      </p:cBhvr>
                                      <p:tavLst>
                                        <p:tav tm="0">
                                          <p:val>
                                            <p:strVal val="#ppt_x"/>
                                          </p:val>
                                        </p:tav>
                                        <p:tav tm="100000">
                                          <p:val>
                                            <p:strVal val="#ppt_x"/>
                                          </p:val>
                                        </p:tav>
                                      </p:tavLst>
                                    </p:anim>
                                    <p:anim calcmode="lin" valueType="num">
                                      <p:cBhvr>
                                        <p:cTn id="127" dur="600" fill="hold" decel="100000"/>
                                        <p:tgtEl>
                                          <p:spTgt spid="42"/>
                                        </p:tgtEl>
                                        <p:attrNameLst>
                                          <p:attrName>ppt_y</p:attrName>
                                        </p:attrNameLst>
                                      </p:cBhvr>
                                      <p:tavLst>
                                        <p:tav tm="0">
                                          <p:val>
                                            <p:strVal val="#ppt_y+.04"/>
                                          </p:val>
                                        </p:tav>
                                        <p:tav tm="100000">
                                          <p:val>
                                            <p:strVal val="#ppt_y"/>
                                          </p:val>
                                        </p:tav>
                                      </p:tavLst>
                                    </p:anim>
                                  </p:childTnLst>
                                </p:cTn>
                              </p:par>
                              <p:par>
                                <p:cTn id="128" presetID="42" presetClass="entr" presetSubtype="0" fill="hold" grpId="0" nodeType="withEffect">
                                  <p:stCondLst>
                                    <p:cond delay="0"/>
                                  </p:stCondLst>
                                  <p:childTnLst>
                                    <p:set>
                                      <p:cBhvr>
                                        <p:cTn id="129" dur="1" fill="hold">
                                          <p:stCondLst>
                                            <p:cond delay="0"/>
                                          </p:stCondLst>
                                        </p:cTn>
                                        <p:tgtEl>
                                          <p:spTgt spid="43"/>
                                        </p:tgtEl>
                                        <p:attrNameLst>
                                          <p:attrName>style.visibility</p:attrName>
                                        </p:attrNameLst>
                                      </p:cBhvr>
                                      <p:to>
                                        <p:strVal val="visible"/>
                                      </p:to>
                                    </p:set>
                                    <p:animEffect transition="in" filter="fade">
                                      <p:cBhvr>
                                        <p:cTn id="130" dur="600"/>
                                        <p:tgtEl>
                                          <p:spTgt spid="43"/>
                                        </p:tgtEl>
                                      </p:cBhvr>
                                    </p:animEffect>
                                    <p:anim calcmode="lin" valueType="num">
                                      <p:cBhvr>
                                        <p:cTn id="131" dur="600" fill="hold" decel="100000"/>
                                        <p:tgtEl>
                                          <p:spTgt spid="43"/>
                                        </p:tgtEl>
                                        <p:attrNameLst>
                                          <p:attrName>ppt_x</p:attrName>
                                        </p:attrNameLst>
                                      </p:cBhvr>
                                      <p:tavLst>
                                        <p:tav tm="0">
                                          <p:val>
                                            <p:strVal val="#ppt_x"/>
                                          </p:val>
                                        </p:tav>
                                        <p:tav tm="100000">
                                          <p:val>
                                            <p:strVal val="#ppt_x"/>
                                          </p:val>
                                        </p:tav>
                                      </p:tavLst>
                                    </p:anim>
                                    <p:anim calcmode="lin" valueType="num">
                                      <p:cBhvr>
                                        <p:cTn id="132" dur="600" fill="hold" decel="100000"/>
                                        <p:tgtEl>
                                          <p:spTgt spid="43"/>
                                        </p:tgtEl>
                                        <p:attrNameLst>
                                          <p:attrName>ppt_y</p:attrName>
                                        </p:attrNameLst>
                                      </p:cBhvr>
                                      <p:tavLst>
                                        <p:tav tm="0">
                                          <p:val>
                                            <p:strVal val="#ppt_y+.04"/>
                                          </p:val>
                                        </p:tav>
                                        <p:tav tm="100000">
                                          <p:val>
                                            <p:strVal val="#ppt_y"/>
                                          </p:val>
                                        </p:tav>
                                      </p:tavLst>
                                    </p:anim>
                                  </p:childTnLst>
                                </p:cTn>
                              </p:par>
                              <p:par>
                                <p:cTn id="133" presetID="42" presetClass="entr" presetSubtype="0" fill="hold" grpId="0" nodeType="withEffect">
                                  <p:stCondLst>
                                    <p:cond delay="0"/>
                                  </p:stCondLst>
                                  <p:childTnLst>
                                    <p:set>
                                      <p:cBhvr>
                                        <p:cTn id="134" dur="1" fill="hold">
                                          <p:stCondLst>
                                            <p:cond delay="0"/>
                                          </p:stCondLst>
                                        </p:cTn>
                                        <p:tgtEl>
                                          <p:spTgt spid="44"/>
                                        </p:tgtEl>
                                        <p:attrNameLst>
                                          <p:attrName>style.visibility</p:attrName>
                                        </p:attrNameLst>
                                      </p:cBhvr>
                                      <p:to>
                                        <p:strVal val="visible"/>
                                      </p:to>
                                    </p:set>
                                    <p:animEffect transition="in" filter="fade">
                                      <p:cBhvr>
                                        <p:cTn id="135" dur="600"/>
                                        <p:tgtEl>
                                          <p:spTgt spid="44"/>
                                        </p:tgtEl>
                                      </p:cBhvr>
                                    </p:animEffect>
                                    <p:anim calcmode="lin" valueType="num">
                                      <p:cBhvr>
                                        <p:cTn id="136" dur="600" fill="hold" decel="100000"/>
                                        <p:tgtEl>
                                          <p:spTgt spid="44"/>
                                        </p:tgtEl>
                                        <p:attrNameLst>
                                          <p:attrName>ppt_x</p:attrName>
                                        </p:attrNameLst>
                                      </p:cBhvr>
                                      <p:tavLst>
                                        <p:tav tm="0">
                                          <p:val>
                                            <p:strVal val="#ppt_x"/>
                                          </p:val>
                                        </p:tav>
                                        <p:tav tm="100000">
                                          <p:val>
                                            <p:strVal val="#ppt_x"/>
                                          </p:val>
                                        </p:tav>
                                      </p:tavLst>
                                    </p:anim>
                                    <p:anim calcmode="lin" valueType="num">
                                      <p:cBhvr>
                                        <p:cTn id="137" dur="600" fill="hold" decel="100000"/>
                                        <p:tgtEl>
                                          <p:spTgt spid="44"/>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4" grpId="0" animBg="1"/>
      <p:bldP spid="15" grpId="0" animBg="1"/>
      <p:bldP spid="16" grpId="0"/>
      <p:bldP spid="18" grpId="0" animBg="1"/>
      <p:bldP spid="19" grpId="0" animBg="1"/>
      <p:bldP spid="20" grpId="0"/>
      <p:bldP spid="21" grpId="0" animBg="1"/>
      <p:bldP spid="22" grpId="0"/>
      <p:bldP spid="23" grpId="0"/>
      <p:bldP spid="24" grpId="0" animBg="1"/>
      <p:bldP spid="25" grpId="0"/>
      <p:bldP spid="26" grpId="0"/>
      <p:bldP spid="27" grpId="0" animBg="1"/>
      <p:bldP spid="28" grpId="0"/>
      <p:bldP spid="29" grpId="0"/>
      <p:bldP spid="30" grpId="0" animBg="1"/>
      <p:bldP spid="31" grpId="0"/>
      <p:bldP spid="32" grpId="0"/>
      <p:bldP spid="35" grpId="0" animBg="1"/>
      <p:bldP spid="36" grpId="0" animBg="1"/>
      <p:bldP spid="37" grpId="0"/>
      <p:bldP spid="38" grpId="0" animBg="1"/>
      <p:bldP spid="39" grpId="0" animBg="1"/>
      <p:bldP spid="40" grpId="0"/>
      <p:bldP spid="42" grpId="0" animBg="1"/>
      <p:bldP spid="43" grpId="0" animBg="1"/>
      <p:bldP spid="44" grpId="0"/>
    </p:bld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8F3"/>
        </a:solidFill>
        <a:effectLst/>
      </p:bgPr>
    </p:bg>
    <p:spTree>
      <p:nvGrpSpPr>
        <p:cNvPr id="1" name=""/>
        <p:cNvGrpSpPr/>
        <p:nvPr/>
      </p:nvGrpSpPr>
      <p:grpSpPr/>
      <p:sp>
        <p:nvSpPr>
          <p:cNvPr id="2" name="Trait or"/>
          <p:cNvSpPr/>
          <p:nvPr/>
        </p:nvSpPr>
        <p:spPr>
          <a:xfrm>
            <a:off x="609600" y="444500"/>
            <a:ext cx="406400" cy="38100"/>
          </a:xfrm>
          <a:prstGeom prst="rect">
            <a:avLst/>
          </a:prstGeom>
          <a:solidFill>
            <a:srgbClr val="D3A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brique"/>
          <p:cNvSpPr txBox="1"/>
          <p:nvPr/>
        </p:nvSpPr>
        <p:spPr>
          <a:xfrm>
            <a:off x="609600" y="508000"/>
            <a:ext cx="10160000" cy="304800"/>
          </a:xfrm>
          <a:prstGeom prst="rect">
            <a:avLst/>
          </a:prstGeom>
          <a:noFill/>
        </p:spPr>
        <p:txBody>
          <a:bodyPr wrap="square" lIns="0" tIns="0" rIns="0" bIns="0" anchor="ctr">
            <a:noAutofit/>
          </a:bodyPr>
          <a:lstStyle/>
          <a:p>
            <a:pPr algn="l">
              <a:lnSpc>
                <a:spcPct val="100000"/>
              </a:lnSpc>
              <a:spcBef>
                <a:spcPts val="0"/>
              </a:spcBef>
              <a:spcAft>
                <a:spcPts val="0"/>
              </a:spcAft>
            </a:pPr>
            <a:r>
              <a:rPr sz="2000" b="1" i="0" lang="fr-FR" spc="150">
                <a:solidFill>
                  <a:srgbClr val="1E7B67"/>
                </a:solidFill>
                <a:latin typeface="Calibri"/>
              </a:rPr>
              <a:t>10 / L’INTÉGRITÉ</a:t>
            </a:r>
          </a:p>
        </p:txBody>
      </p:sp>
      <p:sp>
        <p:nvSpPr>
          <p:cNvPr id="4" name="Titre"/>
          <p:cNvSpPr txBox="1"/>
          <p:nvPr/>
        </p:nvSpPr>
        <p:spPr>
          <a:xfrm>
            <a:off x="609600" y="774700"/>
            <a:ext cx="10972800" cy="609600"/>
          </a:xfrm>
          <a:prstGeom prst="rect">
            <a:avLst/>
          </a:prstGeom>
          <a:noFill/>
        </p:spPr>
        <p:txBody>
          <a:bodyPr wrap="square" lIns="0" tIns="0" rIns="0" bIns="0" anchor="ctr">
            <a:noAutofit/>
          </a:bodyPr>
          <a:lstStyle/>
          <a:p>
            <a:pPr algn="l">
              <a:lnSpc>
                <a:spcPct val="100000"/>
              </a:lnSpc>
              <a:spcBef>
                <a:spcPts val="0"/>
              </a:spcBef>
              <a:spcAft>
                <a:spcPts val="0"/>
              </a:spcAft>
            </a:pPr>
            <a:r>
              <a:rPr sz="4000" b="1" i="0" lang="fr-FR">
                <a:solidFill>
                  <a:srgbClr val="12264A"/>
                </a:solidFill>
                <a:latin typeface="Calibri"/>
              </a:rPr>
              <a:t>Les sept verrous anti-corruption</a:t>
            </a:r>
          </a:p>
        </p:txBody>
      </p:sp>
      <p:sp>
        <p:nvSpPr>
          <p:cNvPr id="5" name="Accroche"/>
          <p:cNvSpPr txBox="1"/>
          <p:nvPr/>
        </p:nvSpPr>
        <p:spPr>
          <a:xfrm>
            <a:off x="609600" y="1358900"/>
            <a:ext cx="10972800" cy="355600"/>
          </a:xfrm>
          <a:prstGeom prst="rect">
            <a:avLst/>
          </a:prstGeom>
          <a:noFill/>
        </p:spPr>
        <p:txBody>
          <a:bodyPr wrap="square" lIns="0" tIns="0" rIns="0" bIns="0" anchor="t">
            <a:noAutofit/>
          </a:bodyPr>
          <a:lstStyle/>
          <a:p>
            <a:pPr algn="l">
              <a:lnSpc>
                <a:spcPct val="100000"/>
              </a:lnSpc>
              <a:spcBef>
                <a:spcPts val="0"/>
              </a:spcBef>
              <a:spcAft>
                <a:spcPts val="0"/>
              </a:spcAft>
            </a:pPr>
            <a:r>
              <a:rPr sz="2200" b="0" i="0" lang="fr-FR">
                <a:solidFill>
                  <a:srgbClr val="1B2A41"/>
                </a:solidFill>
                <a:latin typeface="Calibri"/>
              </a:rPr>
              <a:t>Des garanties cumulatives, de la comptabilité à la séparation des pouvoirs.</a:t>
            </a:r>
          </a:p>
        </p:txBody>
      </p:sp>
      <p:sp>
        <p:nvSpPr>
          <p:cNvPr id="6" name="Pied de page"/>
          <p:cNvSpPr txBox="1"/>
          <p:nvPr/>
        </p:nvSpPr>
        <p:spPr>
          <a:xfrm>
            <a:off x="609600" y="6413500"/>
            <a:ext cx="4826000" cy="241300"/>
          </a:xfrm>
          <a:prstGeom prst="rect">
            <a:avLst/>
          </a:prstGeom>
          <a:noFill/>
        </p:spPr>
        <p:txBody>
          <a:bodyPr wrap="square" lIns="0" tIns="0" rIns="0" bIns="0" anchor="ctr">
            <a:noAutofit/>
          </a:bodyPr>
          <a:lstStyle/>
          <a:p>
            <a:pPr algn="l">
              <a:lnSpc>
                <a:spcPct val="100000"/>
              </a:lnSpc>
              <a:spcBef>
                <a:spcPts val="0"/>
              </a:spcBef>
              <a:spcAft>
                <a:spcPts val="0"/>
              </a:spcAft>
            </a:pPr>
            <a:r>
              <a:rPr sz="1400" b="1" i="0" lang="fr-FR" spc="50">
                <a:solidFill>
                  <a:srgbClr val="1B2A41"/>
                </a:solidFill>
                <a:latin typeface="Calibri"/>
              </a:rPr>
              <a:t>FUTURA - KOUROUSSA | Octobre 2026</a:t>
            </a:r>
          </a:p>
        </p:txBody>
      </p:sp>
      <p:sp>
        <p:nvSpPr>
          <p:cNvPr id="7" name="Pied bandeau"/>
          <p:cNvSpPr/>
          <p:nvPr/>
        </p:nvSpPr>
        <p:spPr>
          <a:xfrm>
            <a:off x="9069742" y="6350000"/>
            <a:ext cx="2512658" cy="355600"/>
          </a:xfrm>
          <a:prstGeom prst="roundRect">
            <a:avLst>
              <a:gd name="adj" fmla="val 42857"/>
            </a:avLst>
          </a:prstGeom>
          <a:solidFill>
            <a:srgbClr val="FFFFFF"/>
          </a:solidFill>
          <a:ln w="9525">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ed logo futura-kouroussa" descr="futura-kouroussa.png"/>
          <p:cNvPicPr>
            <a:picLocks noChangeAspect="1"/>
          </p:cNvPicPr>
          <p:nvPr/>
        </p:nvPicPr>
        <p:blipFill>
          <a:blip r:embed="rId2"/>
          <a:stretch>
            <a:fillRect/>
          </a:stretch>
        </p:blipFill>
        <p:spPr>
          <a:xfrm>
            <a:off x="9184042" y="6419850"/>
            <a:ext cx="391970" cy="215900"/>
          </a:xfrm>
          <a:prstGeom prst="rect">
            <a:avLst/>
          </a:prstGeom>
        </p:spPr>
      </p:pic>
      <p:pic>
        <p:nvPicPr>
          <p:cNvPr id="9" name="Pied logo republique-de-guinee-armoiries" descr="republique-de-guinee-armoiries.png"/>
          <p:cNvPicPr>
            <a:picLocks noChangeAspect="1"/>
          </p:cNvPicPr>
          <p:nvPr/>
        </p:nvPicPr>
        <p:blipFill>
          <a:blip r:embed="rId3"/>
          <a:stretch>
            <a:fillRect/>
          </a:stretch>
        </p:blipFill>
        <p:spPr>
          <a:xfrm>
            <a:off x="9664912" y="6419850"/>
            <a:ext cx="179814" cy="215900"/>
          </a:xfrm>
          <a:prstGeom prst="rect">
            <a:avLst/>
          </a:prstGeom>
        </p:spPr>
      </p:pic>
      <p:pic>
        <p:nvPicPr>
          <p:cNvPr id="10" name="Pied logo assemblee-nationale" descr="assemblee-nationale.png"/>
          <p:cNvPicPr>
            <a:picLocks noChangeAspect="1"/>
          </p:cNvPicPr>
          <p:nvPr/>
        </p:nvPicPr>
        <p:blipFill>
          <a:blip r:embed="rId4"/>
          <a:stretch>
            <a:fillRect/>
          </a:stretch>
        </p:blipFill>
        <p:spPr>
          <a:xfrm>
            <a:off x="9933626" y="6419850"/>
            <a:ext cx="217442" cy="215900"/>
          </a:xfrm>
          <a:prstGeom prst="rect">
            <a:avLst/>
          </a:prstGeom>
        </p:spPr>
      </p:pic>
      <p:pic>
        <p:nvPicPr>
          <p:cNvPr id="11" name="Pied logo simandou-2040" descr="simandou-2040.png"/>
          <p:cNvPicPr>
            <a:picLocks noChangeAspect="1"/>
          </p:cNvPicPr>
          <p:nvPr/>
        </p:nvPicPr>
        <p:blipFill>
          <a:blip r:embed="rId5"/>
          <a:stretch>
            <a:fillRect/>
          </a:stretch>
        </p:blipFill>
        <p:spPr>
          <a:xfrm>
            <a:off x="10239968" y="6419850"/>
            <a:ext cx="674774" cy="215900"/>
          </a:xfrm>
          <a:prstGeom prst="rect">
            <a:avLst/>
          </a:prstGeom>
        </p:spPr>
      </p:pic>
      <p:pic>
        <p:nvPicPr>
          <p:cNvPr id="12" name="Pied logo guinee" descr="guinee.png"/>
          <p:cNvPicPr>
            <a:picLocks noChangeAspect="1"/>
          </p:cNvPicPr>
          <p:nvPr/>
        </p:nvPicPr>
        <p:blipFill>
          <a:blip r:embed="rId6"/>
          <a:stretch>
            <a:fillRect/>
          </a:stretch>
        </p:blipFill>
        <p:spPr>
          <a:xfrm>
            <a:off x="11003643" y="6419850"/>
            <a:ext cx="464457" cy="215900"/>
          </a:xfrm>
          <a:prstGeom prst="rect">
            <a:avLst/>
          </a:prstGeom>
        </p:spPr>
      </p:pic>
      <p:sp>
        <p:nvSpPr>
          <p:cNvPr id="13" name="Numéro"/>
          <p:cNvSpPr txBox="1"/>
          <p:nvPr/>
        </p:nvSpPr>
        <p:spPr>
          <a:xfrm>
            <a:off x="7990242" y="6413500"/>
            <a:ext cx="952500" cy="241300"/>
          </a:xfrm>
          <a:prstGeom prst="rect">
            <a:avLst/>
          </a:prstGeom>
          <a:noFill/>
        </p:spPr>
        <p:txBody>
          <a:bodyPr wrap="square" lIns="0" tIns="0" rIns="0" bIns="0" anchor="ctr">
            <a:noAutofit/>
          </a:bodyPr>
          <a:lstStyle/>
          <a:p>
            <a:pPr algn="r">
              <a:lnSpc>
                <a:spcPct val="100000"/>
              </a:lnSpc>
              <a:spcBef>
                <a:spcPts val="0"/>
              </a:spcBef>
              <a:spcAft>
                <a:spcPts val="0"/>
              </a:spcAft>
            </a:pPr>
            <a:r>
              <a:rPr sz="1400" b="1" i="0" lang="fr-FR">
                <a:solidFill>
                  <a:srgbClr val="12264A"/>
                </a:solidFill>
                <a:latin typeface="Calibri"/>
              </a:rPr>
              <a:t>11 / 15</a:t>
            </a:r>
          </a:p>
        </p:txBody>
      </p:sp>
      <p:sp>
        <p:nvSpPr>
          <p:cNvPr id="14" name="s11 panneau"/>
          <p:cNvSpPr/>
          <p:nvPr/>
        </p:nvSpPr>
        <p:spPr>
          <a:xfrm>
            <a:off x="8255000" y="1828800"/>
            <a:ext cx="3327400" cy="4140200"/>
          </a:xfrm>
          <a:prstGeom prst="roundRect">
            <a:avLst>
              <a:gd name="adj" fmla="val 3816"/>
            </a:avLst>
          </a:prstGeom>
          <a:solidFill>
            <a:srgbClr val="12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11 bouclier"/>
          <p:cNvSpPr/>
          <p:nvPr/>
        </p:nvSpPr>
        <p:spPr>
          <a:xfrm>
            <a:off x="9359900" y="2184400"/>
            <a:ext cx="1117600" cy="1117600"/>
          </a:xfrm>
          <a:prstGeom prst="ellipse">
            <a:avLst/>
          </a:prstGeom>
          <a:solidFill>
            <a:srgbClr val="D3A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s11 bouclier picto" descr="bouclier-nuit.png"/>
          <p:cNvPicPr>
            <a:picLocks noChangeAspect="1"/>
          </p:cNvPicPr>
          <p:nvPr/>
        </p:nvPicPr>
        <p:blipFill>
          <a:blip r:embed="rId7"/>
          <a:stretch>
            <a:fillRect/>
          </a:stretch>
        </p:blipFill>
        <p:spPr>
          <a:xfrm>
            <a:off x="9628124" y="2452624"/>
            <a:ext cx="581152" cy="581152"/>
          </a:xfrm>
          <a:prstGeom prst="rect">
            <a:avLst/>
          </a:prstGeom>
        </p:spPr>
      </p:pic>
      <p:sp>
        <p:nvSpPr>
          <p:cNvPr id="17" name="s11 sept"/>
          <p:cNvSpPr txBox="1"/>
          <p:nvPr/>
        </p:nvSpPr>
        <p:spPr>
          <a:xfrm>
            <a:off x="8255000" y="3467100"/>
            <a:ext cx="3327400" cy="2349500"/>
          </a:xfrm>
          <a:prstGeom prst="rect">
            <a:avLst/>
          </a:prstGeom>
          <a:noFill/>
        </p:spPr>
        <p:txBody>
          <a:bodyPr wrap="square" lIns="0" tIns="0" rIns="0" bIns="0" anchor="t">
            <a:noAutofit/>
          </a:bodyPr>
          <a:lstStyle/>
          <a:p>
            <a:pPr algn="ctr">
              <a:lnSpc>
                <a:spcPct val="100000"/>
              </a:lnSpc>
              <a:spcBef>
                <a:spcPts val="0"/>
              </a:spcBef>
              <a:spcAft>
                <a:spcPts val="0"/>
              </a:spcAft>
            </a:pPr>
            <a:r>
              <a:rPr sz="12000" b="1" i="0" lang="fr-FR">
                <a:solidFill>
                  <a:srgbClr val="D3A04D"/>
                </a:solidFill>
                <a:latin typeface="Calibri"/>
              </a:rPr>
              <a:t>7</a:t>
            </a:r>
          </a:p>
          <a:p>
            <a:pPr algn="ctr">
              <a:lnSpc>
                <a:spcPct val="100000"/>
              </a:lnSpc>
              <a:spcBef>
                <a:spcPts val="0"/>
              </a:spcBef>
              <a:spcAft>
                <a:spcPts val="0"/>
              </a:spcAft>
            </a:pPr>
            <a:r>
              <a:rPr sz="3000" b="1" i="0" lang="fr-FR">
                <a:solidFill>
                  <a:srgbClr val="FFFFFF"/>
                </a:solidFill>
                <a:latin typeface="Calibri"/>
              </a:rPr>
              <a:t>verrous</a:t>
            </a:r>
          </a:p>
        </p:txBody>
      </p:sp>
      <p:sp>
        <p:nvSpPr>
          <p:cNvPr id="18" name="s11 numéro 1"/>
          <p:cNvSpPr/>
          <p:nvPr/>
        </p:nvSpPr>
        <p:spPr>
          <a:xfrm>
            <a:off x="622300" y="1917700"/>
            <a:ext cx="355600" cy="355600"/>
          </a:xfrm>
          <a:prstGeom prst="ellipse">
            <a:avLst/>
          </a:prstGeom>
          <a:solidFill>
            <a:srgbClr val="1E7B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00000"/>
              </a:lnSpc>
              <a:spcBef>
                <a:spcPts val="0"/>
              </a:spcBef>
              <a:spcAft>
                <a:spcPts val="0"/>
              </a:spcAft>
            </a:pPr>
            <a:r>
              <a:rPr sz="2400" b="1" i="0" lang="fr-FR">
                <a:solidFill>
                  <a:srgbClr val="FFFFFF"/>
                </a:solidFill>
                <a:latin typeface="Calibri"/>
              </a:rPr>
              <a:t>1</a:t>
            </a:r>
          </a:p>
        </p:txBody>
      </p:sp>
      <p:sp>
        <p:nvSpPr>
          <p:cNvPr id="19" name="s11 verrou 1"/>
          <p:cNvSpPr txBox="1"/>
          <p:nvPr/>
        </p:nvSpPr>
        <p:spPr>
          <a:xfrm>
            <a:off x="1181100" y="1828800"/>
            <a:ext cx="6794500" cy="533400"/>
          </a:xfrm>
          <a:prstGeom prst="rect">
            <a:avLst/>
          </a:prstGeom>
          <a:noFill/>
        </p:spPr>
        <p:txBody>
          <a:bodyPr wrap="square" lIns="0" tIns="0" rIns="0" bIns="0" anchor="ctr">
            <a:noAutofit/>
          </a:bodyPr>
          <a:lstStyle/>
          <a:p>
            <a:pPr algn="l">
              <a:lnSpc>
                <a:spcPct val="100000"/>
              </a:lnSpc>
              <a:spcBef>
                <a:spcPts val="0"/>
              </a:spcBef>
              <a:spcAft>
                <a:spcPts val="0"/>
              </a:spcAft>
            </a:pPr>
            <a:r>
              <a:rPr sz="2400" b="1" i="0" lang="fr-FR">
                <a:solidFill>
                  <a:srgbClr val="1B2A41"/>
                </a:solidFill>
                <a:latin typeface="Calibri"/>
              </a:rPr>
              <a:t>Comptes SYSCOHADA certifiés</a:t>
            </a:r>
          </a:p>
        </p:txBody>
      </p:sp>
      <p:cxnSp>
        <p:nvCxnSpPr>
          <p:cNvPr id="20" name="s11 filet 1"/>
          <p:cNvCxnSpPr/>
          <p:nvPr/>
        </p:nvCxnSpPr>
        <p:spPr>
          <a:xfrm>
            <a:off x="609600" y="2387600"/>
            <a:ext cx="7366000" cy="0"/>
          </a:xfrm>
          <a:prstGeom prst="line">
            <a:avLst/>
          </a:prstGeom>
          <a:ln w="12700">
            <a:solidFill>
              <a:srgbClr val="E3DED3"/>
            </a:solidFill>
          </a:ln>
        </p:spPr>
        <p:style>
          <a:lnRef idx="2">
            <a:schemeClr val="accent1"/>
          </a:lnRef>
          <a:fillRef idx="0">
            <a:schemeClr val="accent1"/>
          </a:fillRef>
          <a:effectRef idx="1">
            <a:schemeClr val="accent1"/>
          </a:effectRef>
          <a:fontRef idx="minor">
            <a:schemeClr val="tx1"/>
          </a:fontRef>
        </p:style>
      </p:cxnSp>
      <p:sp>
        <p:nvSpPr>
          <p:cNvPr id="21" name="s11 numéro 2"/>
          <p:cNvSpPr/>
          <p:nvPr/>
        </p:nvSpPr>
        <p:spPr>
          <a:xfrm>
            <a:off x="622300" y="2508250"/>
            <a:ext cx="355600" cy="355600"/>
          </a:xfrm>
          <a:prstGeom prst="ellipse">
            <a:avLst/>
          </a:prstGeom>
          <a:solidFill>
            <a:srgbClr val="D3A0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00000"/>
              </a:lnSpc>
              <a:spcBef>
                <a:spcPts val="0"/>
              </a:spcBef>
              <a:spcAft>
                <a:spcPts val="0"/>
              </a:spcAft>
            </a:pPr>
            <a:r>
              <a:rPr sz="2400" b="1" i="0" lang="fr-FR">
                <a:solidFill>
                  <a:srgbClr val="12264A"/>
                </a:solidFill>
                <a:latin typeface="Calibri"/>
              </a:rPr>
              <a:t>2</a:t>
            </a:r>
          </a:p>
        </p:txBody>
      </p:sp>
      <p:sp>
        <p:nvSpPr>
          <p:cNvPr id="22" name="s11 verrou 2"/>
          <p:cNvSpPr txBox="1"/>
          <p:nvPr/>
        </p:nvSpPr>
        <p:spPr>
          <a:xfrm>
            <a:off x="1181100" y="2419350"/>
            <a:ext cx="6794500" cy="533400"/>
          </a:xfrm>
          <a:prstGeom prst="rect">
            <a:avLst/>
          </a:prstGeom>
          <a:noFill/>
        </p:spPr>
        <p:txBody>
          <a:bodyPr wrap="square" lIns="0" tIns="0" rIns="0" bIns="0" anchor="ctr">
            <a:noAutofit/>
          </a:bodyPr>
          <a:lstStyle/>
          <a:p>
            <a:pPr algn="l">
              <a:lnSpc>
                <a:spcPct val="100000"/>
              </a:lnSpc>
              <a:spcBef>
                <a:spcPts val="0"/>
              </a:spcBef>
              <a:spcAft>
                <a:spcPts val="0"/>
              </a:spcAft>
            </a:pPr>
            <a:r>
              <a:rPr sz="2400" b="1" i="0" lang="fr-FR">
                <a:solidFill>
                  <a:srgbClr val="1B2A41"/>
                </a:solidFill>
                <a:latin typeface="Calibri"/>
              </a:rPr>
              <a:t>Audit externe annuel, par appel d’offres</a:t>
            </a:r>
          </a:p>
        </p:txBody>
      </p:sp>
      <p:cxnSp>
        <p:nvCxnSpPr>
          <p:cNvPr id="23" name="s11 filet 2"/>
          <p:cNvCxnSpPr/>
          <p:nvPr/>
        </p:nvCxnSpPr>
        <p:spPr>
          <a:xfrm>
            <a:off x="609600" y="2978150"/>
            <a:ext cx="7366000" cy="0"/>
          </a:xfrm>
          <a:prstGeom prst="line">
            <a:avLst/>
          </a:prstGeom>
          <a:ln w="12700">
            <a:solidFill>
              <a:srgbClr val="E3DED3"/>
            </a:solidFill>
          </a:ln>
        </p:spPr>
        <p:style>
          <a:lnRef idx="2">
            <a:schemeClr val="accent1"/>
          </a:lnRef>
          <a:fillRef idx="0">
            <a:schemeClr val="accent1"/>
          </a:fillRef>
          <a:effectRef idx="1">
            <a:schemeClr val="accent1"/>
          </a:effectRef>
          <a:fontRef idx="minor">
            <a:schemeClr val="tx1"/>
          </a:fontRef>
        </p:style>
      </p:cxnSp>
      <p:sp>
        <p:nvSpPr>
          <p:cNvPr id="24" name="s11 numéro 3"/>
          <p:cNvSpPr/>
          <p:nvPr/>
        </p:nvSpPr>
        <p:spPr>
          <a:xfrm>
            <a:off x="622300" y="3098800"/>
            <a:ext cx="355600" cy="355600"/>
          </a:xfrm>
          <a:prstGeom prst="ellipse">
            <a:avLst/>
          </a:prstGeom>
          <a:solidFill>
            <a:srgbClr val="1E7B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00000"/>
              </a:lnSpc>
              <a:spcBef>
                <a:spcPts val="0"/>
              </a:spcBef>
              <a:spcAft>
                <a:spcPts val="0"/>
              </a:spcAft>
            </a:pPr>
            <a:r>
              <a:rPr sz="2400" b="1" i="0" lang="fr-FR">
                <a:solidFill>
                  <a:srgbClr val="FFFFFF"/>
                </a:solidFill>
                <a:latin typeface="Calibri"/>
              </a:rPr>
              <a:t>3</a:t>
            </a:r>
          </a:p>
        </p:txBody>
      </p:sp>
      <p:sp>
        <p:nvSpPr>
          <p:cNvPr id="25" name="s11 verrou 3"/>
          <p:cNvSpPr txBox="1"/>
          <p:nvPr/>
        </p:nvSpPr>
        <p:spPr>
          <a:xfrm>
            <a:off x="1181100" y="3009900"/>
            <a:ext cx="6794500" cy="533400"/>
          </a:xfrm>
          <a:prstGeom prst="rect">
            <a:avLst/>
          </a:prstGeom>
          <a:noFill/>
        </p:spPr>
        <p:txBody>
          <a:bodyPr wrap="square" lIns="0" tIns="0" rIns="0" bIns="0" anchor="ctr">
            <a:noAutofit/>
          </a:bodyPr>
          <a:lstStyle/>
          <a:p>
            <a:pPr algn="l">
              <a:lnSpc>
                <a:spcPct val="100000"/>
              </a:lnSpc>
              <a:spcBef>
                <a:spcPts val="0"/>
              </a:spcBef>
              <a:spcAft>
                <a:spcPts val="0"/>
              </a:spcAft>
            </a:pPr>
            <a:r>
              <a:rPr sz="2400" b="1" i="0" lang="fr-FR">
                <a:solidFill>
                  <a:srgbClr val="1B2A41"/>
                </a:solidFill>
                <a:latin typeface="Calibri"/>
              </a:rPr>
              <a:t>Plateforme publique des versements et des projets</a:t>
            </a:r>
          </a:p>
        </p:txBody>
      </p:sp>
      <p:cxnSp>
        <p:nvCxnSpPr>
          <p:cNvPr id="26" name="s11 filet 3"/>
          <p:cNvCxnSpPr/>
          <p:nvPr/>
        </p:nvCxnSpPr>
        <p:spPr>
          <a:xfrm>
            <a:off x="609600" y="3568700"/>
            <a:ext cx="7366000" cy="0"/>
          </a:xfrm>
          <a:prstGeom prst="line">
            <a:avLst/>
          </a:prstGeom>
          <a:ln w="12700">
            <a:solidFill>
              <a:srgbClr val="E3DED3"/>
            </a:solidFill>
          </a:ln>
        </p:spPr>
        <p:style>
          <a:lnRef idx="2">
            <a:schemeClr val="accent1"/>
          </a:lnRef>
          <a:fillRef idx="0">
            <a:schemeClr val="accent1"/>
          </a:fillRef>
          <a:effectRef idx="1">
            <a:schemeClr val="accent1"/>
          </a:effectRef>
          <a:fontRef idx="minor">
            <a:schemeClr val="tx1"/>
          </a:fontRef>
        </p:style>
      </p:cxnSp>
      <p:sp>
        <p:nvSpPr>
          <p:cNvPr id="27" name="s11 numéro 4"/>
          <p:cNvSpPr/>
          <p:nvPr/>
        </p:nvSpPr>
        <p:spPr>
          <a:xfrm>
            <a:off x="622300" y="3689350"/>
            <a:ext cx="355600" cy="355600"/>
          </a:xfrm>
          <a:prstGeom prst="ellipse">
            <a:avLst/>
          </a:prstGeom>
          <a:solidFill>
            <a:srgbClr val="D3A0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00000"/>
              </a:lnSpc>
              <a:spcBef>
                <a:spcPts val="0"/>
              </a:spcBef>
              <a:spcAft>
                <a:spcPts val="0"/>
              </a:spcAft>
            </a:pPr>
            <a:r>
              <a:rPr sz="2400" b="1" i="0" lang="fr-FR">
                <a:solidFill>
                  <a:srgbClr val="12264A"/>
                </a:solidFill>
                <a:latin typeface="Calibri"/>
              </a:rPr>
              <a:t>4</a:t>
            </a:r>
          </a:p>
        </p:txBody>
      </p:sp>
      <p:sp>
        <p:nvSpPr>
          <p:cNvPr id="28" name="s11 verrou 4"/>
          <p:cNvSpPr txBox="1"/>
          <p:nvPr/>
        </p:nvSpPr>
        <p:spPr>
          <a:xfrm>
            <a:off x="1181100" y="3600450"/>
            <a:ext cx="6794500" cy="533400"/>
          </a:xfrm>
          <a:prstGeom prst="rect">
            <a:avLst/>
          </a:prstGeom>
          <a:noFill/>
        </p:spPr>
        <p:txBody>
          <a:bodyPr wrap="square" lIns="0" tIns="0" rIns="0" bIns="0" anchor="ctr">
            <a:noAutofit/>
          </a:bodyPr>
          <a:lstStyle/>
          <a:p>
            <a:pPr algn="l">
              <a:lnSpc>
                <a:spcPct val="100000"/>
              </a:lnSpc>
              <a:spcBef>
                <a:spcPts val="0"/>
              </a:spcBef>
              <a:spcAft>
                <a:spcPts val="0"/>
              </a:spcAft>
            </a:pPr>
            <a:r>
              <a:rPr sz="2400" b="1" i="0" lang="fr-FR">
                <a:solidFill>
                  <a:srgbClr val="1B2A41"/>
                </a:solidFill>
                <a:latin typeface="Calibri"/>
              </a:rPr>
              <a:t>Publication des comptes (Journal Officiel, RCCM)</a:t>
            </a:r>
          </a:p>
        </p:txBody>
      </p:sp>
      <p:cxnSp>
        <p:nvCxnSpPr>
          <p:cNvPr id="29" name="s11 filet 4"/>
          <p:cNvCxnSpPr/>
          <p:nvPr/>
        </p:nvCxnSpPr>
        <p:spPr>
          <a:xfrm>
            <a:off x="609600" y="4159250"/>
            <a:ext cx="7366000" cy="0"/>
          </a:xfrm>
          <a:prstGeom prst="line">
            <a:avLst/>
          </a:prstGeom>
          <a:ln w="12700">
            <a:solidFill>
              <a:srgbClr val="E3DED3"/>
            </a:solidFill>
          </a:ln>
        </p:spPr>
        <p:style>
          <a:lnRef idx="2">
            <a:schemeClr val="accent1"/>
          </a:lnRef>
          <a:fillRef idx="0">
            <a:schemeClr val="accent1"/>
          </a:fillRef>
          <a:effectRef idx="1">
            <a:schemeClr val="accent1"/>
          </a:effectRef>
          <a:fontRef idx="minor">
            <a:schemeClr val="tx1"/>
          </a:fontRef>
        </p:style>
      </p:cxnSp>
      <p:sp>
        <p:nvSpPr>
          <p:cNvPr id="30" name="s11 numéro 5"/>
          <p:cNvSpPr/>
          <p:nvPr/>
        </p:nvSpPr>
        <p:spPr>
          <a:xfrm>
            <a:off x="622300" y="4279900"/>
            <a:ext cx="355600" cy="355600"/>
          </a:xfrm>
          <a:prstGeom prst="ellipse">
            <a:avLst/>
          </a:prstGeom>
          <a:solidFill>
            <a:srgbClr val="1E7B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00000"/>
              </a:lnSpc>
              <a:spcBef>
                <a:spcPts val="0"/>
              </a:spcBef>
              <a:spcAft>
                <a:spcPts val="0"/>
              </a:spcAft>
            </a:pPr>
            <a:r>
              <a:rPr sz="2400" b="1" i="0" lang="fr-FR">
                <a:solidFill>
                  <a:srgbClr val="FFFFFF"/>
                </a:solidFill>
                <a:latin typeface="Calibri"/>
              </a:rPr>
              <a:t>5</a:t>
            </a:r>
          </a:p>
        </p:txBody>
      </p:sp>
      <p:sp>
        <p:nvSpPr>
          <p:cNvPr id="31" name="s11 verrou 5"/>
          <p:cNvSpPr txBox="1"/>
          <p:nvPr/>
        </p:nvSpPr>
        <p:spPr>
          <a:xfrm>
            <a:off x="1181100" y="4191000"/>
            <a:ext cx="6794500" cy="533400"/>
          </a:xfrm>
          <a:prstGeom prst="rect">
            <a:avLst/>
          </a:prstGeom>
          <a:noFill/>
        </p:spPr>
        <p:txBody>
          <a:bodyPr wrap="square" lIns="0" tIns="0" rIns="0" bIns="0" anchor="ctr">
            <a:noAutofit/>
          </a:bodyPr>
          <a:lstStyle/>
          <a:p>
            <a:pPr algn="l">
              <a:lnSpc>
                <a:spcPct val="100000"/>
              </a:lnSpc>
              <a:spcBef>
                <a:spcPts val="0"/>
              </a:spcBef>
              <a:spcAft>
                <a:spcPts val="0"/>
              </a:spcAft>
            </a:pPr>
            <a:r>
              <a:rPr sz="2400" b="1" i="0" lang="fr-FR">
                <a:solidFill>
                  <a:srgbClr val="1B2A41"/>
                </a:solidFill>
                <a:latin typeface="Calibri"/>
              </a:rPr>
              <a:t>Canal de signalement accessible à tous</a:t>
            </a:r>
          </a:p>
        </p:txBody>
      </p:sp>
      <p:cxnSp>
        <p:nvCxnSpPr>
          <p:cNvPr id="32" name="s11 filet 5"/>
          <p:cNvCxnSpPr/>
          <p:nvPr/>
        </p:nvCxnSpPr>
        <p:spPr>
          <a:xfrm>
            <a:off x="609600" y="4749800"/>
            <a:ext cx="7366000" cy="0"/>
          </a:xfrm>
          <a:prstGeom prst="line">
            <a:avLst/>
          </a:prstGeom>
          <a:ln w="12700">
            <a:solidFill>
              <a:srgbClr val="E3DED3"/>
            </a:solidFill>
          </a:ln>
        </p:spPr>
        <p:style>
          <a:lnRef idx="2">
            <a:schemeClr val="accent1"/>
          </a:lnRef>
          <a:fillRef idx="0">
            <a:schemeClr val="accent1"/>
          </a:fillRef>
          <a:effectRef idx="1">
            <a:schemeClr val="accent1"/>
          </a:effectRef>
          <a:fontRef idx="minor">
            <a:schemeClr val="tx1"/>
          </a:fontRef>
        </p:style>
      </p:cxnSp>
      <p:sp>
        <p:nvSpPr>
          <p:cNvPr id="33" name="s11 numéro 6"/>
          <p:cNvSpPr/>
          <p:nvPr/>
        </p:nvSpPr>
        <p:spPr>
          <a:xfrm>
            <a:off x="622300" y="4870450"/>
            <a:ext cx="355600" cy="355600"/>
          </a:xfrm>
          <a:prstGeom prst="ellipse">
            <a:avLst/>
          </a:prstGeom>
          <a:solidFill>
            <a:srgbClr val="D3A0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00000"/>
              </a:lnSpc>
              <a:spcBef>
                <a:spcPts val="0"/>
              </a:spcBef>
              <a:spcAft>
                <a:spcPts val="0"/>
              </a:spcAft>
            </a:pPr>
            <a:r>
              <a:rPr sz="2400" b="1" i="0" lang="fr-FR">
                <a:solidFill>
                  <a:srgbClr val="12264A"/>
                </a:solidFill>
                <a:latin typeface="Calibri"/>
              </a:rPr>
              <a:t>6</a:t>
            </a:r>
          </a:p>
        </p:txBody>
      </p:sp>
      <p:sp>
        <p:nvSpPr>
          <p:cNvPr id="34" name="s11 verrou 6"/>
          <p:cNvSpPr txBox="1"/>
          <p:nvPr/>
        </p:nvSpPr>
        <p:spPr>
          <a:xfrm>
            <a:off x="1181100" y="4781550"/>
            <a:ext cx="6794500" cy="533400"/>
          </a:xfrm>
          <a:prstGeom prst="rect">
            <a:avLst/>
          </a:prstGeom>
          <a:noFill/>
        </p:spPr>
        <p:txBody>
          <a:bodyPr wrap="square" lIns="0" tIns="0" rIns="0" bIns="0" anchor="ctr">
            <a:noAutofit/>
          </a:bodyPr>
          <a:lstStyle/>
          <a:p>
            <a:pPr algn="l">
              <a:lnSpc>
                <a:spcPct val="100000"/>
              </a:lnSpc>
              <a:spcBef>
                <a:spcPts val="0"/>
              </a:spcBef>
              <a:spcAft>
                <a:spcPts val="0"/>
              </a:spcAft>
            </a:pPr>
            <a:r>
              <a:rPr sz="2400" b="1" i="0" lang="fr-FR">
                <a:solidFill>
                  <a:srgbClr val="1B2A41"/>
                </a:solidFill>
                <a:latin typeface="Calibri"/>
              </a:rPr>
              <a:t>Rotation des mandats : 3 ans, renouvelables une fois</a:t>
            </a:r>
          </a:p>
        </p:txBody>
      </p:sp>
      <p:cxnSp>
        <p:nvCxnSpPr>
          <p:cNvPr id="35" name="s11 filet 6"/>
          <p:cNvCxnSpPr/>
          <p:nvPr/>
        </p:nvCxnSpPr>
        <p:spPr>
          <a:xfrm>
            <a:off x="609600" y="5340350"/>
            <a:ext cx="7366000" cy="0"/>
          </a:xfrm>
          <a:prstGeom prst="line">
            <a:avLst/>
          </a:prstGeom>
          <a:ln w="12700">
            <a:solidFill>
              <a:srgbClr val="E3DED3"/>
            </a:solidFill>
          </a:ln>
        </p:spPr>
        <p:style>
          <a:lnRef idx="2">
            <a:schemeClr val="accent1"/>
          </a:lnRef>
          <a:fillRef idx="0">
            <a:schemeClr val="accent1"/>
          </a:fillRef>
          <a:effectRef idx="1">
            <a:schemeClr val="accent1"/>
          </a:effectRef>
          <a:fontRef idx="minor">
            <a:schemeClr val="tx1"/>
          </a:fontRef>
        </p:style>
      </p:cxnSp>
      <p:sp>
        <p:nvSpPr>
          <p:cNvPr id="36" name="s11 numéro 7"/>
          <p:cNvSpPr/>
          <p:nvPr/>
        </p:nvSpPr>
        <p:spPr>
          <a:xfrm>
            <a:off x="622300" y="5461000"/>
            <a:ext cx="355600" cy="355600"/>
          </a:xfrm>
          <a:prstGeom prst="ellipse">
            <a:avLst/>
          </a:prstGeom>
          <a:solidFill>
            <a:srgbClr val="1E7B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00000"/>
              </a:lnSpc>
              <a:spcBef>
                <a:spcPts val="0"/>
              </a:spcBef>
              <a:spcAft>
                <a:spcPts val="0"/>
              </a:spcAft>
            </a:pPr>
            <a:r>
              <a:rPr sz="2400" b="1" i="0" lang="fr-FR">
                <a:solidFill>
                  <a:srgbClr val="FFFFFF"/>
                </a:solidFill>
                <a:latin typeface="Calibri"/>
              </a:rPr>
              <a:t>7</a:t>
            </a:r>
          </a:p>
        </p:txBody>
      </p:sp>
      <p:sp>
        <p:nvSpPr>
          <p:cNvPr id="37" name="s11 verrou 7"/>
          <p:cNvSpPr txBox="1"/>
          <p:nvPr/>
        </p:nvSpPr>
        <p:spPr>
          <a:xfrm>
            <a:off x="1181100" y="5372100"/>
            <a:ext cx="6794500" cy="533400"/>
          </a:xfrm>
          <a:prstGeom prst="rect">
            <a:avLst/>
          </a:prstGeom>
          <a:noFill/>
        </p:spPr>
        <p:txBody>
          <a:bodyPr wrap="square" lIns="0" tIns="0" rIns="0" bIns="0" anchor="ctr">
            <a:noAutofit/>
          </a:bodyPr>
          <a:lstStyle/>
          <a:p>
            <a:pPr algn="l">
              <a:lnSpc>
                <a:spcPct val="100000"/>
              </a:lnSpc>
              <a:spcBef>
                <a:spcPts val="0"/>
              </a:spcBef>
              <a:spcAft>
                <a:spcPts val="0"/>
              </a:spcAft>
            </a:pPr>
            <a:r>
              <a:rPr sz="2400" b="1" i="0" lang="fr-FR">
                <a:solidFill>
                  <a:srgbClr val="1B2A41"/>
                </a:solidFill>
                <a:latin typeface="Calibri"/>
              </a:rPr>
              <a:t>Séparation stricte des pouvoirs</a:t>
            </a:r>
          </a:p>
        </p:txBody>
      </p:sp>
      <p:cxnSp>
        <p:nvCxnSpPr>
          <p:cNvPr id="38" name="s11 filet 7"/>
          <p:cNvCxnSpPr/>
          <p:nvPr/>
        </p:nvCxnSpPr>
        <p:spPr>
          <a:xfrm>
            <a:off x="609600" y="5930900"/>
            <a:ext cx="7366000" cy="0"/>
          </a:xfrm>
          <a:prstGeom prst="line">
            <a:avLst/>
          </a:prstGeom>
          <a:ln w="12700">
            <a:solidFill>
              <a:srgbClr val="E3DED3"/>
            </a:solidFill>
          </a:ln>
        </p:spPr>
        <p:style>
          <a:lnRef idx="2">
            <a:schemeClr val="accent1"/>
          </a:lnRef>
          <a:fillRef idx="0">
            <a:schemeClr val="accent1"/>
          </a:fillRef>
          <a:effectRef idx="1">
            <a:schemeClr val="accent1"/>
          </a:effectRef>
          <a:fontRef idx="minor">
            <a:schemeClr val="tx1"/>
          </a:fontRef>
        </p:style>
      </p:cxnSp>
    </p:spTree>
  </p:cSld>
  <p:clrMapOvr>
    <a:masterClrMapping/>
  </p:clrMapOvr>
  <mc:AlternateContent xmlns:mc="http://schemas.openxmlformats.org/markup-compatibility/2006">
    <mc:Choice xmlns:p14="http://schemas.microsoft.com/office/powerpoint/2010/main" Requires="p14">
      <p:transition spd="med" p14:dur="700" advTm="25000">
        <p:fade/>
      </p:transition>
    </mc:Choice>
    <mc:Fallback>
      <p:transition spd="med" advTm="2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childTnLst>
                          </p:cTn>
                        </p:par>
                        <p:par>
                          <p:cTn id="8" fill="hold">
                            <p:stCondLst>
                              <p:cond delay="600"/>
                            </p:stCondLst>
                            <p:childTnLst>
                              <p:par>
                                <p:cTn id="9" presetID="10" presetClass="entr" presetSubtype="0"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600"/>
                                        <p:tgtEl>
                                          <p:spTgt spid="1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600"/>
                                        <p:tgtEl>
                                          <p:spTgt spid="1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fade">
                                      <p:cBhvr>
                                        <p:cTn id="17" dur="600"/>
                                        <p:tgtEl>
                                          <p:spTgt spid="1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7"/>
                                        </p:tgtEl>
                                        <p:attrNameLst>
                                          <p:attrName>style.visibility</p:attrName>
                                        </p:attrNameLst>
                                      </p:cBhvr>
                                      <p:to>
                                        <p:strVal val="visible"/>
                                      </p:to>
                                    </p:set>
                                    <p:animEffect transition="in" filter="fade">
                                      <p:cBhvr>
                                        <p:cTn id="20" dur="600"/>
                                        <p:tgtEl>
                                          <p:spTgt spid="17"/>
                                        </p:tgtEl>
                                      </p:cBhvr>
                                    </p:animEffect>
                                  </p:childTnLst>
                                </p:cTn>
                              </p:par>
                            </p:childTnLst>
                          </p:cTn>
                        </p:par>
                        <p:par>
                          <p:cTn id="21" fill="hold">
                            <p:stCondLst>
                              <p:cond delay="1200"/>
                            </p:stCondLst>
                            <p:childTnLst>
                              <p:par>
                                <p:cTn id="22" presetID="42" presetClass="entr" presetSubtype="0" fill="hold" grpId="0" nodeType="afterEffect">
                                  <p:stCondLst>
                                    <p:cond delay="5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500"/>
                                        <p:tgtEl>
                                          <p:spTgt spid="18"/>
                                        </p:tgtEl>
                                      </p:cBhvr>
                                    </p:animEffect>
                                    <p:anim calcmode="lin" valueType="num">
                                      <p:cBhvr>
                                        <p:cTn id="25" dur="500" fill="hold" decel="100000"/>
                                        <p:tgtEl>
                                          <p:spTgt spid="18"/>
                                        </p:tgtEl>
                                        <p:attrNameLst>
                                          <p:attrName>ppt_x</p:attrName>
                                        </p:attrNameLst>
                                      </p:cBhvr>
                                      <p:tavLst>
                                        <p:tav tm="0">
                                          <p:val>
                                            <p:strVal val="#ppt_x"/>
                                          </p:val>
                                        </p:tav>
                                        <p:tav tm="100000">
                                          <p:val>
                                            <p:strVal val="#ppt_x"/>
                                          </p:val>
                                        </p:tav>
                                      </p:tavLst>
                                    </p:anim>
                                    <p:anim calcmode="lin" valueType="num">
                                      <p:cBhvr>
                                        <p:cTn id="26" dur="500" fill="hold" decel="100000"/>
                                        <p:tgtEl>
                                          <p:spTgt spid="18"/>
                                        </p:tgtEl>
                                        <p:attrNameLst>
                                          <p:attrName>ppt_y</p:attrName>
                                        </p:attrNameLst>
                                      </p:cBhvr>
                                      <p:tavLst>
                                        <p:tav tm="0">
                                          <p:val>
                                            <p:strVal val="#ppt_y+.04"/>
                                          </p:val>
                                        </p:tav>
                                        <p:tav tm="100000">
                                          <p:val>
                                            <p:strVal val="#ppt_y"/>
                                          </p:val>
                                        </p:tav>
                                      </p:tavLst>
                                    </p:anim>
                                  </p:childTnLst>
                                </p:cTn>
                              </p:par>
                              <p:par>
                                <p:cTn id="27" presetID="42" presetClass="entr" presetSubtype="0" fill="hold" grpId="0" nodeType="withEffect">
                                  <p:stCondLst>
                                    <p:cond delay="5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500"/>
                                        <p:tgtEl>
                                          <p:spTgt spid="19"/>
                                        </p:tgtEl>
                                      </p:cBhvr>
                                    </p:animEffect>
                                    <p:anim calcmode="lin" valueType="num">
                                      <p:cBhvr>
                                        <p:cTn id="30" dur="500" fill="hold" decel="100000"/>
                                        <p:tgtEl>
                                          <p:spTgt spid="19"/>
                                        </p:tgtEl>
                                        <p:attrNameLst>
                                          <p:attrName>ppt_x</p:attrName>
                                        </p:attrNameLst>
                                      </p:cBhvr>
                                      <p:tavLst>
                                        <p:tav tm="0">
                                          <p:val>
                                            <p:strVal val="#ppt_x"/>
                                          </p:val>
                                        </p:tav>
                                        <p:tav tm="100000">
                                          <p:val>
                                            <p:strVal val="#ppt_x"/>
                                          </p:val>
                                        </p:tav>
                                      </p:tavLst>
                                    </p:anim>
                                    <p:anim calcmode="lin" valueType="num">
                                      <p:cBhvr>
                                        <p:cTn id="31" dur="500" fill="hold" decel="100000"/>
                                        <p:tgtEl>
                                          <p:spTgt spid="19"/>
                                        </p:tgtEl>
                                        <p:attrNameLst>
                                          <p:attrName>ppt_y</p:attrName>
                                        </p:attrNameLst>
                                      </p:cBhvr>
                                      <p:tavLst>
                                        <p:tav tm="0">
                                          <p:val>
                                            <p:strVal val="#ppt_y+.04"/>
                                          </p:val>
                                        </p:tav>
                                        <p:tav tm="100000">
                                          <p:val>
                                            <p:strVal val="#ppt_y"/>
                                          </p:val>
                                        </p:tav>
                                      </p:tavLst>
                                    </p:anim>
                                  </p:childTnLst>
                                </p:cTn>
                              </p:par>
                              <p:par>
                                <p:cTn id="32" presetID="42" presetClass="entr" presetSubtype="0" fill="hold" grpId="0" nodeType="withEffect">
                                  <p:stCondLst>
                                    <p:cond delay="5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500"/>
                                        <p:tgtEl>
                                          <p:spTgt spid="20"/>
                                        </p:tgtEl>
                                      </p:cBhvr>
                                    </p:animEffect>
                                    <p:anim calcmode="lin" valueType="num">
                                      <p:cBhvr>
                                        <p:cTn id="35" dur="500" fill="hold" decel="100000"/>
                                        <p:tgtEl>
                                          <p:spTgt spid="20"/>
                                        </p:tgtEl>
                                        <p:attrNameLst>
                                          <p:attrName>ppt_x</p:attrName>
                                        </p:attrNameLst>
                                      </p:cBhvr>
                                      <p:tavLst>
                                        <p:tav tm="0">
                                          <p:val>
                                            <p:strVal val="#ppt_x"/>
                                          </p:val>
                                        </p:tav>
                                        <p:tav tm="100000">
                                          <p:val>
                                            <p:strVal val="#ppt_x"/>
                                          </p:val>
                                        </p:tav>
                                      </p:tavLst>
                                    </p:anim>
                                    <p:anim calcmode="lin" valueType="num">
                                      <p:cBhvr>
                                        <p:cTn id="36" dur="500" fill="hold" decel="100000"/>
                                        <p:tgtEl>
                                          <p:spTgt spid="20"/>
                                        </p:tgtEl>
                                        <p:attrNameLst>
                                          <p:attrName>ppt_y</p:attrName>
                                        </p:attrNameLst>
                                      </p:cBhvr>
                                      <p:tavLst>
                                        <p:tav tm="0">
                                          <p:val>
                                            <p:strVal val="#ppt_y+.04"/>
                                          </p:val>
                                        </p:tav>
                                        <p:tav tm="100000">
                                          <p:val>
                                            <p:strVal val="#ppt_y"/>
                                          </p:val>
                                        </p:tav>
                                      </p:tavLst>
                                    </p:anim>
                                  </p:childTnLst>
                                </p:cTn>
                              </p:par>
                            </p:childTnLst>
                          </p:cTn>
                        </p:par>
                        <p:par>
                          <p:cTn id="37" fill="hold">
                            <p:stCondLst>
                              <p:cond delay="1750"/>
                            </p:stCondLst>
                            <p:childTnLst>
                              <p:par>
                                <p:cTn id="38" presetID="42" presetClass="entr" presetSubtype="0" fill="hold" grpId="0" nodeType="afterEffect">
                                  <p:stCondLst>
                                    <p:cond delay="5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500"/>
                                        <p:tgtEl>
                                          <p:spTgt spid="21"/>
                                        </p:tgtEl>
                                      </p:cBhvr>
                                    </p:animEffect>
                                    <p:anim calcmode="lin" valueType="num">
                                      <p:cBhvr>
                                        <p:cTn id="41" dur="500" fill="hold" decel="100000"/>
                                        <p:tgtEl>
                                          <p:spTgt spid="21"/>
                                        </p:tgtEl>
                                        <p:attrNameLst>
                                          <p:attrName>ppt_x</p:attrName>
                                        </p:attrNameLst>
                                      </p:cBhvr>
                                      <p:tavLst>
                                        <p:tav tm="0">
                                          <p:val>
                                            <p:strVal val="#ppt_x"/>
                                          </p:val>
                                        </p:tav>
                                        <p:tav tm="100000">
                                          <p:val>
                                            <p:strVal val="#ppt_x"/>
                                          </p:val>
                                        </p:tav>
                                      </p:tavLst>
                                    </p:anim>
                                    <p:anim calcmode="lin" valueType="num">
                                      <p:cBhvr>
                                        <p:cTn id="42" dur="500" fill="hold" decel="100000"/>
                                        <p:tgtEl>
                                          <p:spTgt spid="21"/>
                                        </p:tgtEl>
                                        <p:attrNameLst>
                                          <p:attrName>ppt_y</p:attrName>
                                        </p:attrNameLst>
                                      </p:cBhvr>
                                      <p:tavLst>
                                        <p:tav tm="0">
                                          <p:val>
                                            <p:strVal val="#ppt_y+.04"/>
                                          </p:val>
                                        </p:tav>
                                        <p:tav tm="100000">
                                          <p:val>
                                            <p:strVal val="#ppt_y"/>
                                          </p:val>
                                        </p:tav>
                                      </p:tavLst>
                                    </p:anim>
                                  </p:childTnLst>
                                </p:cTn>
                              </p:par>
                              <p:par>
                                <p:cTn id="43" presetID="42" presetClass="entr" presetSubtype="0" fill="hold" grpId="0" nodeType="withEffect">
                                  <p:stCondLst>
                                    <p:cond delay="5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500"/>
                                        <p:tgtEl>
                                          <p:spTgt spid="22"/>
                                        </p:tgtEl>
                                      </p:cBhvr>
                                    </p:animEffect>
                                    <p:anim calcmode="lin" valueType="num">
                                      <p:cBhvr>
                                        <p:cTn id="46" dur="500" fill="hold" decel="100000"/>
                                        <p:tgtEl>
                                          <p:spTgt spid="22"/>
                                        </p:tgtEl>
                                        <p:attrNameLst>
                                          <p:attrName>ppt_x</p:attrName>
                                        </p:attrNameLst>
                                      </p:cBhvr>
                                      <p:tavLst>
                                        <p:tav tm="0">
                                          <p:val>
                                            <p:strVal val="#ppt_x"/>
                                          </p:val>
                                        </p:tav>
                                        <p:tav tm="100000">
                                          <p:val>
                                            <p:strVal val="#ppt_x"/>
                                          </p:val>
                                        </p:tav>
                                      </p:tavLst>
                                    </p:anim>
                                    <p:anim calcmode="lin" valueType="num">
                                      <p:cBhvr>
                                        <p:cTn id="47" dur="500" fill="hold" decel="100000"/>
                                        <p:tgtEl>
                                          <p:spTgt spid="22"/>
                                        </p:tgtEl>
                                        <p:attrNameLst>
                                          <p:attrName>ppt_y</p:attrName>
                                        </p:attrNameLst>
                                      </p:cBhvr>
                                      <p:tavLst>
                                        <p:tav tm="0">
                                          <p:val>
                                            <p:strVal val="#ppt_y+.04"/>
                                          </p:val>
                                        </p:tav>
                                        <p:tav tm="100000">
                                          <p:val>
                                            <p:strVal val="#ppt_y"/>
                                          </p:val>
                                        </p:tav>
                                      </p:tavLst>
                                    </p:anim>
                                  </p:childTnLst>
                                </p:cTn>
                              </p:par>
                              <p:par>
                                <p:cTn id="48" presetID="42" presetClass="entr" presetSubtype="0" fill="hold" grpId="0" nodeType="withEffect">
                                  <p:stCondLst>
                                    <p:cond delay="50"/>
                                  </p:stCondLst>
                                  <p:childTnLst>
                                    <p:set>
                                      <p:cBhvr>
                                        <p:cTn id="49" dur="1" fill="hold">
                                          <p:stCondLst>
                                            <p:cond delay="0"/>
                                          </p:stCondLst>
                                        </p:cTn>
                                        <p:tgtEl>
                                          <p:spTgt spid="23"/>
                                        </p:tgtEl>
                                        <p:attrNameLst>
                                          <p:attrName>style.visibility</p:attrName>
                                        </p:attrNameLst>
                                      </p:cBhvr>
                                      <p:to>
                                        <p:strVal val="visible"/>
                                      </p:to>
                                    </p:set>
                                    <p:animEffect transition="in" filter="fade">
                                      <p:cBhvr>
                                        <p:cTn id="50" dur="500"/>
                                        <p:tgtEl>
                                          <p:spTgt spid="23"/>
                                        </p:tgtEl>
                                      </p:cBhvr>
                                    </p:animEffect>
                                    <p:anim calcmode="lin" valueType="num">
                                      <p:cBhvr>
                                        <p:cTn id="51" dur="500" fill="hold" decel="100000"/>
                                        <p:tgtEl>
                                          <p:spTgt spid="23"/>
                                        </p:tgtEl>
                                        <p:attrNameLst>
                                          <p:attrName>ppt_x</p:attrName>
                                        </p:attrNameLst>
                                      </p:cBhvr>
                                      <p:tavLst>
                                        <p:tav tm="0">
                                          <p:val>
                                            <p:strVal val="#ppt_x"/>
                                          </p:val>
                                        </p:tav>
                                        <p:tav tm="100000">
                                          <p:val>
                                            <p:strVal val="#ppt_x"/>
                                          </p:val>
                                        </p:tav>
                                      </p:tavLst>
                                    </p:anim>
                                    <p:anim calcmode="lin" valueType="num">
                                      <p:cBhvr>
                                        <p:cTn id="52" dur="500" fill="hold" decel="100000"/>
                                        <p:tgtEl>
                                          <p:spTgt spid="23"/>
                                        </p:tgtEl>
                                        <p:attrNameLst>
                                          <p:attrName>ppt_y</p:attrName>
                                        </p:attrNameLst>
                                      </p:cBhvr>
                                      <p:tavLst>
                                        <p:tav tm="0">
                                          <p:val>
                                            <p:strVal val="#ppt_y+.04"/>
                                          </p:val>
                                        </p:tav>
                                        <p:tav tm="100000">
                                          <p:val>
                                            <p:strVal val="#ppt_y"/>
                                          </p:val>
                                        </p:tav>
                                      </p:tavLst>
                                    </p:anim>
                                  </p:childTnLst>
                                </p:cTn>
                              </p:par>
                            </p:childTnLst>
                          </p:cTn>
                        </p:par>
                        <p:par>
                          <p:cTn id="53" fill="hold">
                            <p:stCondLst>
                              <p:cond delay="2300"/>
                            </p:stCondLst>
                            <p:childTnLst>
                              <p:par>
                                <p:cTn id="54" presetID="42" presetClass="entr" presetSubtype="0" fill="hold" grpId="0" nodeType="afterEffect">
                                  <p:stCondLst>
                                    <p:cond delay="50"/>
                                  </p:stCondLst>
                                  <p:childTnLst>
                                    <p:set>
                                      <p:cBhvr>
                                        <p:cTn id="55" dur="1" fill="hold">
                                          <p:stCondLst>
                                            <p:cond delay="0"/>
                                          </p:stCondLst>
                                        </p:cTn>
                                        <p:tgtEl>
                                          <p:spTgt spid="24"/>
                                        </p:tgtEl>
                                        <p:attrNameLst>
                                          <p:attrName>style.visibility</p:attrName>
                                        </p:attrNameLst>
                                      </p:cBhvr>
                                      <p:to>
                                        <p:strVal val="visible"/>
                                      </p:to>
                                    </p:set>
                                    <p:animEffect transition="in" filter="fade">
                                      <p:cBhvr>
                                        <p:cTn id="56" dur="500"/>
                                        <p:tgtEl>
                                          <p:spTgt spid="24"/>
                                        </p:tgtEl>
                                      </p:cBhvr>
                                    </p:animEffect>
                                    <p:anim calcmode="lin" valueType="num">
                                      <p:cBhvr>
                                        <p:cTn id="57" dur="500" fill="hold" decel="100000"/>
                                        <p:tgtEl>
                                          <p:spTgt spid="24"/>
                                        </p:tgtEl>
                                        <p:attrNameLst>
                                          <p:attrName>ppt_x</p:attrName>
                                        </p:attrNameLst>
                                      </p:cBhvr>
                                      <p:tavLst>
                                        <p:tav tm="0">
                                          <p:val>
                                            <p:strVal val="#ppt_x"/>
                                          </p:val>
                                        </p:tav>
                                        <p:tav tm="100000">
                                          <p:val>
                                            <p:strVal val="#ppt_x"/>
                                          </p:val>
                                        </p:tav>
                                      </p:tavLst>
                                    </p:anim>
                                    <p:anim calcmode="lin" valueType="num">
                                      <p:cBhvr>
                                        <p:cTn id="58" dur="500" fill="hold" decel="100000"/>
                                        <p:tgtEl>
                                          <p:spTgt spid="24"/>
                                        </p:tgtEl>
                                        <p:attrNameLst>
                                          <p:attrName>ppt_y</p:attrName>
                                        </p:attrNameLst>
                                      </p:cBhvr>
                                      <p:tavLst>
                                        <p:tav tm="0">
                                          <p:val>
                                            <p:strVal val="#ppt_y+.04"/>
                                          </p:val>
                                        </p:tav>
                                        <p:tav tm="100000">
                                          <p:val>
                                            <p:strVal val="#ppt_y"/>
                                          </p:val>
                                        </p:tav>
                                      </p:tavLst>
                                    </p:anim>
                                  </p:childTnLst>
                                </p:cTn>
                              </p:par>
                              <p:par>
                                <p:cTn id="59" presetID="42" presetClass="entr" presetSubtype="0" fill="hold" grpId="0" nodeType="withEffect">
                                  <p:stCondLst>
                                    <p:cond delay="50"/>
                                  </p:stCondLst>
                                  <p:childTnLst>
                                    <p:set>
                                      <p:cBhvr>
                                        <p:cTn id="60" dur="1" fill="hold">
                                          <p:stCondLst>
                                            <p:cond delay="0"/>
                                          </p:stCondLst>
                                        </p:cTn>
                                        <p:tgtEl>
                                          <p:spTgt spid="25"/>
                                        </p:tgtEl>
                                        <p:attrNameLst>
                                          <p:attrName>style.visibility</p:attrName>
                                        </p:attrNameLst>
                                      </p:cBhvr>
                                      <p:to>
                                        <p:strVal val="visible"/>
                                      </p:to>
                                    </p:set>
                                    <p:animEffect transition="in" filter="fade">
                                      <p:cBhvr>
                                        <p:cTn id="61" dur="500"/>
                                        <p:tgtEl>
                                          <p:spTgt spid="25"/>
                                        </p:tgtEl>
                                      </p:cBhvr>
                                    </p:animEffect>
                                    <p:anim calcmode="lin" valueType="num">
                                      <p:cBhvr>
                                        <p:cTn id="62" dur="500" fill="hold" decel="100000"/>
                                        <p:tgtEl>
                                          <p:spTgt spid="25"/>
                                        </p:tgtEl>
                                        <p:attrNameLst>
                                          <p:attrName>ppt_x</p:attrName>
                                        </p:attrNameLst>
                                      </p:cBhvr>
                                      <p:tavLst>
                                        <p:tav tm="0">
                                          <p:val>
                                            <p:strVal val="#ppt_x"/>
                                          </p:val>
                                        </p:tav>
                                        <p:tav tm="100000">
                                          <p:val>
                                            <p:strVal val="#ppt_x"/>
                                          </p:val>
                                        </p:tav>
                                      </p:tavLst>
                                    </p:anim>
                                    <p:anim calcmode="lin" valueType="num">
                                      <p:cBhvr>
                                        <p:cTn id="63" dur="500" fill="hold" decel="100000"/>
                                        <p:tgtEl>
                                          <p:spTgt spid="25"/>
                                        </p:tgtEl>
                                        <p:attrNameLst>
                                          <p:attrName>ppt_y</p:attrName>
                                        </p:attrNameLst>
                                      </p:cBhvr>
                                      <p:tavLst>
                                        <p:tav tm="0">
                                          <p:val>
                                            <p:strVal val="#ppt_y+.04"/>
                                          </p:val>
                                        </p:tav>
                                        <p:tav tm="100000">
                                          <p:val>
                                            <p:strVal val="#ppt_y"/>
                                          </p:val>
                                        </p:tav>
                                      </p:tavLst>
                                    </p:anim>
                                  </p:childTnLst>
                                </p:cTn>
                              </p:par>
                              <p:par>
                                <p:cTn id="64" presetID="42" presetClass="entr" presetSubtype="0" fill="hold" grpId="0" nodeType="withEffect">
                                  <p:stCondLst>
                                    <p:cond delay="50"/>
                                  </p:stCondLst>
                                  <p:childTnLst>
                                    <p:set>
                                      <p:cBhvr>
                                        <p:cTn id="65" dur="1" fill="hold">
                                          <p:stCondLst>
                                            <p:cond delay="0"/>
                                          </p:stCondLst>
                                        </p:cTn>
                                        <p:tgtEl>
                                          <p:spTgt spid="26"/>
                                        </p:tgtEl>
                                        <p:attrNameLst>
                                          <p:attrName>style.visibility</p:attrName>
                                        </p:attrNameLst>
                                      </p:cBhvr>
                                      <p:to>
                                        <p:strVal val="visible"/>
                                      </p:to>
                                    </p:set>
                                    <p:animEffect transition="in" filter="fade">
                                      <p:cBhvr>
                                        <p:cTn id="66" dur="500"/>
                                        <p:tgtEl>
                                          <p:spTgt spid="26"/>
                                        </p:tgtEl>
                                      </p:cBhvr>
                                    </p:animEffect>
                                    <p:anim calcmode="lin" valueType="num">
                                      <p:cBhvr>
                                        <p:cTn id="67" dur="500" fill="hold" decel="100000"/>
                                        <p:tgtEl>
                                          <p:spTgt spid="26"/>
                                        </p:tgtEl>
                                        <p:attrNameLst>
                                          <p:attrName>ppt_x</p:attrName>
                                        </p:attrNameLst>
                                      </p:cBhvr>
                                      <p:tavLst>
                                        <p:tav tm="0">
                                          <p:val>
                                            <p:strVal val="#ppt_x"/>
                                          </p:val>
                                        </p:tav>
                                        <p:tav tm="100000">
                                          <p:val>
                                            <p:strVal val="#ppt_x"/>
                                          </p:val>
                                        </p:tav>
                                      </p:tavLst>
                                    </p:anim>
                                    <p:anim calcmode="lin" valueType="num">
                                      <p:cBhvr>
                                        <p:cTn id="68" dur="500" fill="hold" decel="100000"/>
                                        <p:tgtEl>
                                          <p:spTgt spid="26"/>
                                        </p:tgtEl>
                                        <p:attrNameLst>
                                          <p:attrName>ppt_y</p:attrName>
                                        </p:attrNameLst>
                                      </p:cBhvr>
                                      <p:tavLst>
                                        <p:tav tm="0">
                                          <p:val>
                                            <p:strVal val="#ppt_y+.04"/>
                                          </p:val>
                                        </p:tav>
                                        <p:tav tm="100000">
                                          <p:val>
                                            <p:strVal val="#ppt_y"/>
                                          </p:val>
                                        </p:tav>
                                      </p:tavLst>
                                    </p:anim>
                                  </p:childTnLst>
                                </p:cTn>
                              </p:par>
                            </p:childTnLst>
                          </p:cTn>
                        </p:par>
                        <p:par>
                          <p:cTn id="69" fill="hold">
                            <p:stCondLst>
                              <p:cond delay="2850"/>
                            </p:stCondLst>
                            <p:childTnLst>
                              <p:par>
                                <p:cTn id="70" presetID="42" presetClass="entr" presetSubtype="0" fill="hold" grpId="0" nodeType="afterEffect">
                                  <p:stCondLst>
                                    <p:cond delay="50"/>
                                  </p:stCondLst>
                                  <p:childTnLst>
                                    <p:set>
                                      <p:cBhvr>
                                        <p:cTn id="71" dur="1" fill="hold">
                                          <p:stCondLst>
                                            <p:cond delay="0"/>
                                          </p:stCondLst>
                                        </p:cTn>
                                        <p:tgtEl>
                                          <p:spTgt spid="27"/>
                                        </p:tgtEl>
                                        <p:attrNameLst>
                                          <p:attrName>style.visibility</p:attrName>
                                        </p:attrNameLst>
                                      </p:cBhvr>
                                      <p:to>
                                        <p:strVal val="visible"/>
                                      </p:to>
                                    </p:set>
                                    <p:animEffect transition="in" filter="fade">
                                      <p:cBhvr>
                                        <p:cTn id="72" dur="500"/>
                                        <p:tgtEl>
                                          <p:spTgt spid="27"/>
                                        </p:tgtEl>
                                      </p:cBhvr>
                                    </p:animEffect>
                                    <p:anim calcmode="lin" valueType="num">
                                      <p:cBhvr>
                                        <p:cTn id="73" dur="500" fill="hold" decel="100000"/>
                                        <p:tgtEl>
                                          <p:spTgt spid="27"/>
                                        </p:tgtEl>
                                        <p:attrNameLst>
                                          <p:attrName>ppt_x</p:attrName>
                                        </p:attrNameLst>
                                      </p:cBhvr>
                                      <p:tavLst>
                                        <p:tav tm="0">
                                          <p:val>
                                            <p:strVal val="#ppt_x"/>
                                          </p:val>
                                        </p:tav>
                                        <p:tav tm="100000">
                                          <p:val>
                                            <p:strVal val="#ppt_x"/>
                                          </p:val>
                                        </p:tav>
                                      </p:tavLst>
                                    </p:anim>
                                    <p:anim calcmode="lin" valueType="num">
                                      <p:cBhvr>
                                        <p:cTn id="74" dur="500" fill="hold" decel="100000"/>
                                        <p:tgtEl>
                                          <p:spTgt spid="27"/>
                                        </p:tgtEl>
                                        <p:attrNameLst>
                                          <p:attrName>ppt_y</p:attrName>
                                        </p:attrNameLst>
                                      </p:cBhvr>
                                      <p:tavLst>
                                        <p:tav tm="0">
                                          <p:val>
                                            <p:strVal val="#ppt_y+.04"/>
                                          </p:val>
                                        </p:tav>
                                        <p:tav tm="100000">
                                          <p:val>
                                            <p:strVal val="#ppt_y"/>
                                          </p:val>
                                        </p:tav>
                                      </p:tavLst>
                                    </p:anim>
                                  </p:childTnLst>
                                </p:cTn>
                              </p:par>
                              <p:par>
                                <p:cTn id="75" presetID="42" presetClass="entr" presetSubtype="0" fill="hold" grpId="0" nodeType="withEffect">
                                  <p:stCondLst>
                                    <p:cond delay="5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500"/>
                                        <p:tgtEl>
                                          <p:spTgt spid="28"/>
                                        </p:tgtEl>
                                      </p:cBhvr>
                                    </p:animEffect>
                                    <p:anim calcmode="lin" valueType="num">
                                      <p:cBhvr>
                                        <p:cTn id="78" dur="500" fill="hold" decel="100000"/>
                                        <p:tgtEl>
                                          <p:spTgt spid="28"/>
                                        </p:tgtEl>
                                        <p:attrNameLst>
                                          <p:attrName>ppt_x</p:attrName>
                                        </p:attrNameLst>
                                      </p:cBhvr>
                                      <p:tavLst>
                                        <p:tav tm="0">
                                          <p:val>
                                            <p:strVal val="#ppt_x"/>
                                          </p:val>
                                        </p:tav>
                                        <p:tav tm="100000">
                                          <p:val>
                                            <p:strVal val="#ppt_x"/>
                                          </p:val>
                                        </p:tav>
                                      </p:tavLst>
                                    </p:anim>
                                    <p:anim calcmode="lin" valueType="num">
                                      <p:cBhvr>
                                        <p:cTn id="79" dur="500" fill="hold" decel="100000"/>
                                        <p:tgtEl>
                                          <p:spTgt spid="28"/>
                                        </p:tgtEl>
                                        <p:attrNameLst>
                                          <p:attrName>ppt_y</p:attrName>
                                        </p:attrNameLst>
                                      </p:cBhvr>
                                      <p:tavLst>
                                        <p:tav tm="0">
                                          <p:val>
                                            <p:strVal val="#ppt_y+.04"/>
                                          </p:val>
                                        </p:tav>
                                        <p:tav tm="100000">
                                          <p:val>
                                            <p:strVal val="#ppt_y"/>
                                          </p:val>
                                        </p:tav>
                                      </p:tavLst>
                                    </p:anim>
                                  </p:childTnLst>
                                </p:cTn>
                              </p:par>
                              <p:par>
                                <p:cTn id="80" presetID="42" presetClass="entr" presetSubtype="0" fill="hold" grpId="0" nodeType="withEffect">
                                  <p:stCondLst>
                                    <p:cond delay="50"/>
                                  </p:stCondLst>
                                  <p:childTnLst>
                                    <p:set>
                                      <p:cBhvr>
                                        <p:cTn id="81" dur="1" fill="hold">
                                          <p:stCondLst>
                                            <p:cond delay="0"/>
                                          </p:stCondLst>
                                        </p:cTn>
                                        <p:tgtEl>
                                          <p:spTgt spid="29"/>
                                        </p:tgtEl>
                                        <p:attrNameLst>
                                          <p:attrName>style.visibility</p:attrName>
                                        </p:attrNameLst>
                                      </p:cBhvr>
                                      <p:to>
                                        <p:strVal val="visible"/>
                                      </p:to>
                                    </p:set>
                                    <p:animEffect transition="in" filter="fade">
                                      <p:cBhvr>
                                        <p:cTn id="82" dur="500"/>
                                        <p:tgtEl>
                                          <p:spTgt spid="29"/>
                                        </p:tgtEl>
                                      </p:cBhvr>
                                    </p:animEffect>
                                    <p:anim calcmode="lin" valueType="num">
                                      <p:cBhvr>
                                        <p:cTn id="83" dur="500" fill="hold" decel="100000"/>
                                        <p:tgtEl>
                                          <p:spTgt spid="29"/>
                                        </p:tgtEl>
                                        <p:attrNameLst>
                                          <p:attrName>ppt_x</p:attrName>
                                        </p:attrNameLst>
                                      </p:cBhvr>
                                      <p:tavLst>
                                        <p:tav tm="0">
                                          <p:val>
                                            <p:strVal val="#ppt_x"/>
                                          </p:val>
                                        </p:tav>
                                        <p:tav tm="100000">
                                          <p:val>
                                            <p:strVal val="#ppt_x"/>
                                          </p:val>
                                        </p:tav>
                                      </p:tavLst>
                                    </p:anim>
                                    <p:anim calcmode="lin" valueType="num">
                                      <p:cBhvr>
                                        <p:cTn id="84" dur="500" fill="hold" decel="100000"/>
                                        <p:tgtEl>
                                          <p:spTgt spid="29"/>
                                        </p:tgtEl>
                                        <p:attrNameLst>
                                          <p:attrName>ppt_y</p:attrName>
                                        </p:attrNameLst>
                                      </p:cBhvr>
                                      <p:tavLst>
                                        <p:tav tm="0">
                                          <p:val>
                                            <p:strVal val="#ppt_y+.04"/>
                                          </p:val>
                                        </p:tav>
                                        <p:tav tm="100000">
                                          <p:val>
                                            <p:strVal val="#ppt_y"/>
                                          </p:val>
                                        </p:tav>
                                      </p:tavLst>
                                    </p:anim>
                                  </p:childTnLst>
                                </p:cTn>
                              </p:par>
                            </p:childTnLst>
                          </p:cTn>
                        </p:par>
                        <p:par>
                          <p:cTn id="85" fill="hold">
                            <p:stCondLst>
                              <p:cond delay="3400"/>
                            </p:stCondLst>
                            <p:childTnLst>
                              <p:par>
                                <p:cTn id="86" presetID="42" presetClass="entr" presetSubtype="0" fill="hold" grpId="0" nodeType="afterEffect">
                                  <p:stCondLst>
                                    <p:cond delay="50"/>
                                  </p:stCondLst>
                                  <p:childTnLst>
                                    <p:set>
                                      <p:cBhvr>
                                        <p:cTn id="87" dur="1" fill="hold">
                                          <p:stCondLst>
                                            <p:cond delay="0"/>
                                          </p:stCondLst>
                                        </p:cTn>
                                        <p:tgtEl>
                                          <p:spTgt spid="30"/>
                                        </p:tgtEl>
                                        <p:attrNameLst>
                                          <p:attrName>style.visibility</p:attrName>
                                        </p:attrNameLst>
                                      </p:cBhvr>
                                      <p:to>
                                        <p:strVal val="visible"/>
                                      </p:to>
                                    </p:set>
                                    <p:animEffect transition="in" filter="fade">
                                      <p:cBhvr>
                                        <p:cTn id="88" dur="500"/>
                                        <p:tgtEl>
                                          <p:spTgt spid="30"/>
                                        </p:tgtEl>
                                      </p:cBhvr>
                                    </p:animEffect>
                                    <p:anim calcmode="lin" valueType="num">
                                      <p:cBhvr>
                                        <p:cTn id="89" dur="500" fill="hold" decel="100000"/>
                                        <p:tgtEl>
                                          <p:spTgt spid="30"/>
                                        </p:tgtEl>
                                        <p:attrNameLst>
                                          <p:attrName>ppt_x</p:attrName>
                                        </p:attrNameLst>
                                      </p:cBhvr>
                                      <p:tavLst>
                                        <p:tav tm="0">
                                          <p:val>
                                            <p:strVal val="#ppt_x"/>
                                          </p:val>
                                        </p:tav>
                                        <p:tav tm="100000">
                                          <p:val>
                                            <p:strVal val="#ppt_x"/>
                                          </p:val>
                                        </p:tav>
                                      </p:tavLst>
                                    </p:anim>
                                    <p:anim calcmode="lin" valueType="num">
                                      <p:cBhvr>
                                        <p:cTn id="90" dur="500" fill="hold" decel="100000"/>
                                        <p:tgtEl>
                                          <p:spTgt spid="30"/>
                                        </p:tgtEl>
                                        <p:attrNameLst>
                                          <p:attrName>ppt_y</p:attrName>
                                        </p:attrNameLst>
                                      </p:cBhvr>
                                      <p:tavLst>
                                        <p:tav tm="0">
                                          <p:val>
                                            <p:strVal val="#ppt_y+.04"/>
                                          </p:val>
                                        </p:tav>
                                        <p:tav tm="100000">
                                          <p:val>
                                            <p:strVal val="#ppt_y"/>
                                          </p:val>
                                        </p:tav>
                                      </p:tavLst>
                                    </p:anim>
                                  </p:childTnLst>
                                </p:cTn>
                              </p:par>
                              <p:par>
                                <p:cTn id="91" presetID="42" presetClass="entr" presetSubtype="0" fill="hold" grpId="0" nodeType="withEffect">
                                  <p:stCondLst>
                                    <p:cond delay="50"/>
                                  </p:stCondLst>
                                  <p:childTnLst>
                                    <p:set>
                                      <p:cBhvr>
                                        <p:cTn id="92" dur="1" fill="hold">
                                          <p:stCondLst>
                                            <p:cond delay="0"/>
                                          </p:stCondLst>
                                        </p:cTn>
                                        <p:tgtEl>
                                          <p:spTgt spid="31"/>
                                        </p:tgtEl>
                                        <p:attrNameLst>
                                          <p:attrName>style.visibility</p:attrName>
                                        </p:attrNameLst>
                                      </p:cBhvr>
                                      <p:to>
                                        <p:strVal val="visible"/>
                                      </p:to>
                                    </p:set>
                                    <p:animEffect transition="in" filter="fade">
                                      <p:cBhvr>
                                        <p:cTn id="93" dur="500"/>
                                        <p:tgtEl>
                                          <p:spTgt spid="31"/>
                                        </p:tgtEl>
                                      </p:cBhvr>
                                    </p:animEffect>
                                    <p:anim calcmode="lin" valueType="num">
                                      <p:cBhvr>
                                        <p:cTn id="94" dur="500" fill="hold" decel="100000"/>
                                        <p:tgtEl>
                                          <p:spTgt spid="31"/>
                                        </p:tgtEl>
                                        <p:attrNameLst>
                                          <p:attrName>ppt_x</p:attrName>
                                        </p:attrNameLst>
                                      </p:cBhvr>
                                      <p:tavLst>
                                        <p:tav tm="0">
                                          <p:val>
                                            <p:strVal val="#ppt_x"/>
                                          </p:val>
                                        </p:tav>
                                        <p:tav tm="100000">
                                          <p:val>
                                            <p:strVal val="#ppt_x"/>
                                          </p:val>
                                        </p:tav>
                                      </p:tavLst>
                                    </p:anim>
                                    <p:anim calcmode="lin" valueType="num">
                                      <p:cBhvr>
                                        <p:cTn id="95" dur="500" fill="hold" decel="100000"/>
                                        <p:tgtEl>
                                          <p:spTgt spid="31"/>
                                        </p:tgtEl>
                                        <p:attrNameLst>
                                          <p:attrName>ppt_y</p:attrName>
                                        </p:attrNameLst>
                                      </p:cBhvr>
                                      <p:tavLst>
                                        <p:tav tm="0">
                                          <p:val>
                                            <p:strVal val="#ppt_y+.04"/>
                                          </p:val>
                                        </p:tav>
                                        <p:tav tm="100000">
                                          <p:val>
                                            <p:strVal val="#ppt_y"/>
                                          </p:val>
                                        </p:tav>
                                      </p:tavLst>
                                    </p:anim>
                                  </p:childTnLst>
                                </p:cTn>
                              </p:par>
                              <p:par>
                                <p:cTn id="96" presetID="42" presetClass="entr" presetSubtype="0" fill="hold" grpId="0" nodeType="withEffect">
                                  <p:stCondLst>
                                    <p:cond delay="50"/>
                                  </p:stCondLst>
                                  <p:childTnLst>
                                    <p:set>
                                      <p:cBhvr>
                                        <p:cTn id="97" dur="1" fill="hold">
                                          <p:stCondLst>
                                            <p:cond delay="0"/>
                                          </p:stCondLst>
                                        </p:cTn>
                                        <p:tgtEl>
                                          <p:spTgt spid="32"/>
                                        </p:tgtEl>
                                        <p:attrNameLst>
                                          <p:attrName>style.visibility</p:attrName>
                                        </p:attrNameLst>
                                      </p:cBhvr>
                                      <p:to>
                                        <p:strVal val="visible"/>
                                      </p:to>
                                    </p:set>
                                    <p:animEffect transition="in" filter="fade">
                                      <p:cBhvr>
                                        <p:cTn id="98" dur="500"/>
                                        <p:tgtEl>
                                          <p:spTgt spid="32"/>
                                        </p:tgtEl>
                                      </p:cBhvr>
                                    </p:animEffect>
                                    <p:anim calcmode="lin" valueType="num">
                                      <p:cBhvr>
                                        <p:cTn id="99" dur="500" fill="hold" decel="100000"/>
                                        <p:tgtEl>
                                          <p:spTgt spid="32"/>
                                        </p:tgtEl>
                                        <p:attrNameLst>
                                          <p:attrName>ppt_x</p:attrName>
                                        </p:attrNameLst>
                                      </p:cBhvr>
                                      <p:tavLst>
                                        <p:tav tm="0">
                                          <p:val>
                                            <p:strVal val="#ppt_x"/>
                                          </p:val>
                                        </p:tav>
                                        <p:tav tm="100000">
                                          <p:val>
                                            <p:strVal val="#ppt_x"/>
                                          </p:val>
                                        </p:tav>
                                      </p:tavLst>
                                    </p:anim>
                                    <p:anim calcmode="lin" valueType="num">
                                      <p:cBhvr>
                                        <p:cTn id="100" dur="500" fill="hold" decel="100000"/>
                                        <p:tgtEl>
                                          <p:spTgt spid="32"/>
                                        </p:tgtEl>
                                        <p:attrNameLst>
                                          <p:attrName>ppt_y</p:attrName>
                                        </p:attrNameLst>
                                      </p:cBhvr>
                                      <p:tavLst>
                                        <p:tav tm="0">
                                          <p:val>
                                            <p:strVal val="#ppt_y+.04"/>
                                          </p:val>
                                        </p:tav>
                                        <p:tav tm="100000">
                                          <p:val>
                                            <p:strVal val="#ppt_y"/>
                                          </p:val>
                                        </p:tav>
                                      </p:tavLst>
                                    </p:anim>
                                  </p:childTnLst>
                                </p:cTn>
                              </p:par>
                            </p:childTnLst>
                          </p:cTn>
                        </p:par>
                        <p:par>
                          <p:cTn id="101" fill="hold">
                            <p:stCondLst>
                              <p:cond delay="3950"/>
                            </p:stCondLst>
                            <p:childTnLst>
                              <p:par>
                                <p:cTn id="102" presetID="42" presetClass="entr" presetSubtype="0" fill="hold" grpId="0" nodeType="afterEffect">
                                  <p:stCondLst>
                                    <p:cond delay="50"/>
                                  </p:stCondLst>
                                  <p:childTnLst>
                                    <p:set>
                                      <p:cBhvr>
                                        <p:cTn id="103" dur="1" fill="hold">
                                          <p:stCondLst>
                                            <p:cond delay="0"/>
                                          </p:stCondLst>
                                        </p:cTn>
                                        <p:tgtEl>
                                          <p:spTgt spid="33"/>
                                        </p:tgtEl>
                                        <p:attrNameLst>
                                          <p:attrName>style.visibility</p:attrName>
                                        </p:attrNameLst>
                                      </p:cBhvr>
                                      <p:to>
                                        <p:strVal val="visible"/>
                                      </p:to>
                                    </p:set>
                                    <p:animEffect transition="in" filter="fade">
                                      <p:cBhvr>
                                        <p:cTn id="104" dur="500"/>
                                        <p:tgtEl>
                                          <p:spTgt spid="33"/>
                                        </p:tgtEl>
                                      </p:cBhvr>
                                    </p:animEffect>
                                    <p:anim calcmode="lin" valueType="num">
                                      <p:cBhvr>
                                        <p:cTn id="105" dur="500" fill="hold" decel="100000"/>
                                        <p:tgtEl>
                                          <p:spTgt spid="33"/>
                                        </p:tgtEl>
                                        <p:attrNameLst>
                                          <p:attrName>ppt_x</p:attrName>
                                        </p:attrNameLst>
                                      </p:cBhvr>
                                      <p:tavLst>
                                        <p:tav tm="0">
                                          <p:val>
                                            <p:strVal val="#ppt_x"/>
                                          </p:val>
                                        </p:tav>
                                        <p:tav tm="100000">
                                          <p:val>
                                            <p:strVal val="#ppt_x"/>
                                          </p:val>
                                        </p:tav>
                                      </p:tavLst>
                                    </p:anim>
                                    <p:anim calcmode="lin" valueType="num">
                                      <p:cBhvr>
                                        <p:cTn id="106" dur="500" fill="hold" decel="100000"/>
                                        <p:tgtEl>
                                          <p:spTgt spid="33"/>
                                        </p:tgtEl>
                                        <p:attrNameLst>
                                          <p:attrName>ppt_y</p:attrName>
                                        </p:attrNameLst>
                                      </p:cBhvr>
                                      <p:tavLst>
                                        <p:tav tm="0">
                                          <p:val>
                                            <p:strVal val="#ppt_y+.04"/>
                                          </p:val>
                                        </p:tav>
                                        <p:tav tm="100000">
                                          <p:val>
                                            <p:strVal val="#ppt_y"/>
                                          </p:val>
                                        </p:tav>
                                      </p:tavLst>
                                    </p:anim>
                                  </p:childTnLst>
                                </p:cTn>
                              </p:par>
                              <p:par>
                                <p:cTn id="107" presetID="42" presetClass="entr" presetSubtype="0" fill="hold" grpId="0" nodeType="withEffect">
                                  <p:stCondLst>
                                    <p:cond delay="50"/>
                                  </p:stCondLst>
                                  <p:childTnLst>
                                    <p:set>
                                      <p:cBhvr>
                                        <p:cTn id="108" dur="1" fill="hold">
                                          <p:stCondLst>
                                            <p:cond delay="0"/>
                                          </p:stCondLst>
                                        </p:cTn>
                                        <p:tgtEl>
                                          <p:spTgt spid="34"/>
                                        </p:tgtEl>
                                        <p:attrNameLst>
                                          <p:attrName>style.visibility</p:attrName>
                                        </p:attrNameLst>
                                      </p:cBhvr>
                                      <p:to>
                                        <p:strVal val="visible"/>
                                      </p:to>
                                    </p:set>
                                    <p:animEffect transition="in" filter="fade">
                                      <p:cBhvr>
                                        <p:cTn id="109" dur="500"/>
                                        <p:tgtEl>
                                          <p:spTgt spid="34"/>
                                        </p:tgtEl>
                                      </p:cBhvr>
                                    </p:animEffect>
                                    <p:anim calcmode="lin" valueType="num">
                                      <p:cBhvr>
                                        <p:cTn id="110" dur="500" fill="hold" decel="100000"/>
                                        <p:tgtEl>
                                          <p:spTgt spid="34"/>
                                        </p:tgtEl>
                                        <p:attrNameLst>
                                          <p:attrName>ppt_x</p:attrName>
                                        </p:attrNameLst>
                                      </p:cBhvr>
                                      <p:tavLst>
                                        <p:tav tm="0">
                                          <p:val>
                                            <p:strVal val="#ppt_x"/>
                                          </p:val>
                                        </p:tav>
                                        <p:tav tm="100000">
                                          <p:val>
                                            <p:strVal val="#ppt_x"/>
                                          </p:val>
                                        </p:tav>
                                      </p:tavLst>
                                    </p:anim>
                                    <p:anim calcmode="lin" valueType="num">
                                      <p:cBhvr>
                                        <p:cTn id="111" dur="500" fill="hold" decel="100000"/>
                                        <p:tgtEl>
                                          <p:spTgt spid="34"/>
                                        </p:tgtEl>
                                        <p:attrNameLst>
                                          <p:attrName>ppt_y</p:attrName>
                                        </p:attrNameLst>
                                      </p:cBhvr>
                                      <p:tavLst>
                                        <p:tav tm="0">
                                          <p:val>
                                            <p:strVal val="#ppt_y+.04"/>
                                          </p:val>
                                        </p:tav>
                                        <p:tav tm="100000">
                                          <p:val>
                                            <p:strVal val="#ppt_y"/>
                                          </p:val>
                                        </p:tav>
                                      </p:tavLst>
                                    </p:anim>
                                  </p:childTnLst>
                                </p:cTn>
                              </p:par>
                              <p:par>
                                <p:cTn id="112" presetID="42" presetClass="entr" presetSubtype="0" fill="hold" grpId="0" nodeType="withEffect">
                                  <p:stCondLst>
                                    <p:cond delay="50"/>
                                  </p:stCondLst>
                                  <p:childTnLst>
                                    <p:set>
                                      <p:cBhvr>
                                        <p:cTn id="113" dur="1" fill="hold">
                                          <p:stCondLst>
                                            <p:cond delay="0"/>
                                          </p:stCondLst>
                                        </p:cTn>
                                        <p:tgtEl>
                                          <p:spTgt spid="35"/>
                                        </p:tgtEl>
                                        <p:attrNameLst>
                                          <p:attrName>style.visibility</p:attrName>
                                        </p:attrNameLst>
                                      </p:cBhvr>
                                      <p:to>
                                        <p:strVal val="visible"/>
                                      </p:to>
                                    </p:set>
                                    <p:animEffect transition="in" filter="fade">
                                      <p:cBhvr>
                                        <p:cTn id="114" dur="500"/>
                                        <p:tgtEl>
                                          <p:spTgt spid="35"/>
                                        </p:tgtEl>
                                      </p:cBhvr>
                                    </p:animEffect>
                                    <p:anim calcmode="lin" valueType="num">
                                      <p:cBhvr>
                                        <p:cTn id="115" dur="500" fill="hold" decel="100000"/>
                                        <p:tgtEl>
                                          <p:spTgt spid="35"/>
                                        </p:tgtEl>
                                        <p:attrNameLst>
                                          <p:attrName>ppt_x</p:attrName>
                                        </p:attrNameLst>
                                      </p:cBhvr>
                                      <p:tavLst>
                                        <p:tav tm="0">
                                          <p:val>
                                            <p:strVal val="#ppt_x"/>
                                          </p:val>
                                        </p:tav>
                                        <p:tav tm="100000">
                                          <p:val>
                                            <p:strVal val="#ppt_x"/>
                                          </p:val>
                                        </p:tav>
                                      </p:tavLst>
                                    </p:anim>
                                    <p:anim calcmode="lin" valueType="num">
                                      <p:cBhvr>
                                        <p:cTn id="116" dur="500" fill="hold" decel="100000"/>
                                        <p:tgtEl>
                                          <p:spTgt spid="35"/>
                                        </p:tgtEl>
                                        <p:attrNameLst>
                                          <p:attrName>ppt_y</p:attrName>
                                        </p:attrNameLst>
                                      </p:cBhvr>
                                      <p:tavLst>
                                        <p:tav tm="0">
                                          <p:val>
                                            <p:strVal val="#ppt_y+.04"/>
                                          </p:val>
                                        </p:tav>
                                        <p:tav tm="100000">
                                          <p:val>
                                            <p:strVal val="#ppt_y"/>
                                          </p:val>
                                        </p:tav>
                                      </p:tavLst>
                                    </p:anim>
                                  </p:childTnLst>
                                </p:cTn>
                              </p:par>
                            </p:childTnLst>
                          </p:cTn>
                        </p:par>
                        <p:par>
                          <p:cTn id="117" fill="hold">
                            <p:stCondLst>
                              <p:cond delay="4500"/>
                            </p:stCondLst>
                            <p:childTnLst>
                              <p:par>
                                <p:cTn id="118" presetID="42" presetClass="entr" presetSubtype="0" fill="hold" grpId="0" nodeType="afterEffect">
                                  <p:stCondLst>
                                    <p:cond delay="50"/>
                                  </p:stCondLst>
                                  <p:childTnLst>
                                    <p:set>
                                      <p:cBhvr>
                                        <p:cTn id="119" dur="1" fill="hold">
                                          <p:stCondLst>
                                            <p:cond delay="0"/>
                                          </p:stCondLst>
                                        </p:cTn>
                                        <p:tgtEl>
                                          <p:spTgt spid="36"/>
                                        </p:tgtEl>
                                        <p:attrNameLst>
                                          <p:attrName>style.visibility</p:attrName>
                                        </p:attrNameLst>
                                      </p:cBhvr>
                                      <p:to>
                                        <p:strVal val="visible"/>
                                      </p:to>
                                    </p:set>
                                    <p:animEffect transition="in" filter="fade">
                                      <p:cBhvr>
                                        <p:cTn id="120" dur="500"/>
                                        <p:tgtEl>
                                          <p:spTgt spid="36"/>
                                        </p:tgtEl>
                                      </p:cBhvr>
                                    </p:animEffect>
                                    <p:anim calcmode="lin" valueType="num">
                                      <p:cBhvr>
                                        <p:cTn id="121" dur="500" fill="hold" decel="100000"/>
                                        <p:tgtEl>
                                          <p:spTgt spid="36"/>
                                        </p:tgtEl>
                                        <p:attrNameLst>
                                          <p:attrName>ppt_x</p:attrName>
                                        </p:attrNameLst>
                                      </p:cBhvr>
                                      <p:tavLst>
                                        <p:tav tm="0">
                                          <p:val>
                                            <p:strVal val="#ppt_x"/>
                                          </p:val>
                                        </p:tav>
                                        <p:tav tm="100000">
                                          <p:val>
                                            <p:strVal val="#ppt_x"/>
                                          </p:val>
                                        </p:tav>
                                      </p:tavLst>
                                    </p:anim>
                                    <p:anim calcmode="lin" valueType="num">
                                      <p:cBhvr>
                                        <p:cTn id="122" dur="500" fill="hold" decel="100000"/>
                                        <p:tgtEl>
                                          <p:spTgt spid="36"/>
                                        </p:tgtEl>
                                        <p:attrNameLst>
                                          <p:attrName>ppt_y</p:attrName>
                                        </p:attrNameLst>
                                      </p:cBhvr>
                                      <p:tavLst>
                                        <p:tav tm="0">
                                          <p:val>
                                            <p:strVal val="#ppt_y+.04"/>
                                          </p:val>
                                        </p:tav>
                                        <p:tav tm="100000">
                                          <p:val>
                                            <p:strVal val="#ppt_y"/>
                                          </p:val>
                                        </p:tav>
                                      </p:tavLst>
                                    </p:anim>
                                  </p:childTnLst>
                                </p:cTn>
                              </p:par>
                              <p:par>
                                <p:cTn id="123" presetID="42" presetClass="entr" presetSubtype="0" fill="hold" grpId="0" nodeType="withEffect">
                                  <p:stCondLst>
                                    <p:cond delay="50"/>
                                  </p:stCondLst>
                                  <p:childTnLst>
                                    <p:set>
                                      <p:cBhvr>
                                        <p:cTn id="124" dur="1" fill="hold">
                                          <p:stCondLst>
                                            <p:cond delay="0"/>
                                          </p:stCondLst>
                                        </p:cTn>
                                        <p:tgtEl>
                                          <p:spTgt spid="37"/>
                                        </p:tgtEl>
                                        <p:attrNameLst>
                                          <p:attrName>style.visibility</p:attrName>
                                        </p:attrNameLst>
                                      </p:cBhvr>
                                      <p:to>
                                        <p:strVal val="visible"/>
                                      </p:to>
                                    </p:set>
                                    <p:animEffect transition="in" filter="fade">
                                      <p:cBhvr>
                                        <p:cTn id="125" dur="500"/>
                                        <p:tgtEl>
                                          <p:spTgt spid="37"/>
                                        </p:tgtEl>
                                      </p:cBhvr>
                                    </p:animEffect>
                                    <p:anim calcmode="lin" valueType="num">
                                      <p:cBhvr>
                                        <p:cTn id="126" dur="500" fill="hold" decel="100000"/>
                                        <p:tgtEl>
                                          <p:spTgt spid="37"/>
                                        </p:tgtEl>
                                        <p:attrNameLst>
                                          <p:attrName>ppt_x</p:attrName>
                                        </p:attrNameLst>
                                      </p:cBhvr>
                                      <p:tavLst>
                                        <p:tav tm="0">
                                          <p:val>
                                            <p:strVal val="#ppt_x"/>
                                          </p:val>
                                        </p:tav>
                                        <p:tav tm="100000">
                                          <p:val>
                                            <p:strVal val="#ppt_x"/>
                                          </p:val>
                                        </p:tav>
                                      </p:tavLst>
                                    </p:anim>
                                    <p:anim calcmode="lin" valueType="num">
                                      <p:cBhvr>
                                        <p:cTn id="127" dur="500" fill="hold" decel="100000"/>
                                        <p:tgtEl>
                                          <p:spTgt spid="37"/>
                                        </p:tgtEl>
                                        <p:attrNameLst>
                                          <p:attrName>ppt_y</p:attrName>
                                        </p:attrNameLst>
                                      </p:cBhvr>
                                      <p:tavLst>
                                        <p:tav tm="0">
                                          <p:val>
                                            <p:strVal val="#ppt_y+.04"/>
                                          </p:val>
                                        </p:tav>
                                        <p:tav tm="100000">
                                          <p:val>
                                            <p:strVal val="#ppt_y"/>
                                          </p:val>
                                        </p:tav>
                                      </p:tavLst>
                                    </p:anim>
                                  </p:childTnLst>
                                </p:cTn>
                              </p:par>
                              <p:par>
                                <p:cTn id="128" presetID="42" presetClass="entr" presetSubtype="0" fill="hold" grpId="0" nodeType="withEffect">
                                  <p:stCondLst>
                                    <p:cond delay="50"/>
                                  </p:stCondLst>
                                  <p:childTnLst>
                                    <p:set>
                                      <p:cBhvr>
                                        <p:cTn id="129" dur="1" fill="hold">
                                          <p:stCondLst>
                                            <p:cond delay="0"/>
                                          </p:stCondLst>
                                        </p:cTn>
                                        <p:tgtEl>
                                          <p:spTgt spid="38"/>
                                        </p:tgtEl>
                                        <p:attrNameLst>
                                          <p:attrName>style.visibility</p:attrName>
                                        </p:attrNameLst>
                                      </p:cBhvr>
                                      <p:to>
                                        <p:strVal val="visible"/>
                                      </p:to>
                                    </p:set>
                                    <p:animEffect transition="in" filter="fade">
                                      <p:cBhvr>
                                        <p:cTn id="130" dur="500"/>
                                        <p:tgtEl>
                                          <p:spTgt spid="38"/>
                                        </p:tgtEl>
                                      </p:cBhvr>
                                    </p:animEffect>
                                    <p:anim calcmode="lin" valueType="num">
                                      <p:cBhvr>
                                        <p:cTn id="131" dur="500" fill="hold" decel="100000"/>
                                        <p:tgtEl>
                                          <p:spTgt spid="38"/>
                                        </p:tgtEl>
                                        <p:attrNameLst>
                                          <p:attrName>ppt_x</p:attrName>
                                        </p:attrNameLst>
                                      </p:cBhvr>
                                      <p:tavLst>
                                        <p:tav tm="0">
                                          <p:val>
                                            <p:strVal val="#ppt_x"/>
                                          </p:val>
                                        </p:tav>
                                        <p:tav tm="100000">
                                          <p:val>
                                            <p:strVal val="#ppt_x"/>
                                          </p:val>
                                        </p:tav>
                                      </p:tavLst>
                                    </p:anim>
                                    <p:anim calcmode="lin" valueType="num">
                                      <p:cBhvr>
                                        <p:cTn id="132" dur="500" fill="hold" decel="100000"/>
                                        <p:tgtEl>
                                          <p:spTgt spid="38"/>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4" grpId="0" animBg="1"/>
      <p:bldP spid="15" grpId="0" animBg="1"/>
      <p:bldP spid="17" grpId="0"/>
      <p:bldP spid="18" grpId="0" animBg="1"/>
      <p:bldP spid="19" grpId="0"/>
      <p:bldP spid="21" grpId="0" animBg="1"/>
      <p:bldP spid="22" grpId="0"/>
      <p:bldP spid="24" grpId="0" animBg="1"/>
      <p:bldP spid="25" grpId="0"/>
      <p:bldP spid="27" grpId="0" animBg="1"/>
      <p:bldP spid="28" grpId="0"/>
      <p:bldP spid="30" grpId="0" animBg="1"/>
      <p:bldP spid="31" grpId="0"/>
      <p:bldP spid="33" grpId="0" animBg="1"/>
      <p:bldP spid="34" grpId="0"/>
      <p:bldP spid="36" grpId="0" animBg="1"/>
      <p:bldP spid="37" grpId="0"/>
    </p:bld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8F3"/>
        </a:solidFill>
        <a:effectLst/>
      </p:bgPr>
    </p:bg>
    <p:spTree>
      <p:nvGrpSpPr>
        <p:cNvPr id="1" name=""/>
        <p:cNvGrpSpPr/>
        <p:nvPr/>
      </p:nvGrpSpPr>
      <p:grpSpPr/>
      <p:sp>
        <p:nvSpPr>
          <p:cNvPr id="2" name="Trait or"/>
          <p:cNvSpPr/>
          <p:nvPr/>
        </p:nvSpPr>
        <p:spPr>
          <a:xfrm>
            <a:off x="609600" y="444500"/>
            <a:ext cx="406400" cy="38100"/>
          </a:xfrm>
          <a:prstGeom prst="rect">
            <a:avLst/>
          </a:prstGeom>
          <a:solidFill>
            <a:srgbClr val="D3A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brique"/>
          <p:cNvSpPr txBox="1"/>
          <p:nvPr/>
        </p:nvSpPr>
        <p:spPr>
          <a:xfrm>
            <a:off x="609600" y="508000"/>
            <a:ext cx="10160000" cy="304800"/>
          </a:xfrm>
          <a:prstGeom prst="rect">
            <a:avLst/>
          </a:prstGeom>
          <a:noFill/>
        </p:spPr>
        <p:txBody>
          <a:bodyPr wrap="square" lIns="0" tIns="0" rIns="0" bIns="0" anchor="ctr">
            <a:noAutofit/>
          </a:bodyPr>
          <a:lstStyle/>
          <a:p>
            <a:pPr algn="l">
              <a:lnSpc>
                <a:spcPct val="100000"/>
              </a:lnSpc>
              <a:spcBef>
                <a:spcPts val="0"/>
              </a:spcBef>
              <a:spcAft>
                <a:spcPts val="0"/>
              </a:spcAft>
            </a:pPr>
            <a:r>
              <a:rPr sz="2000" b="1" i="0" lang="fr-FR" spc="150">
                <a:solidFill>
                  <a:srgbClr val="1E7B67"/>
                </a:solidFill>
                <a:latin typeface="Calibri"/>
              </a:rPr>
              <a:t>11 / TRANSPARENCE SUR NOTRE PROPRE POSITION</a:t>
            </a:r>
          </a:p>
        </p:txBody>
      </p:sp>
      <p:sp>
        <p:nvSpPr>
          <p:cNvPr id="4" name="Titre"/>
          <p:cNvSpPr txBox="1"/>
          <p:nvPr/>
        </p:nvSpPr>
        <p:spPr>
          <a:xfrm>
            <a:off x="609600" y="774700"/>
            <a:ext cx="10972800" cy="609600"/>
          </a:xfrm>
          <a:prstGeom prst="rect">
            <a:avLst/>
          </a:prstGeom>
          <a:noFill/>
        </p:spPr>
        <p:txBody>
          <a:bodyPr wrap="square" lIns="0" tIns="0" rIns="0" bIns="0" anchor="ctr">
            <a:noAutofit/>
          </a:bodyPr>
          <a:lstStyle/>
          <a:p>
            <a:pPr algn="l">
              <a:lnSpc>
                <a:spcPct val="100000"/>
              </a:lnSpc>
              <a:spcBef>
                <a:spcPts val="0"/>
              </a:spcBef>
              <a:spcAft>
                <a:spcPts val="0"/>
              </a:spcAft>
            </a:pPr>
            <a:r>
              <a:rPr sz="4000" b="1" i="0" lang="fr-FR">
                <a:solidFill>
                  <a:srgbClr val="12264A"/>
                </a:solidFill>
                <a:latin typeface="Calibri"/>
              </a:rPr>
              <a:t>Prévention des conflits d’intérêts</a:t>
            </a:r>
          </a:p>
        </p:txBody>
      </p:sp>
      <p:sp>
        <p:nvSpPr>
          <p:cNvPr id="5" name="Accroche"/>
          <p:cNvSpPr txBox="1"/>
          <p:nvPr/>
        </p:nvSpPr>
        <p:spPr>
          <a:xfrm>
            <a:off x="609600" y="1358900"/>
            <a:ext cx="10972800" cy="355600"/>
          </a:xfrm>
          <a:prstGeom prst="rect">
            <a:avLst/>
          </a:prstGeom>
          <a:noFill/>
        </p:spPr>
        <p:txBody>
          <a:bodyPr wrap="square" lIns="0" tIns="0" rIns="0" bIns="0" anchor="t">
            <a:noAutofit/>
          </a:bodyPr>
          <a:lstStyle/>
          <a:p>
            <a:pPr algn="l">
              <a:lnSpc>
                <a:spcPct val="100000"/>
              </a:lnSpc>
              <a:spcBef>
                <a:spcPts val="0"/>
              </a:spcBef>
              <a:spcAft>
                <a:spcPts val="0"/>
              </a:spcAft>
            </a:pPr>
            <a:r>
              <a:rPr sz="2200" b="0" i="0" lang="fr-FR">
                <a:solidFill>
                  <a:srgbClr val="1B2A41"/>
                </a:solidFill>
                <a:latin typeface="Calibri"/>
              </a:rPr>
              <a:t>Visham SARL, partenaire et actionnaire fondateur pendant le montage :</a:t>
            </a:r>
          </a:p>
        </p:txBody>
      </p:sp>
      <p:sp>
        <p:nvSpPr>
          <p:cNvPr id="6" name="Pied de page"/>
          <p:cNvSpPr txBox="1"/>
          <p:nvPr/>
        </p:nvSpPr>
        <p:spPr>
          <a:xfrm>
            <a:off x="609600" y="6413500"/>
            <a:ext cx="4826000" cy="241300"/>
          </a:xfrm>
          <a:prstGeom prst="rect">
            <a:avLst/>
          </a:prstGeom>
          <a:noFill/>
        </p:spPr>
        <p:txBody>
          <a:bodyPr wrap="square" lIns="0" tIns="0" rIns="0" bIns="0" anchor="ctr">
            <a:noAutofit/>
          </a:bodyPr>
          <a:lstStyle/>
          <a:p>
            <a:pPr algn="l">
              <a:lnSpc>
                <a:spcPct val="100000"/>
              </a:lnSpc>
              <a:spcBef>
                <a:spcPts val="0"/>
              </a:spcBef>
              <a:spcAft>
                <a:spcPts val="0"/>
              </a:spcAft>
            </a:pPr>
            <a:r>
              <a:rPr sz="1400" b="1" i="0" lang="fr-FR" spc="50">
                <a:solidFill>
                  <a:srgbClr val="1B2A41"/>
                </a:solidFill>
                <a:latin typeface="Calibri"/>
              </a:rPr>
              <a:t>FUTURA - KOUROUSSA | Octobre 2026</a:t>
            </a:r>
          </a:p>
        </p:txBody>
      </p:sp>
      <p:sp>
        <p:nvSpPr>
          <p:cNvPr id="7" name="Pied bandeau"/>
          <p:cNvSpPr/>
          <p:nvPr/>
        </p:nvSpPr>
        <p:spPr>
          <a:xfrm>
            <a:off x="9069742" y="6350000"/>
            <a:ext cx="2512658" cy="355600"/>
          </a:xfrm>
          <a:prstGeom prst="roundRect">
            <a:avLst>
              <a:gd name="adj" fmla="val 42857"/>
            </a:avLst>
          </a:prstGeom>
          <a:solidFill>
            <a:srgbClr val="FFFFFF"/>
          </a:solidFill>
          <a:ln w="9525">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ed logo futura-kouroussa" descr="futura-kouroussa.png"/>
          <p:cNvPicPr>
            <a:picLocks noChangeAspect="1"/>
          </p:cNvPicPr>
          <p:nvPr/>
        </p:nvPicPr>
        <p:blipFill>
          <a:blip r:embed="rId2"/>
          <a:stretch>
            <a:fillRect/>
          </a:stretch>
        </p:blipFill>
        <p:spPr>
          <a:xfrm>
            <a:off x="9184042" y="6419850"/>
            <a:ext cx="391970" cy="215900"/>
          </a:xfrm>
          <a:prstGeom prst="rect">
            <a:avLst/>
          </a:prstGeom>
        </p:spPr>
      </p:pic>
      <p:pic>
        <p:nvPicPr>
          <p:cNvPr id="9" name="Pied logo republique-de-guinee-armoiries" descr="republique-de-guinee-armoiries.png"/>
          <p:cNvPicPr>
            <a:picLocks noChangeAspect="1"/>
          </p:cNvPicPr>
          <p:nvPr/>
        </p:nvPicPr>
        <p:blipFill>
          <a:blip r:embed="rId3"/>
          <a:stretch>
            <a:fillRect/>
          </a:stretch>
        </p:blipFill>
        <p:spPr>
          <a:xfrm>
            <a:off x="9664912" y="6419850"/>
            <a:ext cx="179814" cy="215900"/>
          </a:xfrm>
          <a:prstGeom prst="rect">
            <a:avLst/>
          </a:prstGeom>
        </p:spPr>
      </p:pic>
      <p:pic>
        <p:nvPicPr>
          <p:cNvPr id="10" name="Pied logo assemblee-nationale" descr="assemblee-nationale.png"/>
          <p:cNvPicPr>
            <a:picLocks noChangeAspect="1"/>
          </p:cNvPicPr>
          <p:nvPr/>
        </p:nvPicPr>
        <p:blipFill>
          <a:blip r:embed="rId4"/>
          <a:stretch>
            <a:fillRect/>
          </a:stretch>
        </p:blipFill>
        <p:spPr>
          <a:xfrm>
            <a:off x="9933626" y="6419850"/>
            <a:ext cx="217442" cy="215900"/>
          </a:xfrm>
          <a:prstGeom prst="rect">
            <a:avLst/>
          </a:prstGeom>
        </p:spPr>
      </p:pic>
      <p:pic>
        <p:nvPicPr>
          <p:cNvPr id="11" name="Pied logo simandou-2040" descr="simandou-2040.png"/>
          <p:cNvPicPr>
            <a:picLocks noChangeAspect="1"/>
          </p:cNvPicPr>
          <p:nvPr/>
        </p:nvPicPr>
        <p:blipFill>
          <a:blip r:embed="rId5"/>
          <a:stretch>
            <a:fillRect/>
          </a:stretch>
        </p:blipFill>
        <p:spPr>
          <a:xfrm>
            <a:off x="10239968" y="6419850"/>
            <a:ext cx="674774" cy="215900"/>
          </a:xfrm>
          <a:prstGeom prst="rect">
            <a:avLst/>
          </a:prstGeom>
        </p:spPr>
      </p:pic>
      <p:pic>
        <p:nvPicPr>
          <p:cNvPr id="12" name="Pied logo guinee" descr="guinee.png"/>
          <p:cNvPicPr>
            <a:picLocks noChangeAspect="1"/>
          </p:cNvPicPr>
          <p:nvPr/>
        </p:nvPicPr>
        <p:blipFill>
          <a:blip r:embed="rId6"/>
          <a:stretch>
            <a:fillRect/>
          </a:stretch>
        </p:blipFill>
        <p:spPr>
          <a:xfrm>
            <a:off x="11003643" y="6419850"/>
            <a:ext cx="464457" cy="215900"/>
          </a:xfrm>
          <a:prstGeom prst="rect">
            <a:avLst/>
          </a:prstGeom>
        </p:spPr>
      </p:pic>
      <p:sp>
        <p:nvSpPr>
          <p:cNvPr id="13" name="Numéro"/>
          <p:cNvSpPr txBox="1"/>
          <p:nvPr/>
        </p:nvSpPr>
        <p:spPr>
          <a:xfrm>
            <a:off x="7990242" y="6413500"/>
            <a:ext cx="952500" cy="241300"/>
          </a:xfrm>
          <a:prstGeom prst="rect">
            <a:avLst/>
          </a:prstGeom>
          <a:noFill/>
        </p:spPr>
        <p:txBody>
          <a:bodyPr wrap="square" lIns="0" tIns="0" rIns="0" bIns="0" anchor="ctr">
            <a:noAutofit/>
          </a:bodyPr>
          <a:lstStyle/>
          <a:p>
            <a:pPr algn="r">
              <a:lnSpc>
                <a:spcPct val="100000"/>
              </a:lnSpc>
              <a:spcBef>
                <a:spcPts val="0"/>
              </a:spcBef>
              <a:spcAft>
                <a:spcPts val="0"/>
              </a:spcAft>
            </a:pPr>
            <a:r>
              <a:rPr sz="1400" b="1" i="0" lang="fr-FR">
                <a:solidFill>
                  <a:srgbClr val="12264A"/>
                </a:solidFill>
                <a:latin typeface="Calibri"/>
              </a:rPr>
              <a:t>12 / 15</a:t>
            </a:r>
          </a:p>
        </p:txBody>
      </p:sp>
      <p:sp>
        <p:nvSpPr>
          <p:cNvPr id="14" name="s12 règle 1"/>
          <p:cNvSpPr/>
          <p:nvPr/>
        </p:nvSpPr>
        <p:spPr>
          <a:xfrm>
            <a:off x="609600" y="1828800"/>
            <a:ext cx="6604000" cy="723900"/>
          </a:xfrm>
          <a:prstGeom prst="roundRect">
            <a:avLst>
              <a:gd name="adj" fmla="val 14035"/>
            </a:avLst>
          </a:prstGeom>
          <a:solidFill>
            <a:srgbClr val="FFFFFF"/>
          </a:solidFill>
          <a:ln w="9525">
            <a:solidFill>
              <a:srgbClr val="E3DED3"/>
            </a:solidFill>
          </a:ln>
          <a:effectLst>
            <a:outerShdw blurRad="165100" dist="38100" dir="5400000" algn="t" rotWithShape="0">
              <a:srgbClr val="12264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12 règle 1 filet"/>
          <p:cNvSpPr/>
          <p:nvPr/>
        </p:nvSpPr>
        <p:spPr>
          <a:xfrm>
            <a:off x="609600" y="1930400"/>
            <a:ext cx="50800" cy="520700"/>
          </a:xfrm>
          <a:prstGeom prst="rect">
            <a:avLst/>
          </a:prstGeom>
          <a:solidFill>
            <a:srgbClr val="1E7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12 coche 1"/>
          <p:cNvSpPr/>
          <p:nvPr/>
        </p:nvSpPr>
        <p:spPr>
          <a:xfrm>
            <a:off x="850900" y="2025650"/>
            <a:ext cx="330200" cy="330200"/>
          </a:xfrm>
          <a:prstGeom prst="ellipse">
            <a:avLst/>
          </a:prstGeom>
          <a:solidFill>
            <a:srgbClr val="1E7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s12 coche 1 picto" descr="check.png"/>
          <p:cNvPicPr>
            <a:picLocks noChangeAspect="1"/>
          </p:cNvPicPr>
          <p:nvPr/>
        </p:nvPicPr>
        <p:blipFill>
          <a:blip r:embed="rId7"/>
          <a:stretch>
            <a:fillRect/>
          </a:stretch>
        </p:blipFill>
        <p:spPr>
          <a:xfrm>
            <a:off x="930148" y="2104898"/>
            <a:ext cx="171704" cy="171704"/>
          </a:xfrm>
          <a:prstGeom prst="rect">
            <a:avLst/>
          </a:prstGeom>
        </p:spPr>
      </p:pic>
      <p:sp>
        <p:nvSpPr>
          <p:cNvPr id="18" name="s12 texte 1"/>
          <p:cNvSpPr txBox="1"/>
          <p:nvPr/>
        </p:nvSpPr>
        <p:spPr>
          <a:xfrm>
            <a:off x="1371600" y="1866900"/>
            <a:ext cx="5715000" cy="647700"/>
          </a:xfrm>
          <a:prstGeom prst="rect">
            <a:avLst/>
          </a:prstGeom>
          <a:noFill/>
        </p:spPr>
        <p:txBody>
          <a:bodyPr wrap="square" lIns="0" tIns="0" rIns="0" bIns="0" anchor="ctr">
            <a:noAutofit/>
          </a:bodyPr>
          <a:lstStyle/>
          <a:p>
            <a:pPr algn="l">
              <a:lnSpc>
                <a:spcPct val="100000"/>
              </a:lnSpc>
              <a:spcBef>
                <a:spcPts val="0"/>
              </a:spcBef>
              <a:spcAft>
                <a:spcPts val="0"/>
              </a:spcAft>
            </a:pPr>
            <a:r>
              <a:rPr sz="2200" b="1" i="0" lang="fr-FR">
                <a:solidFill>
                  <a:srgbClr val="1B2A41"/>
                </a:solidFill>
                <a:latin typeface="Calibri"/>
              </a:rPr>
              <a:t>Aucun siège réservé au Conseil d’Administration</a:t>
            </a:r>
          </a:p>
        </p:txBody>
      </p:sp>
      <p:sp>
        <p:nvSpPr>
          <p:cNvPr id="19" name="s12 règle 2"/>
          <p:cNvSpPr/>
          <p:nvPr/>
        </p:nvSpPr>
        <p:spPr>
          <a:xfrm>
            <a:off x="609600" y="2654300"/>
            <a:ext cx="6604000" cy="723900"/>
          </a:xfrm>
          <a:prstGeom prst="roundRect">
            <a:avLst>
              <a:gd name="adj" fmla="val 14035"/>
            </a:avLst>
          </a:prstGeom>
          <a:solidFill>
            <a:srgbClr val="FFFFFF"/>
          </a:solidFill>
          <a:ln w="9525">
            <a:solidFill>
              <a:srgbClr val="E3DED3"/>
            </a:solidFill>
          </a:ln>
          <a:effectLst>
            <a:outerShdw blurRad="165100" dist="38100" dir="5400000" algn="t" rotWithShape="0">
              <a:srgbClr val="12264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12 règle 2 filet"/>
          <p:cNvSpPr/>
          <p:nvPr/>
        </p:nvSpPr>
        <p:spPr>
          <a:xfrm>
            <a:off x="609600" y="2755900"/>
            <a:ext cx="50800" cy="520700"/>
          </a:xfrm>
          <a:prstGeom prst="rect">
            <a:avLst/>
          </a:prstGeom>
          <a:solidFill>
            <a:srgbClr val="1E7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12 coche 2"/>
          <p:cNvSpPr/>
          <p:nvPr/>
        </p:nvSpPr>
        <p:spPr>
          <a:xfrm>
            <a:off x="850900" y="2851150"/>
            <a:ext cx="330200" cy="330200"/>
          </a:xfrm>
          <a:prstGeom prst="ellipse">
            <a:avLst/>
          </a:prstGeom>
          <a:solidFill>
            <a:srgbClr val="1E7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s12 coche 2 picto" descr="check.png"/>
          <p:cNvPicPr>
            <a:picLocks noChangeAspect="1"/>
          </p:cNvPicPr>
          <p:nvPr/>
        </p:nvPicPr>
        <p:blipFill>
          <a:blip r:embed="rId7"/>
          <a:stretch>
            <a:fillRect/>
          </a:stretch>
        </p:blipFill>
        <p:spPr>
          <a:xfrm>
            <a:off x="930148" y="2930398"/>
            <a:ext cx="171704" cy="171704"/>
          </a:xfrm>
          <a:prstGeom prst="rect">
            <a:avLst/>
          </a:prstGeom>
        </p:spPr>
      </p:pic>
      <p:sp>
        <p:nvSpPr>
          <p:cNvPr id="23" name="s12 texte 2"/>
          <p:cNvSpPr txBox="1"/>
          <p:nvPr/>
        </p:nvSpPr>
        <p:spPr>
          <a:xfrm>
            <a:off x="1371600" y="2692400"/>
            <a:ext cx="5715000" cy="647700"/>
          </a:xfrm>
          <a:prstGeom prst="rect">
            <a:avLst/>
          </a:prstGeom>
          <a:noFill/>
        </p:spPr>
        <p:txBody>
          <a:bodyPr wrap="square" lIns="0" tIns="0" rIns="0" bIns="0" anchor="ctr">
            <a:noAutofit/>
          </a:bodyPr>
          <a:lstStyle/>
          <a:p>
            <a:pPr algn="l">
              <a:lnSpc>
                <a:spcPct val="100000"/>
              </a:lnSpc>
              <a:spcBef>
                <a:spcPts val="0"/>
              </a:spcBef>
              <a:spcAft>
                <a:spcPts val="0"/>
              </a:spcAft>
            </a:pPr>
            <a:r>
              <a:rPr sz="2200" b="1" i="0" lang="fr-FR">
                <a:solidFill>
                  <a:srgbClr val="1B2A41"/>
                </a:solidFill>
                <a:latin typeface="Calibri"/>
              </a:rPr>
              <a:t>Déclaration et récusation de toute personne intéressée</a:t>
            </a:r>
          </a:p>
        </p:txBody>
      </p:sp>
      <p:sp>
        <p:nvSpPr>
          <p:cNvPr id="24" name="s12 règle 3"/>
          <p:cNvSpPr/>
          <p:nvPr/>
        </p:nvSpPr>
        <p:spPr>
          <a:xfrm>
            <a:off x="609600" y="3479800"/>
            <a:ext cx="6604000" cy="723900"/>
          </a:xfrm>
          <a:prstGeom prst="roundRect">
            <a:avLst>
              <a:gd name="adj" fmla="val 14035"/>
            </a:avLst>
          </a:prstGeom>
          <a:solidFill>
            <a:srgbClr val="FFFFFF"/>
          </a:solidFill>
          <a:ln w="9525">
            <a:solidFill>
              <a:srgbClr val="E3DED3"/>
            </a:solidFill>
          </a:ln>
          <a:effectLst>
            <a:outerShdw blurRad="165100" dist="38100" dir="5400000" algn="t" rotWithShape="0">
              <a:srgbClr val="12264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s12 règle 3 filet"/>
          <p:cNvSpPr/>
          <p:nvPr/>
        </p:nvSpPr>
        <p:spPr>
          <a:xfrm>
            <a:off x="609600" y="3581400"/>
            <a:ext cx="50800" cy="520700"/>
          </a:xfrm>
          <a:prstGeom prst="rect">
            <a:avLst/>
          </a:prstGeom>
          <a:solidFill>
            <a:srgbClr val="1E7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12 coche 3"/>
          <p:cNvSpPr/>
          <p:nvPr/>
        </p:nvSpPr>
        <p:spPr>
          <a:xfrm>
            <a:off x="850900" y="3676650"/>
            <a:ext cx="330200" cy="330200"/>
          </a:xfrm>
          <a:prstGeom prst="ellipse">
            <a:avLst/>
          </a:prstGeom>
          <a:solidFill>
            <a:srgbClr val="1E7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s12 coche 3 picto" descr="check.png"/>
          <p:cNvPicPr>
            <a:picLocks noChangeAspect="1"/>
          </p:cNvPicPr>
          <p:nvPr/>
        </p:nvPicPr>
        <p:blipFill>
          <a:blip r:embed="rId7"/>
          <a:stretch>
            <a:fillRect/>
          </a:stretch>
        </p:blipFill>
        <p:spPr>
          <a:xfrm>
            <a:off x="930148" y="3755898"/>
            <a:ext cx="171704" cy="171704"/>
          </a:xfrm>
          <a:prstGeom prst="rect">
            <a:avLst/>
          </a:prstGeom>
        </p:spPr>
      </p:pic>
      <p:sp>
        <p:nvSpPr>
          <p:cNvPr id="28" name="s12 texte 3"/>
          <p:cNvSpPr txBox="1"/>
          <p:nvPr/>
        </p:nvSpPr>
        <p:spPr>
          <a:xfrm>
            <a:off x="1371600" y="3517900"/>
            <a:ext cx="5715000" cy="647700"/>
          </a:xfrm>
          <a:prstGeom prst="rect">
            <a:avLst/>
          </a:prstGeom>
          <a:noFill/>
        </p:spPr>
        <p:txBody>
          <a:bodyPr wrap="square" lIns="0" tIns="0" rIns="0" bIns="0" anchor="ctr">
            <a:noAutofit/>
          </a:bodyPr>
          <a:lstStyle/>
          <a:p>
            <a:pPr algn="l">
              <a:lnSpc>
                <a:spcPct val="100000"/>
              </a:lnSpc>
              <a:spcBef>
                <a:spcPts val="0"/>
              </a:spcBef>
              <a:spcAft>
                <a:spcPts val="0"/>
              </a:spcAft>
            </a:pPr>
            <a:r>
              <a:rPr sz="2200" b="1" i="0" lang="fr-FR">
                <a:solidFill>
                  <a:srgbClr val="1B2A41"/>
                </a:solidFill>
                <a:latin typeface="Calibri"/>
              </a:rPr>
              <a:t>Aucun contrat de gré à gré : appel d’offres public et revue du Comité d’Audit</a:t>
            </a:r>
          </a:p>
        </p:txBody>
      </p:sp>
      <p:sp>
        <p:nvSpPr>
          <p:cNvPr id="29" name="s12 règle 4"/>
          <p:cNvSpPr/>
          <p:nvPr/>
        </p:nvSpPr>
        <p:spPr>
          <a:xfrm>
            <a:off x="609600" y="4305300"/>
            <a:ext cx="6604000" cy="723900"/>
          </a:xfrm>
          <a:prstGeom prst="roundRect">
            <a:avLst>
              <a:gd name="adj" fmla="val 14035"/>
            </a:avLst>
          </a:prstGeom>
          <a:solidFill>
            <a:srgbClr val="FFFFFF"/>
          </a:solidFill>
          <a:ln w="9525">
            <a:solidFill>
              <a:srgbClr val="E3DED3"/>
            </a:solidFill>
          </a:ln>
          <a:effectLst>
            <a:outerShdw blurRad="165100" dist="38100" dir="5400000" algn="t" rotWithShape="0">
              <a:srgbClr val="12264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12 règle 4 filet"/>
          <p:cNvSpPr/>
          <p:nvPr/>
        </p:nvSpPr>
        <p:spPr>
          <a:xfrm>
            <a:off x="609600" y="4406900"/>
            <a:ext cx="50800" cy="520700"/>
          </a:xfrm>
          <a:prstGeom prst="rect">
            <a:avLst/>
          </a:prstGeom>
          <a:solidFill>
            <a:srgbClr val="1E7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s12 coche 4"/>
          <p:cNvSpPr/>
          <p:nvPr/>
        </p:nvSpPr>
        <p:spPr>
          <a:xfrm>
            <a:off x="850900" y="4502150"/>
            <a:ext cx="330200" cy="330200"/>
          </a:xfrm>
          <a:prstGeom prst="ellipse">
            <a:avLst/>
          </a:prstGeom>
          <a:solidFill>
            <a:srgbClr val="1E7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s12 coche 4 picto" descr="check.png"/>
          <p:cNvPicPr>
            <a:picLocks noChangeAspect="1"/>
          </p:cNvPicPr>
          <p:nvPr/>
        </p:nvPicPr>
        <p:blipFill>
          <a:blip r:embed="rId7"/>
          <a:stretch>
            <a:fillRect/>
          </a:stretch>
        </p:blipFill>
        <p:spPr>
          <a:xfrm>
            <a:off x="930148" y="4581398"/>
            <a:ext cx="171704" cy="171704"/>
          </a:xfrm>
          <a:prstGeom prst="rect">
            <a:avLst/>
          </a:prstGeom>
        </p:spPr>
      </p:pic>
      <p:sp>
        <p:nvSpPr>
          <p:cNvPr id="33" name="s12 texte 4"/>
          <p:cNvSpPr txBox="1"/>
          <p:nvPr/>
        </p:nvSpPr>
        <p:spPr>
          <a:xfrm>
            <a:off x="1371600" y="4343400"/>
            <a:ext cx="5715000" cy="647700"/>
          </a:xfrm>
          <a:prstGeom prst="rect">
            <a:avLst/>
          </a:prstGeom>
          <a:noFill/>
        </p:spPr>
        <p:txBody>
          <a:bodyPr wrap="square" lIns="0" tIns="0" rIns="0" bIns="0" anchor="ctr">
            <a:noAutofit/>
          </a:bodyPr>
          <a:lstStyle/>
          <a:p>
            <a:pPr algn="l">
              <a:lnSpc>
                <a:spcPct val="100000"/>
              </a:lnSpc>
              <a:spcBef>
                <a:spcPts val="0"/>
              </a:spcBef>
              <a:spcAft>
                <a:spcPts val="0"/>
              </a:spcAft>
            </a:pPr>
            <a:r>
              <a:rPr sz="2200" b="1" i="0" lang="fr-FR">
                <a:solidFill>
                  <a:srgbClr val="1B2A41"/>
                </a:solidFill>
                <a:latin typeface="Calibri"/>
              </a:rPr>
              <a:t>Rôle transitoire jusqu’à l’arrivée de la Direction Générale</a:t>
            </a:r>
          </a:p>
        </p:txBody>
      </p:sp>
      <p:sp>
        <p:nvSpPr>
          <p:cNvPr id="34" name="s12 règle 5"/>
          <p:cNvSpPr/>
          <p:nvPr/>
        </p:nvSpPr>
        <p:spPr>
          <a:xfrm>
            <a:off x="609600" y="5130800"/>
            <a:ext cx="6604000" cy="723900"/>
          </a:xfrm>
          <a:prstGeom prst="roundRect">
            <a:avLst>
              <a:gd name="adj" fmla="val 14035"/>
            </a:avLst>
          </a:prstGeom>
          <a:solidFill>
            <a:srgbClr val="FFFFFF"/>
          </a:solidFill>
          <a:ln w="9525">
            <a:solidFill>
              <a:srgbClr val="E3DED3"/>
            </a:solidFill>
          </a:ln>
          <a:effectLst>
            <a:outerShdw blurRad="165100" dist="38100" dir="5400000" algn="t" rotWithShape="0">
              <a:srgbClr val="12264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s12 règle 5 filet"/>
          <p:cNvSpPr/>
          <p:nvPr/>
        </p:nvSpPr>
        <p:spPr>
          <a:xfrm>
            <a:off x="609600" y="5232400"/>
            <a:ext cx="50800" cy="520700"/>
          </a:xfrm>
          <a:prstGeom prst="rect">
            <a:avLst/>
          </a:prstGeom>
          <a:solidFill>
            <a:srgbClr val="1E7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12 coche 5"/>
          <p:cNvSpPr/>
          <p:nvPr/>
        </p:nvSpPr>
        <p:spPr>
          <a:xfrm>
            <a:off x="850900" y="5327650"/>
            <a:ext cx="330200" cy="330200"/>
          </a:xfrm>
          <a:prstGeom prst="ellipse">
            <a:avLst/>
          </a:prstGeom>
          <a:solidFill>
            <a:srgbClr val="1E7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s12 coche 5 picto" descr="check.png"/>
          <p:cNvPicPr>
            <a:picLocks noChangeAspect="1"/>
          </p:cNvPicPr>
          <p:nvPr/>
        </p:nvPicPr>
        <p:blipFill>
          <a:blip r:embed="rId7"/>
          <a:stretch>
            <a:fillRect/>
          </a:stretch>
        </p:blipFill>
        <p:spPr>
          <a:xfrm>
            <a:off x="930148" y="5406898"/>
            <a:ext cx="171704" cy="171704"/>
          </a:xfrm>
          <a:prstGeom prst="rect">
            <a:avLst/>
          </a:prstGeom>
        </p:spPr>
      </p:pic>
      <p:sp>
        <p:nvSpPr>
          <p:cNvPr id="38" name="s12 texte 5"/>
          <p:cNvSpPr txBox="1"/>
          <p:nvPr/>
        </p:nvSpPr>
        <p:spPr>
          <a:xfrm>
            <a:off x="1371600" y="5168900"/>
            <a:ext cx="5715000" cy="647700"/>
          </a:xfrm>
          <a:prstGeom prst="rect">
            <a:avLst/>
          </a:prstGeom>
          <a:noFill/>
        </p:spPr>
        <p:txBody>
          <a:bodyPr wrap="square" lIns="0" tIns="0" rIns="0" bIns="0" anchor="ctr">
            <a:noAutofit/>
          </a:bodyPr>
          <a:lstStyle/>
          <a:p>
            <a:pPr algn="l">
              <a:lnSpc>
                <a:spcPct val="100000"/>
              </a:lnSpc>
              <a:spcBef>
                <a:spcPts val="0"/>
              </a:spcBef>
              <a:spcAft>
                <a:spcPts val="0"/>
              </a:spcAft>
            </a:pPr>
            <a:r>
              <a:rPr sz="2200" b="1" i="0" lang="fr-FR">
                <a:solidFill>
                  <a:srgbClr val="1B2A41"/>
                </a:solidFill>
                <a:latin typeface="Calibri"/>
              </a:rPr>
              <a:t>Registre public des intérêts</a:t>
            </a:r>
          </a:p>
        </p:txBody>
      </p:sp>
      <p:sp>
        <p:nvSpPr>
          <p:cNvPr id="39" name="s12 encadré"/>
          <p:cNvSpPr/>
          <p:nvPr/>
        </p:nvSpPr>
        <p:spPr>
          <a:xfrm>
            <a:off x="7467600" y="1828800"/>
            <a:ext cx="4114800" cy="4025900"/>
          </a:xfrm>
          <a:prstGeom prst="roundRect">
            <a:avLst>
              <a:gd name="adj" fmla="val 2523"/>
            </a:avLst>
          </a:prstGeom>
          <a:solidFill>
            <a:srgbClr val="F5ECD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04800" tIns="177800" rIns="254000" bIns="177800">
            <a:noAutofit/>
          </a:bodyPr>
          <a:lstStyle/>
          <a:p>
            <a:pPr algn="l">
              <a:lnSpc>
                <a:spcPct val="100000"/>
              </a:lnSpc>
              <a:spcBef>
                <a:spcPts val="0"/>
              </a:spcBef>
              <a:spcAft>
                <a:spcPts val="2000"/>
              </a:spcAft>
            </a:pPr>
            <a:r>
              <a:rPr sz="2600" b="1" i="0" lang="fr-FR">
                <a:solidFill>
                  <a:srgbClr val="12264A"/>
                </a:solidFill>
                <a:latin typeface="Calibri"/>
              </a:rPr>
              <a:t>Ne pas confondre COPIL et CoPiS</a:t>
            </a:r>
          </a:p>
          <a:p>
            <a:pPr algn="l">
              <a:lnSpc>
                <a:spcPct val="100000"/>
              </a:lnSpc>
              <a:spcBef>
                <a:spcPts val="0"/>
              </a:spcBef>
              <a:spcAft>
                <a:spcPts val="1800"/>
              </a:spcAft>
            </a:pPr>
            <a:r>
              <a:rPr sz="2200" b="1" i="0" lang="fr-FR">
                <a:solidFill>
                  <a:srgbClr val="1E7B67"/>
                </a:solidFill>
                <a:latin typeface="Calibri"/>
              </a:rPr>
              <a:t>Le COPIL</a:t>
            </a:r>
            <a:r>
              <a:rPr sz="2200" b="0" i="0" lang="fr-FR">
                <a:solidFill>
                  <a:srgbClr val="1B2A41"/>
                </a:solidFill>
                <a:latin typeface="Calibri"/>
              </a:rPr>
              <a:t> est le comité de pilotage provisoire de mise en place, jusqu’à l’assemblée générale constitutive.</a:t>
            </a:r>
          </a:p>
          <a:p>
            <a:pPr algn="l">
              <a:lnSpc>
                <a:spcPct val="100000"/>
              </a:lnSpc>
              <a:spcBef>
                <a:spcPts val="0"/>
              </a:spcBef>
              <a:spcAft>
                <a:spcPts val="0"/>
              </a:spcAft>
            </a:pPr>
            <a:r>
              <a:rPr sz="2200" b="1" i="0" lang="fr-FR">
                <a:solidFill>
                  <a:srgbClr val="1E7B67"/>
                </a:solidFill>
                <a:latin typeface="Calibri"/>
              </a:rPr>
              <a:t>Le CoPiS</a:t>
            </a:r>
            <a:r>
              <a:rPr sz="2200" b="0" i="0" lang="fr-FR">
                <a:solidFill>
                  <a:srgbClr val="1B2A41"/>
                </a:solidFill>
                <a:latin typeface="Calibri"/>
              </a:rPr>
              <a:t> est l’organe stratégique permanent de la société constituée.</a:t>
            </a:r>
          </a:p>
        </p:txBody>
      </p:sp>
      <p:sp>
        <p:nvSpPr>
          <p:cNvPr id="40" name="s12 encadré filet"/>
          <p:cNvSpPr/>
          <p:nvPr/>
        </p:nvSpPr>
        <p:spPr>
          <a:xfrm>
            <a:off x="7467600" y="1930400"/>
            <a:ext cx="50800" cy="3822700"/>
          </a:xfrm>
          <a:prstGeom prst="rect">
            <a:avLst/>
          </a:prstGeom>
          <a:solidFill>
            <a:srgbClr val="D3A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mc:AlternateContent xmlns:mc="http://schemas.openxmlformats.org/markup-compatibility/2006">
    <mc:Choice xmlns:p14="http://schemas.microsoft.com/office/powerpoint/2010/main" Requires="p14">
      <p:transition spd="med" p14:dur="700" advTm="25000">
        <p:fade/>
      </p:transition>
    </mc:Choice>
    <mc:Fallback>
      <p:transition spd="med" advTm="2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childTnLst>
                          </p:cTn>
                        </p:par>
                        <p:par>
                          <p:cTn id="8" fill="hold">
                            <p:stCondLst>
                              <p:cond delay="600"/>
                            </p:stCondLst>
                            <p:childTnLst>
                              <p:par>
                                <p:cTn id="9" presetID="42" presetClass="entr" presetSubtype="0" fill="hold" grpId="0" nodeType="afterEffect">
                                  <p:stCondLst>
                                    <p:cond delay="5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500"/>
                                        <p:tgtEl>
                                          <p:spTgt spid="14"/>
                                        </p:tgtEl>
                                      </p:cBhvr>
                                    </p:animEffect>
                                    <p:anim calcmode="lin" valueType="num">
                                      <p:cBhvr>
                                        <p:cTn id="12" dur="500" fill="hold" decel="100000"/>
                                        <p:tgtEl>
                                          <p:spTgt spid="14"/>
                                        </p:tgtEl>
                                        <p:attrNameLst>
                                          <p:attrName>ppt_x</p:attrName>
                                        </p:attrNameLst>
                                      </p:cBhvr>
                                      <p:tavLst>
                                        <p:tav tm="0">
                                          <p:val>
                                            <p:strVal val="#ppt_x"/>
                                          </p:val>
                                        </p:tav>
                                        <p:tav tm="100000">
                                          <p:val>
                                            <p:strVal val="#ppt_x"/>
                                          </p:val>
                                        </p:tav>
                                      </p:tavLst>
                                    </p:anim>
                                    <p:anim calcmode="lin" valueType="num">
                                      <p:cBhvr>
                                        <p:cTn id="13" dur="500" fill="hold" decel="100000"/>
                                        <p:tgtEl>
                                          <p:spTgt spid="14"/>
                                        </p:tgtEl>
                                        <p:attrNameLst>
                                          <p:attrName>ppt_y</p:attrName>
                                        </p:attrNameLst>
                                      </p:cBhvr>
                                      <p:tavLst>
                                        <p:tav tm="0">
                                          <p:val>
                                            <p:strVal val="#ppt_y+.04"/>
                                          </p:val>
                                        </p:tav>
                                        <p:tav tm="100000">
                                          <p:val>
                                            <p:strVal val="#ppt_y"/>
                                          </p:val>
                                        </p:tav>
                                      </p:tavLst>
                                    </p:anim>
                                  </p:childTnLst>
                                </p:cTn>
                              </p:par>
                              <p:par>
                                <p:cTn id="14" presetID="42" presetClass="entr" presetSubtype="0" fill="hold" grpId="0" nodeType="withEffect">
                                  <p:stCondLst>
                                    <p:cond delay="5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anim calcmode="lin" valueType="num">
                                      <p:cBhvr>
                                        <p:cTn id="17" dur="500" fill="hold" decel="100000"/>
                                        <p:tgtEl>
                                          <p:spTgt spid="15"/>
                                        </p:tgtEl>
                                        <p:attrNameLst>
                                          <p:attrName>ppt_x</p:attrName>
                                        </p:attrNameLst>
                                      </p:cBhvr>
                                      <p:tavLst>
                                        <p:tav tm="0">
                                          <p:val>
                                            <p:strVal val="#ppt_x"/>
                                          </p:val>
                                        </p:tav>
                                        <p:tav tm="100000">
                                          <p:val>
                                            <p:strVal val="#ppt_x"/>
                                          </p:val>
                                        </p:tav>
                                      </p:tavLst>
                                    </p:anim>
                                    <p:anim calcmode="lin" valueType="num">
                                      <p:cBhvr>
                                        <p:cTn id="18" dur="500" fill="hold" decel="100000"/>
                                        <p:tgtEl>
                                          <p:spTgt spid="15"/>
                                        </p:tgtEl>
                                        <p:attrNameLst>
                                          <p:attrName>ppt_y</p:attrName>
                                        </p:attrNameLst>
                                      </p:cBhvr>
                                      <p:tavLst>
                                        <p:tav tm="0">
                                          <p:val>
                                            <p:strVal val="#ppt_y+.04"/>
                                          </p:val>
                                        </p:tav>
                                        <p:tav tm="100000">
                                          <p:val>
                                            <p:strVal val="#ppt_y"/>
                                          </p:val>
                                        </p:tav>
                                      </p:tavLst>
                                    </p:anim>
                                  </p:childTnLst>
                                </p:cTn>
                              </p:par>
                              <p:par>
                                <p:cTn id="19" presetID="42" presetClass="entr" presetSubtype="0" fill="hold" grpId="0" nodeType="withEffect">
                                  <p:stCondLst>
                                    <p:cond delay="5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anim calcmode="lin" valueType="num">
                                      <p:cBhvr>
                                        <p:cTn id="22" dur="500" fill="hold" decel="100000"/>
                                        <p:tgtEl>
                                          <p:spTgt spid="16"/>
                                        </p:tgtEl>
                                        <p:attrNameLst>
                                          <p:attrName>ppt_x</p:attrName>
                                        </p:attrNameLst>
                                      </p:cBhvr>
                                      <p:tavLst>
                                        <p:tav tm="0">
                                          <p:val>
                                            <p:strVal val="#ppt_x"/>
                                          </p:val>
                                        </p:tav>
                                        <p:tav tm="100000">
                                          <p:val>
                                            <p:strVal val="#ppt_x"/>
                                          </p:val>
                                        </p:tav>
                                      </p:tavLst>
                                    </p:anim>
                                    <p:anim calcmode="lin" valueType="num">
                                      <p:cBhvr>
                                        <p:cTn id="23" dur="500" fill="hold" decel="100000"/>
                                        <p:tgtEl>
                                          <p:spTgt spid="16"/>
                                        </p:tgtEl>
                                        <p:attrNameLst>
                                          <p:attrName>ppt_y</p:attrName>
                                        </p:attrNameLst>
                                      </p:cBhvr>
                                      <p:tavLst>
                                        <p:tav tm="0">
                                          <p:val>
                                            <p:strVal val="#ppt_y+.04"/>
                                          </p:val>
                                        </p:tav>
                                        <p:tav tm="100000">
                                          <p:val>
                                            <p:strVal val="#ppt_y"/>
                                          </p:val>
                                        </p:tav>
                                      </p:tavLst>
                                    </p:anim>
                                  </p:childTnLst>
                                </p:cTn>
                              </p:par>
                              <p:par>
                                <p:cTn id="24" presetID="42" presetClass="entr" presetSubtype="0" fill="hold" grpId="0" nodeType="withEffect">
                                  <p:stCondLst>
                                    <p:cond delay="5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500"/>
                                        <p:tgtEl>
                                          <p:spTgt spid="17"/>
                                        </p:tgtEl>
                                      </p:cBhvr>
                                    </p:animEffect>
                                    <p:anim calcmode="lin" valueType="num">
                                      <p:cBhvr>
                                        <p:cTn id="27" dur="500" fill="hold" decel="100000"/>
                                        <p:tgtEl>
                                          <p:spTgt spid="17"/>
                                        </p:tgtEl>
                                        <p:attrNameLst>
                                          <p:attrName>ppt_x</p:attrName>
                                        </p:attrNameLst>
                                      </p:cBhvr>
                                      <p:tavLst>
                                        <p:tav tm="0">
                                          <p:val>
                                            <p:strVal val="#ppt_x"/>
                                          </p:val>
                                        </p:tav>
                                        <p:tav tm="100000">
                                          <p:val>
                                            <p:strVal val="#ppt_x"/>
                                          </p:val>
                                        </p:tav>
                                      </p:tavLst>
                                    </p:anim>
                                    <p:anim calcmode="lin" valueType="num">
                                      <p:cBhvr>
                                        <p:cTn id="28" dur="500" fill="hold" decel="100000"/>
                                        <p:tgtEl>
                                          <p:spTgt spid="17"/>
                                        </p:tgtEl>
                                        <p:attrNameLst>
                                          <p:attrName>ppt_y</p:attrName>
                                        </p:attrNameLst>
                                      </p:cBhvr>
                                      <p:tavLst>
                                        <p:tav tm="0">
                                          <p:val>
                                            <p:strVal val="#ppt_y+.04"/>
                                          </p:val>
                                        </p:tav>
                                        <p:tav tm="100000">
                                          <p:val>
                                            <p:strVal val="#ppt_y"/>
                                          </p:val>
                                        </p:tav>
                                      </p:tavLst>
                                    </p:anim>
                                  </p:childTnLst>
                                </p:cTn>
                              </p:par>
                              <p:par>
                                <p:cTn id="29" presetID="42" presetClass="entr" presetSubtype="0" fill="hold" grpId="0" nodeType="withEffect">
                                  <p:stCondLst>
                                    <p:cond delay="5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500"/>
                                        <p:tgtEl>
                                          <p:spTgt spid="18"/>
                                        </p:tgtEl>
                                      </p:cBhvr>
                                    </p:animEffect>
                                    <p:anim calcmode="lin" valueType="num">
                                      <p:cBhvr>
                                        <p:cTn id="32" dur="500" fill="hold" decel="100000"/>
                                        <p:tgtEl>
                                          <p:spTgt spid="18"/>
                                        </p:tgtEl>
                                        <p:attrNameLst>
                                          <p:attrName>ppt_x</p:attrName>
                                        </p:attrNameLst>
                                      </p:cBhvr>
                                      <p:tavLst>
                                        <p:tav tm="0">
                                          <p:val>
                                            <p:strVal val="#ppt_x"/>
                                          </p:val>
                                        </p:tav>
                                        <p:tav tm="100000">
                                          <p:val>
                                            <p:strVal val="#ppt_x"/>
                                          </p:val>
                                        </p:tav>
                                      </p:tavLst>
                                    </p:anim>
                                    <p:anim calcmode="lin" valueType="num">
                                      <p:cBhvr>
                                        <p:cTn id="33" dur="500" fill="hold" decel="100000"/>
                                        <p:tgtEl>
                                          <p:spTgt spid="18"/>
                                        </p:tgtEl>
                                        <p:attrNameLst>
                                          <p:attrName>ppt_y</p:attrName>
                                        </p:attrNameLst>
                                      </p:cBhvr>
                                      <p:tavLst>
                                        <p:tav tm="0">
                                          <p:val>
                                            <p:strVal val="#ppt_y+.04"/>
                                          </p:val>
                                        </p:tav>
                                        <p:tav tm="100000">
                                          <p:val>
                                            <p:strVal val="#ppt_y"/>
                                          </p:val>
                                        </p:tav>
                                      </p:tavLst>
                                    </p:anim>
                                  </p:childTnLst>
                                </p:cTn>
                              </p:par>
                            </p:childTnLst>
                          </p:cTn>
                        </p:par>
                        <p:par>
                          <p:cTn id="34" fill="hold">
                            <p:stCondLst>
                              <p:cond delay="1150"/>
                            </p:stCondLst>
                            <p:childTnLst>
                              <p:par>
                                <p:cTn id="35" presetID="42" presetClass="entr" presetSubtype="0" fill="hold" grpId="0" nodeType="afterEffect">
                                  <p:stCondLst>
                                    <p:cond delay="5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500"/>
                                        <p:tgtEl>
                                          <p:spTgt spid="19"/>
                                        </p:tgtEl>
                                      </p:cBhvr>
                                    </p:animEffect>
                                    <p:anim calcmode="lin" valueType="num">
                                      <p:cBhvr>
                                        <p:cTn id="38" dur="500" fill="hold" decel="100000"/>
                                        <p:tgtEl>
                                          <p:spTgt spid="19"/>
                                        </p:tgtEl>
                                        <p:attrNameLst>
                                          <p:attrName>ppt_x</p:attrName>
                                        </p:attrNameLst>
                                      </p:cBhvr>
                                      <p:tavLst>
                                        <p:tav tm="0">
                                          <p:val>
                                            <p:strVal val="#ppt_x"/>
                                          </p:val>
                                        </p:tav>
                                        <p:tav tm="100000">
                                          <p:val>
                                            <p:strVal val="#ppt_x"/>
                                          </p:val>
                                        </p:tav>
                                      </p:tavLst>
                                    </p:anim>
                                    <p:anim calcmode="lin" valueType="num">
                                      <p:cBhvr>
                                        <p:cTn id="39" dur="500" fill="hold" decel="100000"/>
                                        <p:tgtEl>
                                          <p:spTgt spid="19"/>
                                        </p:tgtEl>
                                        <p:attrNameLst>
                                          <p:attrName>ppt_y</p:attrName>
                                        </p:attrNameLst>
                                      </p:cBhvr>
                                      <p:tavLst>
                                        <p:tav tm="0">
                                          <p:val>
                                            <p:strVal val="#ppt_y+.04"/>
                                          </p:val>
                                        </p:tav>
                                        <p:tav tm="100000">
                                          <p:val>
                                            <p:strVal val="#ppt_y"/>
                                          </p:val>
                                        </p:tav>
                                      </p:tavLst>
                                    </p:anim>
                                  </p:childTnLst>
                                </p:cTn>
                              </p:par>
                              <p:par>
                                <p:cTn id="40" presetID="42" presetClass="entr" presetSubtype="0" fill="hold" grpId="0" nodeType="withEffect">
                                  <p:stCondLst>
                                    <p:cond delay="50"/>
                                  </p:stCondLst>
                                  <p:childTnLst>
                                    <p:set>
                                      <p:cBhvr>
                                        <p:cTn id="41" dur="1" fill="hold">
                                          <p:stCondLst>
                                            <p:cond delay="0"/>
                                          </p:stCondLst>
                                        </p:cTn>
                                        <p:tgtEl>
                                          <p:spTgt spid="20"/>
                                        </p:tgtEl>
                                        <p:attrNameLst>
                                          <p:attrName>style.visibility</p:attrName>
                                        </p:attrNameLst>
                                      </p:cBhvr>
                                      <p:to>
                                        <p:strVal val="visible"/>
                                      </p:to>
                                    </p:set>
                                    <p:animEffect transition="in" filter="fade">
                                      <p:cBhvr>
                                        <p:cTn id="42" dur="500"/>
                                        <p:tgtEl>
                                          <p:spTgt spid="20"/>
                                        </p:tgtEl>
                                      </p:cBhvr>
                                    </p:animEffect>
                                    <p:anim calcmode="lin" valueType="num">
                                      <p:cBhvr>
                                        <p:cTn id="43" dur="500" fill="hold" decel="100000"/>
                                        <p:tgtEl>
                                          <p:spTgt spid="20"/>
                                        </p:tgtEl>
                                        <p:attrNameLst>
                                          <p:attrName>ppt_x</p:attrName>
                                        </p:attrNameLst>
                                      </p:cBhvr>
                                      <p:tavLst>
                                        <p:tav tm="0">
                                          <p:val>
                                            <p:strVal val="#ppt_x"/>
                                          </p:val>
                                        </p:tav>
                                        <p:tav tm="100000">
                                          <p:val>
                                            <p:strVal val="#ppt_x"/>
                                          </p:val>
                                        </p:tav>
                                      </p:tavLst>
                                    </p:anim>
                                    <p:anim calcmode="lin" valueType="num">
                                      <p:cBhvr>
                                        <p:cTn id="44" dur="500" fill="hold" decel="100000"/>
                                        <p:tgtEl>
                                          <p:spTgt spid="20"/>
                                        </p:tgtEl>
                                        <p:attrNameLst>
                                          <p:attrName>ppt_y</p:attrName>
                                        </p:attrNameLst>
                                      </p:cBhvr>
                                      <p:tavLst>
                                        <p:tav tm="0">
                                          <p:val>
                                            <p:strVal val="#ppt_y+.04"/>
                                          </p:val>
                                        </p:tav>
                                        <p:tav tm="100000">
                                          <p:val>
                                            <p:strVal val="#ppt_y"/>
                                          </p:val>
                                        </p:tav>
                                      </p:tavLst>
                                    </p:anim>
                                  </p:childTnLst>
                                </p:cTn>
                              </p:par>
                              <p:par>
                                <p:cTn id="45" presetID="42" presetClass="entr" presetSubtype="0" fill="hold" grpId="0" nodeType="withEffect">
                                  <p:stCondLst>
                                    <p:cond delay="5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500"/>
                                        <p:tgtEl>
                                          <p:spTgt spid="21"/>
                                        </p:tgtEl>
                                      </p:cBhvr>
                                    </p:animEffect>
                                    <p:anim calcmode="lin" valueType="num">
                                      <p:cBhvr>
                                        <p:cTn id="48" dur="500" fill="hold" decel="100000"/>
                                        <p:tgtEl>
                                          <p:spTgt spid="21"/>
                                        </p:tgtEl>
                                        <p:attrNameLst>
                                          <p:attrName>ppt_x</p:attrName>
                                        </p:attrNameLst>
                                      </p:cBhvr>
                                      <p:tavLst>
                                        <p:tav tm="0">
                                          <p:val>
                                            <p:strVal val="#ppt_x"/>
                                          </p:val>
                                        </p:tav>
                                        <p:tav tm="100000">
                                          <p:val>
                                            <p:strVal val="#ppt_x"/>
                                          </p:val>
                                        </p:tav>
                                      </p:tavLst>
                                    </p:anim>
                                    <p:anim calcmode="lin" valueType="num">
                                      <p:cBhvr>
                                        <p:cTn id="49" dur="500" fill="hold" decel="100000"/>
                                        <p:tgtEl>
                                          <p:spTgt spid="21"/>
                                        </p:tgtEl>
                                        <p:attrNameLst>
                                          <p:attrName>ppt_y</p:attrName>
                                        </p:attrNameLst>
                                      </p:cBhvr>
                                      <p:tavLst>
                                        <p:tav tm="0">
                                          <p:val>
                                            <p:strVal val="#ppt_y+.04"/>
                                          </p:val>
                                        </p:tav>
                                        <p:tav tm="100000">
                                          <p:val>
                                            <p:strVal val="#ppt_y"/>
                                          </p:val>
                                        </p:tav>
                                      </p:tavLst>
                                    </p:anim>
                                  </p:childTnLst>
                                </p:cTn>
                              </p:par>
                              <p:par>
                                <p:cTn id="50" presetID="42" presetClass="entr" presetSubtype="0" fill="hold" grpId="0" nodeType="withEffect">
                                  <p:stCondLst>
                                    <p:cond delay="5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500"/>
                                        <p:tgtEl>
                                          <p:spTgt spid="22"/>
                                        </p:tgtEl>
                                      </p:cBhvr>
                                    </p:animEffect>
                                    <p:anim calcmode="lin" valueType="num">
                                      <p:cBhvr>
                                        <p:cTn id="53" dur="500" fill="hold" decel="100000"/>
                                        <p:tgtEl>
                                          <p:spTgt spid="22"/>
                                        </p:tgtEl>
                                        <p:attrNameLst>
                                          <p:attrName>ppt_x</p:attrName>
                                        </p:attrNameLst>
                                      </p:cBhvr>
                                      <p:tavLst>
                                        <p:tav tm="0">
                                          <p:val>
                                            <p:strVal val="#ppt_x"/>
                                          </p:val>
                                        </p:tav>
                                        <p:tav tm="100000">
                                          <p:val>
                                            <p:strVal val="#ppt_x"/>
                                          </p:val>
                                        </p:tav>
                                      </p:tavLst>
                                    </p:anim>
                                    <p:anim calcmode="lin" valueType="num">
                                      <p:cBhvr>
                                        <p:cTn id="54" dur="500" fill="hold" decel="100000"/>
                                        <p:tgtEl>
                                          <p:spTgt spid="22"/>
                                        </p:tgtEl>
                                        <p:attrNameLst>
                                          <p:attrName>ppt_y</p:attrName>
                                        </p:attrNameLst>
                                      </p:cBhvr>
                                      <p:tavLst>
                                        <p:tav tm="0">
                                          <p:val>
                                            <p:strVal val="#ppt_y+.04"/>
                                          </p:val>
                                        </p:tav>
                                        <p:tav tm="100000">
                                          <p:val>
                                            <p:strVal val="#ppt_y"/>
                                          </p:val>
                                        </p:tav>
                                      </p:tavLst>
                                    </p:anim>
                                  </p:childTnLst>
                                </p:cTn>
                              </p:par>
                              <p:par>
                                <p:cTn id="55" presetID="42" presetClass="entr" presetSubtype="0" fill="hold" grpId="0" nodeType="withEffect">
                                  <p:stCondLst>
                                    <p:cond delay="50"/>
                                  </p:stCondLst>
                                  <p:childTnLst>
                                    <p:set>
                                      <p:cBhvr>
                                        <p:cTn id="56" dur="1" fill="hold">
                                          <p:stCondLst>
                                            <p:cond delay="0"/>
                                          </p:stCondLst>
                                        </p:cTn>
                                        <p:tgtEl>
                                          <p:spTgt spid="23"/>
                                        </p:tgtEl>
                                        <p:attrNameLst>
                                          <p:attrName>style.visibility</p:attrName>
                                        </p:attrNameLst>
                                      </p:cBhvr>
                                      <p:to>
                                        <p:strVal val="visible"/>
                                      </p:to>
                                    </p:set>
                                    <p:animEffect transition="in" filter="fade">
                                      <p:cBhvr>
                                        <p:cTn id="57" dur="500"/>
                                        <p:tgtEl>
                                          <p:spTgt spid="23"/>
                                        </p:tgtEl>
                                      </p:cBhvr>
                                    </p:animEffect>
                                    <p:anim calcmode="lin" valueType="num">
                                      <p:cBhvr>
                                        <p:cTn id="58" dur="500" fill="hold" decel="100000"/>
                                        <p:tgtEl>
                                          <p:spTgt spid="23"/>
                                        </p:tgtEl>
                                        <p:attrNameLst>
                                          <p:attrName>ppt_x</p:attrName>
                                        </p:attrNameLst>
                                      </p:cBhvr>
                                      <p:tavLst>
                                        <p:tav tm="0">
                                          <p:val>
                                            <p:strVal val="#ppt_x"/>
                                          </p:val>
                                        </p:tav>
                                        <p:tav tm="100000">
                                          <p:val>
                                            <p:strVal val="#ppt_x"/>
                                          </p:val>
                                        </p:tav>
                                      </p:tavLst>
                                    </p:anim>
                                    <p:anim calcmode="lin" valueType="num">
                                      <p:cBhvr>
                                        <p:cTn id="59" dur="500" fill="hold" decel="100000"/>
                                        <p:tgtEl>
                                          <p:spTgt spid="23"/>
                                        </p:tgtEl>
                                        <p:attrNameLst>
                                          <p:attrName>ppt_y</p:attrName>
                                        </p:attrNameLst>
                                      </p:cBhvr>
                                      <p:tavLst>
                                        <p:tav tm="0">
                                          <p:val>
                                            <p:strVal val="#ppt_y+.04"/>
                                          </p:val>
                                        </p:tav>
                                        <p:tav tm="100000">
                                          <p:val>
                                            <p:strVal val="#ppt_y"/>
                                          </p:val>
                                        </p:tav>
                                      </p:tavLst>
                                    </p:anim>
                                  </p:childTnLst>
                                </p:cTn>
                              </p:par>
                            </p:childTnLst>
                          </p:cTn>
                        </p:par>
                        <p:par>
                          <p:cTn id="60" fill="hold">
                            <p:stCondLst>
                              <p:cond delay="1700"/>
                            </p:stCondLst>
                            <p:childTnLst>
                              <p:par>
                                <p:cTn id="61" presetID="42" presetClass="entr" presetSubtype="0" fill="hold" grpId="0" nodeType="afterEffect">
                                  <p:stCondLst>
                                    <p:cond delay="5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500"/>
                                        <p:tgtEl>
                                          <p:spTgt spid="24"/>
                                        </p:tgtEl>
                                      </p:cBhvr>
                                    </p:animEffect>
                                    <p:anim calcmode="lin" valueType="num">
                                      <p:cBhvr>
                                        <p:cTn id="64" dur="500" fill="hold" decel="100000"/>
                                        <p:tgtEl>
                                          <p:spTgt spid="24"/>
                                        </p:tgtEl>
                                        <p:attrNameLst>
                                          <p:attrName>ppt_x</p:attrName>
                                        </p:attrNameLst>
                                      </p:cBhvr>
                                      <p:tavLst>
                                        <p:tav tm="0">
                                          <p:val>
                                            <p:strVal val="#ppt_x"/>
                                          </p:val>
                                        </p:tav>
                                        <p:tav tm="100000">
                                          <p:val>
                                            <p:strVal val="#ppt_x"/>
                                          </p:val>
                                        </p:tav>
                                      </p:tavLst>
                                    </p:anim>
                                    <p:anim calcmode="lin" valueType="num">
                                      <p:cBhvr>
                                        <p:cTn id="65" dur="500" fill="hold" decel="100000"/>
                                        <p:tgtEl>
                                          <p:spTgt spid="24"/>
                                        </p:tgtEl>
                                        <p:attrNameLst>
                                          <p:attrName>ppt_y</p:attrName>
                                        </p:attrNameLst>
                                      </p:cBhvr>
                                      <p:tavLst>
                                        <p:tav tm="0">
                                          <p:val>
                                            <p:strVal val="#ppt_y+.04"/>
                                          </p:val>
                                        </p:tav>
                                        <p:tav tm="100000">
                                          <p:val>
                                            <p:strVal val="#ppt_y"/>
                                          </p:val>
                                        </p:tav>
                                      </p:tavLst>
                                    </p:anim>
                                  </p:childTnLst>
                                </p:cTn>
                              </p:par>
                              <p:par>
                                <p:cTn id="66" presetID="42" presetClass="entr" presetSubtype="0" fill="hold" grpId="0" nodeType="withEffect">
                                  <p:stCondLst>
                                    <p:cond delay="5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500"/>
                                        <p:tgtEl>
                                          <p:spTgt spid="25"/>
                                        </p:tgtEl>
                                      </p:cBhvr>
                                    </p:animEffect>
                                    <p:anim calcmode="lin" valueType="num">
                                      <p:cBhvr>
                                        <p:cTn id="69" dur="500" fill="hold" decel="100000"/>
                                        <p:tgtEl>
                                          <p:spTgt spid="25"/>
                                        </p:tgtEl>
                                        <p:attrNameLst>
                                          <p:attrName>ppt_x</p:attrName>
                                        </p:attrNameLst>
                                      </p:cBhvr>
                                      <p:tavLst>
                                        <p:tav tm="0">
                                          <p:val>
                                            <p:strVal val="#ppt_x"/>
                                          </p:val>
                                        </p:tav>
                                        <p:tav tm="100000">
                                          <p:val>
                                            <p:strVal val="#ppt_x"/>
                                          </p:val>
                                        </p:tav>
                                      </p:tavLst>
                                    </p:anim>
                                    <p:anim calcmode="lin" valueType="num">
                                      <p:cBhvr>
                                        <p:cTn id="70" dur="500" fill="hold" decel="100000"/>
                                        <p:tgtEl>
                                          <p:spTgt spid="25"/>
                                        </p:tgtEl>
                                        <p:attrNameLst>
                                          <p:attrName>ppt_y</p:attrName>
                                        </p:attrNameLst>
                                      </p:cBhvr>
                                      <p:tavLst>
                                        <p:tav tm="0">
                                          <p:val>
                                            <p:strVal val="#ppt_y+.04"/>
                                          </p:val>
                                        </p:tav>
                                        <p:tav tm="100000">
                                          <p:val>
                                            <p:strVal val="#ppt_y"/>
                                          </p:val>
                                        </p:tav>
                                      </p:tavLst>
                                    </p:anim>
                                  </p:childTnLst>
                                </p:cTn>
                              </p:par>
                              <p:par>
                                <p:cTn id="71" presetID="42" presetClass="entr" presetSubtype="0" fill="hold" grpId="0" nodeType="withEffect">
                                  <p:stCondLst>
                                    <p:cond delay="5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500"/>
                                        <p:tgtEl>
                                          <p:spTgt spid="26"/>
                                        </p:tgtEl>
                                      </p:cBhvr>
                                    </p:animEffect>
                                    <p:anim calcmode="lin" valueType="num">
                                      <p:cBhvr>
                                        <p:cTn id="74" dur="500" fill="hold" decel="100000"/>
                                        <p:tgtEl>
                                          <p:spTgt spid="26"/>
                                        </p:tgtEl>
                                        <p:attrNameLst>
                                          <p:attrName>ppt_x</p:attrName>
                                        </p:attrNameLst>
                                      </p:cBhvr>
                                      <p:tavLst>
                                        <p:tav tm="0">
                                          <p:val>
                                            <p:strVal val="#ppt_x"/>
                                          </p:val>
                                        </p:tav>
                                        <p:tav tm="100000">
                                          <p:val>
                                            <p:strVal val="#ppt_x"/>
                                          </p:val>
                                        </p:tav>
                                      </p:tavLst>
                                    </p:anim>
                                    <p:anim calcmode="lin" valueType="num">
                                      <p:cBhvr>
                                        <p:cTn id="75" dur="500" fill="hold" decel="100000"/>
                                        <p:tgtEl>
                                          <p:spTgt spid="26"/>
                                        </p:tgtEl>
                                        <p:attrNameLst>
                                          <p:attrName>ppt_y</p:attrName>
                                        </p:attrNameLst>
                                      </p:cBhvr>
                                      <p:tavLst>
                                        <p:tav tm="0">
                                          <p:val>
                                            <p:strVal val="#ppt_y+.04"/>
                                          </p:val>
                                        </p:tav>
                                        <p:tav tm="100000">
                                          <p:val>
                                            <p:strVal val="#ppt_y"/>
                                          </p:val>
                                        </p:tav>
                                      </p:tavLst>
                                    </p:anim>
                                  </p:childTnLst>
                                </p:cTn>
                              </p:par>
                              <p:par>
                                <p:cTn id="76" presetID="42" presetClass="entr" presetSubtype="0" fill="hold" grpId="0" nodeType="withEffect">
                                  <p:stCondLst>
                                    <p:cond delay="50"/>
                                  </p:stCondLst>
                                  <p:childTnLst>
                                    <p:set>
                                      <p:cBhvr>
                                        <p:cTn id="77" dur="1" fill="hold">
                                          <p:stCondLst>
                                            <p:cond delay="0"/>
                                          </p:stCondLst>
                                        </p:cTn>
                                        <p:tgtEl>
                                          <p:spTgt spid="27"/>
                                        </p:tgtEl>
                                        <p:attrNameLst>
                                          <p:attrName>style.visibility</p:attrName>
                                        </p:attrNameLst>
                                      </p:cBhvr>
                                      <p:to>
                                        <p:strVal val="visible"/>
                                      </p:to>
                                    </p:set>
                                    <p:animEffect transition="in" filter="fade">
                                      <p:cBhvr>
                                        <p:cTn id="78" dur="500"/>
                                        <p:tgtEl>
                                          <p:spTgt spid="27"/>
                                        </p:tgtEl>
                                      </p:cBhvr>
                                    </p:animEffect>
                                    <p:anim calcmode="lin" valueType="num">
                                      <p:cBhvr>
                                        <p:cTn id="79" dur="500" fill="hold" decel="100000"/>
                                        <p:tgtEl>
                                          <p:spTgt spid="27"/>
                                        </p:tgtEl>
                                        <p:attrNameLst>
                                          <p:attrName>ppt_x</p:attrName>
                                        </p:attrNameLst>
                                      </p:cBhvr>
                                      <p:tavLst>
                                        <p:tav tm="0">
                                          <p:val>
                                            <p:strVal val="#ppt_x"/>
                                          </p:val>
                                        </p:tav>
                                        <p:tav tm="100000">
                                          <p:val>
                                            <p:strVal val="#ppt_x"/>
                                          </p:val>
                                        </p:tav>
                                      </p:tavLst>
                                    </p:anim>
                                    <p:anim calcmode="lin" valueType="num">
                                      <p:cBhvr>
                                        <p:cTn id="80" dur="500" fill="hold" decel="100000"/>
                                        <p:tgtEl>
                                          <p:spTgt spid="27"/>
                                        </p:tgtEl>
                                        <p:attrNameLst>
                                          <p:attrName>ppt_y</p:attrName>
                                        </p:attrNameLst>
                                      </p:cBhvr>
                                      <p:tavLst>
                                        <p:tav tm="0">
                                          <p:val>
                                            <p:strVal val="#ppt_y+.04"/>
                                          </p:val>
                                        </p:tav>
                                        <p:tav tm="100000">
                                          <p:val>
                                            <p:strVal val="#ppt_y"/>
                                          </p:val>
                                        </p:tav>
                                      </p:tavLst>
                                    </p:anim>
                                  </p:childTnLst>
                                </p:cTn>
                              </p:par>
                              <p:par>
                                <p:cTn id="81" presetID="42" presetClass="entr" presetSubtype="0" fill="hold" grpId="0" nodeType="withEffect">
                                  <p:stCondLst>
                                    <p:cond delay="50"/>
                                  </p:stCondLst>
                                  <p:childTnLst>
                                    <p:set>
                                      <p:cBhvr>
                                        <p:cTn id="82" dur="1" fill="hold">
                                          <p:stCondLst>
                                            <p:cond delay="0"/>
                                          </p:stCondLst>
                                        </p:cTn>
                                        <p:tgtEl>
                                          <p:spTgt spid="28"/>
                                        </p:tgtEl>
                                        <p:attrNameLst>
                                          <p:attrName>style.visibility</p:attrName>
                                        </p:attrNameLst>
                                      </p:cBhvr>
                                      <p:to>
                                        <p:strVal val="visible"/>
                                      </p:to>
                                    </p:set>
                                    <p:animEffect transition="in" filter="fade">
                                      <p:cBhvr>
                                        <p:cTn id="83" dur="500"/>
                                        <p:tgtEl>
                                          <p:spTgt spid="28"/>
                                        </p:tgtEl>
                                      </p:cBhvr>
                                    </p:animEffect>
                                    <p:anim calcmode="lin" valueType="num">
                                      <p:cBhvr>
                                        <p:cTn id="84" dur="500" fill="hold" decel="100000"/>
                                        <p:tgtEl>
                                          <p:spTgt spid="28"/>
                                        </p:tgtEl>
                                        <p:attrNameLst>
                                          <p:attrName>ppt_x</p:attrName>
                                        </p:attrNameLst>
                                      </p:cBhvr>
                                      <p:tavLst>
                                        <p:tav tm="0">
                                          <p:val>
                                            <p:strVal val="#ppt_x"/>
                                          </p:val>
                                        </p:tav>
                                        <p:tav tm="100000">
                                          <p:val>
                                            <p:strVal val="#ppt_x"/>
                                          </p:val>
                                        </p:tav>
                                      </p:tavLst>
                                    </p:anim>
                                    <p:anim calcmode="lin" valueType="num">
                                      <p:cBhvr>
                                        <p:cTn id="85" dur="500" fill="hold" decel="100000"/>
                                        <p:tgtEl>
                                          <p:spTgt spid="28"/>
                                        </p:tgtEl>
                                        <p:attrNameLst>
                                          <p:attrName>ppt_y</p:attrName>
                                        </p:attrNameLst>
                                      </p:cBhvr>
                                      <p:tavLst>
                                        <p:tav tm="0">
                                          <p:val>
                                            <p:strVal val="#ppt_y+.04"/>
                                          </p:val>
                                        </p:tav>
                                        <p:tav tm="100000">
                                          <p:val>
                                            <p:strVal val="#ppt_y"/>
                                          </p:val>
                                        </p:tav>
                                      </p:tavLst>
                                    </p:anim>
                                  </p:childTnLst>
                                </p:cTn>
                              </p:par>
                            </p:childTnLst>
                          </p:cTn>
                        </p:par>
                        <p:par>
                          <p:cTn id="86" fill="hold">
                            <p:stCondLst>
                              <p:cond delay="2250"/>
                            </p:stCondLst>
                            <p:childTnLst>
                              <p:par>
                                <p:cTn id="87" presetID="42" presetClass="entr" presetSubtype="0" fill="hold" grpId="0" nodeType="afterEffect">
                                  <p:stCondLst>
                                    <p:cond delay="50"/>
                                  </p:stCondLst>
                                  <p:childTnLst>
                                    <p:set>
                                      <p:cBhvr>
                                        <p:cTn id="88" dur="1" fill="hold">
                                          <p:stCondLst>
                                            <p:cond delay="0"/>
                                          </p:stCondLst>
                                        </p:cTn>
                                        <p:tgtEl>
                                          <p:spTgt spid="29"/>
                                        </p:tgtEl>
                                        <p:attrNameLst>
                                          <p:attrName>style.visibility</p:attrName>
                                        </p:attrNameLst>
                                      </p:cBhvr>
                                      <p:to>
                                        <p:strVal val="visible"/>
                                      </p:to>
                                    </p:set>
                                    <p:animEffect transition="in" filter="fade">
                                      <p:cBhvr>
                                        <p:cTn id="89" dur="500"/>
                                        <p:tgtEl>
                                          <p:spTgt spid="29"/>
                                        </p:tgtEl>
                                      </p:cBhvr>
                                    </p:animEffect>
                                    <p:anim calcmode="lin" valueType="num">
                                      <p:cBhvr>
                                        <p:cTn id="90" dur="500" fill="hold" decel="100000"/>
                                        <p:tgtEl>
                                          <p:spTgt spid="29"/>
                                        </p:tgtEl>
                                        <p:attrNameLst>
                                          <p:attrName>ppt_x</p:attrName>
                                        </p:attrNameLst>
                                      </p:cBhvr>
                                      <p:tavLst>
                                        <p:tav tm="0">
                                          <p:val>
                                            <p:strVal val="#ppt_x"/>
                                          </p:val>
                                        </p:tav>
                                        <p:tav tm="100000">
                                          <p:val>
                                            <p:strVal val="#ppt_x"/>
                                          </p:val>
                                        </p:tav>
                                      </p:tavLst>
                                    </p:anim>
                                    <p:anim calcmode="lin" valueType="num">
                                      <p:cBhvr>
                                        <p:cTn id="91" dur="500" fill="hold" decel="100000"/>
                                        <p:tgtEl>
                                          <p:spTgt spid="29"/>
                                        </p:tgtEl>
                                        <p:attrNameLst>
                                          <p:attrName>ppt_y</p:attrName>
                                        </p:attrNameLst>
                                      </p:cBhvr>
                                      <p:tavLst>
                                        <p:tav tm="0">
                                          <p:val>
                                            <p:strVal val="#ppt_y+.04"/>
                                          </p:val>
                                        </p:tav>
                                        <p:tav tm="100000">
                                          <p:val>
                                            <p:strVal val="#ppt_y"/>
                                          </p:val>
                                        </p:tav>
                                      </p:tavLst>
                                    </p:anim>
                                  </p:childTnLst>
                                </p:cTn>
                              </p:par>
                              <p:par>
                                <p:cTn id="92" presetID="42" presetClass="entr" presetSubtype="0" fill="hold" grpId="0" nodeType="withEffect">
                                  <p:stCondLst>
                                    <p:cond delay="50"/>
                                  </p:stCondLst>
                                  <p:childTnLst>
                                    <p:set>
                                      <p:cBhvr>
                                        <p:cTn id="93" dur="1" fill="hold">
                                          <p:stCondLst>
                                            <p:cond delay="0"/>
                                          </p:stCondLst>
                                        </p:cTn>
                                        <p:tgtEl>
                                          <p:spTgt spid="30"/>
                                        </p:tgtEl>
                                        <p:attrNameLst>
                                          <p:attrName>style.visibility</p:attrName>
                                        </p:attrNameLst>
                                      </p:cBhvr>
                                      <p:to>
                                        <p:strVal val="visible"/>
                                      </p:to>
                                    </p:set>
                                    <p:animEffect transition="in" filter="fade">
                                      <p:cBhvr>
                                        <p:cTn id="94" dur="500"/>
                                        <p:tgtEl>
                                          <p:spTgt spid="30"/>
                                        </p:tgtEl>
                                      </p:cBhvr>
                                    </p:animEffect>
                                    <p:anim calcmode="lin" valueType="num">
                                      <p:cBhvr>
                                        <p:cTn id="95" dur="500" fill="hold" decel="100000"/>
                                        <p:tgtEl>
                                          <p:spTgt spid="30"/>
                                        </p:tgtEl>
                                        <p:attrNameLst>
                                          <p:attrName>ppt_x</p:attrName>
                                        </p:attrNameLst>
                                      </p:cBhvr>
                                      <p:tavLst>
                                        <p:tav tm="0">
                                          <p:val>
                                            <p:strVal val="#ppt_x"/>
                                          </p:val>
                                        </p:tav>
                                        <p:tav tm="100000">
                                          <p:val>
                                            <p:strVal val="#ppt_x"/>
                                          </p:val>
                                        </p:tav>
                                      </p:tavLst>
                                    </p:anim>
                                    <p:anim calcmode="lin" valueType="num">
                                      <p:cBhvr>
                                        <p:cTn id="96" dur="500" fill="hold" decel="100000"/>
                                        <p:tgtEl>
                                          <p:spTgt spid="30"/>
                                        </p:tgtEl>
                                        <p:attrNameLst>
                                          <p:attrName>ppt_y</p:attrName>
                                        </p:attrNameLst>
                                      </p:cBhvr>
                                      <p:tavLst>
                                        <p:tav tm="0">
                                          <p:val>
                                            <p:strVal val="#ppt_y+.04"/>
                                          </p:val>
                                        </p:tav>
                                        <p:tav tm="100000">
                                          <p:val>
                                            <p:strVal val="#ppt_y"/>
                                          </p:val>
                                        </p:tav>
                                      </p:tavLst>
                                    </p:anim>
                                  </p:childTnLst>
                                </p:cTn>
                              </p:par>
                              <p:par>
                                <p:cTn id="97" presetID="42" presetClass="entr" presetSubtype="0" fill="hold" grpId="0" nodeType="withEffect">
                                  <p:stCondLst>
                                    <p:cond delay="50"/>
                                  </p:stCondLst>
                                  <p:childTnLst>
                                    <p:set>
                                      <p:cBhvr>
                                        <p:cTn id="98" dur="1" fill="hold">
                                          <p:stCondLst>
                                            <p:cond delay="0"/>
                                          </p:stCondLst>
                                        </p:cTn>
                                        <p:tgtEl>
                                          <p:spTgt spid="31"/>
                                        </p:tgtEl>
                                        <p:attrNameLst>
                                          <p:attrName>style.visibility</p:attrName>
                                        </p:attrNameLst>
                                      </p:cBhvr>
                                      <p:to>
                                        <p:strVal val="visible"/>
                                      </p:to>
                                    </p:set>
                                    <p:animEffect transition="in" filter="fade">
                                      <p:cBhvr>
                                        <p:cTn id="99" dur="500"/>
                                        <p:tgtEl>
                                          <p:spTgt spid="31"/>
                                        </p:tgtEl>
                                      </p:cBhvr>
                                    </p:animEffect>
                                    <p:anim calcmode="lin" valueType="num">
                                      <p:cBhvr>
                                        <p:cTn id="100" dur="500" fill="hold" decel="100000"/>
                                        <p:tgtEl>
                                          <p:spTgt spid="31"/>
                                        </p:tgtEl>
                                        <p:attrNameLst>
                                          <p:attrName>ppt_x</p:attrName>
                                        </p:attrNameLst>
                                      </p:cBhvr>
                                      <p:tavLst>
                                        <p:tav tm="0">
                                          <p:val>
                                            <p:strVal val="#ppt_x"/>
                                          </p:val>
                                        </p:tav>
                                        <p:tav tm="100000">
                                          <p:val>
                                            <p:strVal val="#ppt_x"/>
                                          </p:val>
                                        </p:tav>
                                      </p:tavLst>
                                    </p:anim>
                                    <p:anim calcmode="lin" valueType="num">
                                      <p:cBhvr>
                                        <p:cTn id="101" dur="500" fill="hold" decel="100000"/>
                                        <p:tgtEl>
                                          <p:spTgt spid="31"/>
                                        </p:tgtEl>
                                        <p:attrNameLst>
                                          <p:attrName>ppt_y</p:attrName>
                                        </p:attrNameLst>
                                      </p:cBhvr>
                                      <p:tavLst>
                                        <p:tav tm="0">
                                          <p:val>
                                            <p:strVal val="#ppt_y+.04"/>
                                          </p:val>
                                        </p:tav>
                                        <p:tav tm="100000">
                                          <p:val>
                                            <p:strVal val="#ppt_y"/>
                                          </p:val>
                                        </p:tav>
                                      </p:tavLst>
                                    </p:anim>
                                  </p:childTnLst>
                                </p:cTn>
                              </p:par>
                              <p:par>
                                <p:cTn id="102" presetID="42" presetClass="entr" presetSubtype="0" fill="hold" grpId="0" nodeType="withEffect">
                                  <p:stCondLst>
                                    <p:cond delay="50"/>
                                  </p:stCondLst>
                                  <p:childTnLst>
                                    <p:set>
                                      <p:cBhvr>
                                        <p:cTn id="103" dur="1" fill="hold">
                                          <p:stCondLst>
                                            <p:cond delay="0"/>
                                          </p:stCondLst>
                                        </p:cTn>
                                        <p:tgtEl>
                                          <p:spTgt spid="32"/>
                                        </p:tgtEl>
                                        <p:attrNameLst>
                                          <p:attrName>style.visibility</p:attrName>
                                        </p:attrNameLst>
                                      </p:cBhvr>
                                      <p:to>
                                        <p:strVal val="visible"/>
                                      </p:to>
                                    </p:set>
                                    <p:animEffect transition="in" filter="fade">
                                      <p:cBhvr>
                                        <p:cTn id="104" dur="500"/>
                                        <p:tgtEl>
                                          <p:spTgt spid="32"/>
                                        </p:tgtEl>
                                      </p:cBhvr>
                                    </p:animEffect>
                                    <p:anim calcmode="lin" valueType="num">
                                      <p:cBhvr>
                                        <p:cTn id="105" dur="500" fill="hold" decel="100000"/>
                                        <p:tgtEl>
                                          <p:spTgt spid="32"/>
                                        </p:tgtEl>
                                        <p:attrNameLst>
                                          <p:attrName>ppt_x</p:attrName>
                                        </p:attrNameLst>
                                      </p:cBhvr>
                                      <p:tavLst>
                                        <p:tav tm="0">
                                          <p:val>
                                            <p:strVal val="#ppt_x"/>
                                          </p:val>
                                        </p:tav>
                                        <p:tav tm="100000">
                                          <p:val>
                                            <p:strVal val="#ppt_x"/>
                                          </p:val>
                                        </p:tav>
                                      </p:tavLst>
                                    </p:anim>
                                    <p:anim calcmode="lin" valueType="num">
                                      <p:cBhvr>
                                        <p:cTn id="106" dur="500" fill="hold" decel="100000"/>
                                        <p:tgtEl>
                                          <p:spTgt spid="32"/>
                                        </p:tgtEl>
                                        <p:attrNameLst>
                                          <p:attrName>ppt_y</p:attrName>
                                        </p:attrNameLst>
                                      </p:cBhvr>
                                      <p:tavLst>
                                        <p:tav tm="0">
                                          <p:val>
                                            <p:strVal val="#ppt_y+.04"/>
                                          </p:val>
                                        </p:tav>
                                        <p:tav tm="100000">
                                          <p:val>
                                            <p:strVal val="#ppt_y"/>
                                          </p:val>
                                        </p:tav>
                                      </p:tavLst>
                                    </p:anim>
                                  </p:childTnLst>
                                </p:cTn>
                              </p:par>
                              <p:par>
                                <p:cTn id="107" presetID="42" presetClass="entr" presetSubtype="0" fill="hold" grpId="0" nodeType="withEffect">
                                  <p:stCondLst>
                                    <p:cond delay="50"/>
                                  </p:stCondLst>
                                  <p:childTnLst>
                                    <p:set>
                                      <p:cBhvr>
                                        <p:cTn id="108" dur="1" fill="hold">
                                          <p:stCondLst>
                                            <p:cond delay="0"/>
                                          </p:stCondLst>
                                        </p:cTn>
                                        <p:tgtEl>
                                          <p:spTgt spid="33"/>
                                        </p:tgtEl>
                                        <p:attrNameLst>
                                          <p:attrName>style.visibility</p:attrName>
                                        </p:attrNameLst>
                                      </p:cBhvr>
                                      <p:to>
                                        <p:strVal val="visible"/>
                                      </p:to>
                                    </p:set>
                                    <p:animEffect transition="in" filter="fade">
                                      <p:cBhvr>
                                        <p:cTn id="109" dur="500"/>
                                        <p:tgtEl>
                                          <p:spTgt spid="33"/>
                                        </p:tgtEl>
                                      </p:cBhvr>
                                    </p:animEffect>
                                    <p:anim calcmode="lin" valueType="num">
                                      <p:cBhvr>
                                        <p:cTn id="110" dur="500" fill="hold" decel="100000"/>
                                        <p:tgtEl>
                                          <p:spTgt spid="33"/>
                                        </p:tgtEl>
                                        <p:attrNameLst>
                                          <p:attrName>ppt_x</p:attrName>
                                        </p:attrNameLst>
                                      </p:cBhvr>
                                      <p:tavLst>
                                        <p:tav tm="0">
                                          <p:val>
                                            <p:strVal val="#ppt_x"/>
                                          </p:val>
                                        </p:tav>
                                        <p:tav tm="100000">
                                          <p:val>
                                            <p:strVal val="#ppt_x"/>
                                          </p:val>
                                        </p:tav>
                                      </p:tavLst>
                                    </p:anim>
                                    <p:anim calcmode="lin" valueType="num">
                                      <p:cBhvr>
                                        <p:cTn id="111" dur="500" fill="hold" decel="100000"/>
                                        <p:tgtEl>
                                          <p:spTgt spid="33"/>
                                        </p:tgtEl>
                                        <p:attrNameLst>
                                          <p:attrName>ppt_y</p:attrName>
                                        </p:attrNameLst>
                                      </p:cBhvr>
                                      <p:tavLst>
                                        <p:tav tm="0">
                                          <p:val>
                                            <p:strVal val="#ppt_y+.04"/>
                                          </p:val>
                                        </p:tav>
                                        <p:tav tm="100000">
                                          <p:val>
                                            <p:strVal val="#ppt_y"/>
                                          </p:val>
                                        </p:tav>
                                      </p:tavLst>
                                    </p:anim>
                                  </p:childTnLst>
                                </p:cTn>
                              </p:par>
                            </p:childTnLst>
                          </p:cTn>
                        </p:par>
                        <p:par>
                          <p:cTn id="112" fill="hold">
                            <p:stCondLst>
                              <p:cond delay="2800"/>
                            </p:stCondLst>
                            <p:childTnLst>
                              <p:par>
                                <p:cTn id="113" presetID="42" presetClass="entr" presetSubtype="0" fill="hold" grpId="0" nodeType="afterEffect">
                                  <p:stCondLst>
                                    <p:cond delay="50"/>
                                  </p:stCondLst>
                                  <p:childTnLst>
                                    <p:set>
                                      <p:cBhvr>
                                        <p:cTn id="114" dur="1" fill="hold">
                                          <p:stCondLst>
                                            <p:cond delay="0"/>
                                          </p:stCondLst>
                                        </p:cTn>
                                        <p:tgtEl>
                                          <p:spTgt spid="34"/>
                                        </p:tgtEl>
                                        <p:attrNameLst>
                                          <p:attrName>style.visibility</p:attrName>
                                        </p:attrNameLst>
                                      </p:cBhvr>
                                      <p:to>
                                        <p:strVal val="visible"/>
                                      </p:to>
                                    </p:set>
                                    <p:animEffect transition="in" filter="fade">
                                      <p:cBhvr>
                                        <p:cTn id="115" dur="500"/>
                                        <p:tgtEl>
                                          <p:spTgt spid="34"/>
                                        </p:tgtEl>
                                      </p:cBhvr>
                                    </p:animEffect>
                                    <p:anim calcmode="lin" valueType="num">
                                      <p:cBhvr>
                                        <p:cTn id="116" dur="500" fill="hold" decel="100000"/>
                                        <p:tgtEl>
                                          <p:spTgt spid="34"/>
                                        </p:tgtEl>
                                        <p:attrNameLst>
                                          <p:attrName>ppt_x</p:attrName>
                                        </p:attrNameLst>
                                      </p:cBhvr>
                                      <p:tavLst>
                                        <p:tav tm="0">
                                          <p:val>
                                            <p:strVal val="#ppt_x"/>
                                          </p:val>
                                        </p:tav>
                                        <p:tav tm="100000">
                                          <p:val>
                                            <p:strVal val="#ppt_x"/>
                                          </p:val>
                                        </p:tav>
                                      </p:tavLst>
                                    </p:anim>
                                    <p:anim calcmode="lin" valueType="num">
                                      <p:cBhvr>
                                        <p:cTn id="117" dur="500" fill="hold" decel="100000"/>
                                        <p:tgtEl>
                                          <p:spTgt spid="34"/>
                                        </p:tgtEl>
                                        <p:attrNameLst>
                                          <p:attrName>ppt_y</p:attrName>
                                        </p:attrNameLst>
                                      </p:cBhvr>
                                      <p:tavLst>
                                        <p:tav tm="0">
                                          <p:val>
                                            <p:strVal val="#ppt_y+.04"/>
                                          </p:val>
                                        </p:tav>
                                        <p:tav tm="100000">
                                          <p:val>
                                            <p:strVal val="#ppt_y"/>
                                          </p:val>
                                        </p:tav>
                                      </p:tavLst>
                                    </p:anim>
                                  </p:childTnLst>
                                </p:cTn>
                              </p:par>
                              <p:par>
                                <p:cTn id="118" presetID="42" presetClass="entr" presetSubtype="0" fill="hold" grpId="0" nodeType="withEffect">
                                  <p:stCondLst>
                                    <p:cond delay="50"/>
                                  </p:stCondLst>
                                  <p:childTnLst>
                                    <p:set>
                                      <p:cBhvr>
                                        <p:cTn id="119" dur="1" fill="hold">
                                          <p:stCondLst>
                                            <p:cond delay="0"/>
                                          </p:stCondLst>
                                        </p:cTn>
                                        <p:tgtEl>
                                          <p:spTgt spid="35"/>
                                        </p:tgtEl>
                                        <p:attrNameLst>
                                          <p:attrName>style.visibility</p:attrName>
                                        </p:attrNameLst>
                                      </p:cBhvr>
                                      <p:to>
                                        <p:strVal val="visible"/>
                                      </p:to>
                                    </p:set>
                                    <p:animEffect transition="in" filter="fade">
                                      <p:cBhvr>
                                        <p:cTn id="120" dur="500"/>
                                        <p:tgtEl>
                                          <p:spTgt spid="35"/>
                                        </p:tgtEl>
                                      </p:cBhvr>
                                    </p:animEffect>
                                    <p:anim calcmode="lin" valueType="num">
                                      <p:cBhvr>
                                        <p:cTn id="121" dur="500" fill="hold" decel="100000"/>
                                        <p:tgtEl>
                                          <p:spTgt spid="35"/>
                                        </p:tgtEl>
                                        <p:attrNameLst>
                                          <p:attrName>ppt_x</p:attrName>
                                        </p:attrNameLst>
                                      </p:cBhvr>
                                      <p:tavLst>
                                        <p:tav tm="0">
                                          <p:val>
                                            <p:strVal val="#ppt_x"/>
                                          </p:val>
                                        </p:tav>
                                        <p:tav tm="100000">
                                          <p:val>
                                            <p:strVal val="#ppt_x"/>
                                          </p:val>
                                        </p:tav>
                                      </p:tavLst>
                                    </p:anim>
                                    <p:anim calcmode="lin" valueType="num">
                                      <p:cBhvr>
                                        <p:cTn id="122" dur="500" fill="hold" decel="100000"/>
                                        <p:tgtEl>
                                          <p:spTgt spid="35"/>
                                        </p:tgtEl>
                                        <p:attrNameLst>
                                          <p:attrName>ppt_y</p:attrName>
                                        </p:attrNameLst>
                                      </p:cBhvr>
                                      <p:tavLst>
                                        <p:tav tm="0">
                                          <p:val>
                                            <p:strVal val="#ppt_y+.04"/>
                                          </p:val>
                                        </p:tav>
                                        <p:tav tm="100000">
                                          <p:val>
                                            <p:strVal val="#ppt_y"/>
                                          </p:val>
                                        </p:tav>
                                      </p:tavLst>
                                    </p:anim>
                                  </p:childTnLst>
                                </p:cTn>
                              </p:par>
                              <p:par>
                                <p:cTn id="123" presetID="42" presetClass="entr" presetSubtype="0" fill="hold" grpId="0" nodeType="withEffect">
                                  <p:stCondLst>
                                    <p:cond delay="50"/>
                                  </p:stCondLst>
                                  <p:childTnLst>
                                    <p:set>
                                      <p:cBhvr>
                                        <p:cTn id="124" dur="1" fill="hold">
                                          <p:stCondLst>
                                            <p:cond delay="0"/>
                                          </p:stCondLst>
                                        </p:cTn>
                                        <p:tgtEl>
                                          <p:spTgt spid="36"/>
                                        </p:tgtEl>
                                        <p:attrNameLst>
                                          <p:attrName>style.visibility</p:attrName>
                                        </p:attrNameLst>
                                      </p:cBhvr>
                                      <p:to>
                                        <p:strVal val="visible"/>
                                      </p:to>
                                    </p:set>
                                    <p:animEffect transition="in" filter="fade">
                                      <p:cBhvr>
                                        <p:cTn id="125" dur="500"/>
                                        <p:tgtEl>
                                          <p:spTgt spid="36"/>
                                        </p:tgtEl>
                                      </p:cBhvr>
                                    </p:animEffect>
                                    <p:anim calcmode="lin" valueType="num">
                                      <p:cBhvr>
                                        <p:cTn id="126" dur="500" fill="hold" decel="100000"/>
                                        <p:tgtEl>
                                          <p:spTgt spid="36"/>
                                        </p:tgtEl>
                                        <p:attrNameLst>
                                          <p:attrName>ppt_x</p:attrName>
                                        </p:attrNameLst>
                                      </p:cBhvr>
                                      <p:tavLst>
                                        <p:tav tm="0">
                                          <p:val>
                                            <p:strVal val="#ppt_x"/>
                                          </p:val>
                                        </p:tav>
                                        <p:tav tm="100000">
                                          <p:val>
                                            <p:strVal val="#ppt_x"/>
                                          </p:val>
                                        </p:tav>
                                      </p:tavLst>
                                    </p:anim>
                                    <p:anim calcmode="lin" valueType="num">
                                      <p:cBhvr>
                                        <p:cTn id="127" dur="500" fill="hold" decel="100000"/>
                                        <p:tgtEl>
                                          <p:spTgt spid="36"/>
                                        </p:tgtEl>
                                        <p:attrNameLst>
                                          <p:attrName>ppt_y</p:attrName>
                                        </p:attrNameLst>
                                      </p:cBhvr>
                                      <p:tavLst>
                                        <p:tav tm="0">
                                          <p:val>
                                            <p:strVal val="#ppt_y+.04"/>
                                          </p:val>
                                        </p:tav>
                                        <p:tav tm="100000">
                                          <p:val>
                                            <p:strVal val="#ppt_y"/>
                                          </p:val>
                                        </p:tav>
                                      </p:tavLst>
                                    </p:anim>
                                  </p:childTnLst>
                                </p:cTn>
                              </p:par>
                              <p:par>
                                <p:cTn id="128" presetID="42" presetClass="entr" presetSubtype="0" fill="hold" grpId="0" nodeType="withEffect">
                                  <p:stCondLst>
                                    <p:cond delay="50"/>
                                  </p:stCondLst>
                                  <p:childTnLst>
                                    <p:set>
                                      <p:cBhvr>
                                        <p:cTn id="129" dur="1" fill="hold">
                                          <p:stCondLst>
                                            <p:cond delay="0"/>
                                          </p:stCondLst>
                                        </p:cTn>
                                        <p:tgtEl>
                                          <p:spTgt spid="37"/>
                                        </p:tgtEl>
                                        <p:attrNameLst>
                                          <p:attrName>style.visibility</p:attrName>
                                        </p:attrNameLst>
                                      </p:cBhvr>
                                      <p:to>
                                        <p:strVal val="visible"/>
                                      </p:to>
                                    </p:set>
                                    <p:animEffect transition="in" filter="fade">
                                      <p:cBhvr>
                                        <p:cTn id="130" dur="500"/>
                                        <p:tgtEl>
                                          <p:spTgt spid="37"/>
                                        </p:tgtEl>
                                      </p:cBhvr>
                                    </p:animEffect>
                                    <p:anim calcmode="lin" valueType="num">
                                      <p:cBhvr>
                                        <p:cTn id="131" dur="500" fill="hold" decel="100000"/>
                                        <p:tgtEl>
                                          <p:spTgt spid="37"/>
                                        </p:tgtEl>
                                        <p:attrNameLst>
                                          <p:attrName>ppt_x</p:attrName>
                                        </p:attrNameLst>
                                      </p:cBhvr>
                                      <p:tavLst>
                                        <p:tav tm="0">
                                          <p:val>
                                            <p:strVal val="#ppt_x"/>
                                          </p:val>
                                        </p:tav>
                                        <p:tav tm="100000">
                                          <p:val>
                                            <p:strVal val="#ppt_x"/>
                                          </p:val>
                                        </p:tav>
                                      </p:tavLst>
                                    </p:anim>
                                    <p:anim calcmode="lin" valueType="num">
                                      <p:cBhvr>
                                        <p:cTn id="132" dur="500" fill="hold" decel="100000"/>
                                        <p:tgtEl>
                                          <p:spTgt spid="37"/>
                                        </p:tgtEl>
                                        <p:attrNameLst>
                                          <p:attrName>ppt_y</p:attrName>
                                        </p:attrNameLst>
                                      </p:cBhvr>
                                      <p:tavLst>
                                        <p:tav tm="0">
                                          <p:val>
                                            <p:strVal val="#ppt_y+.04"/>
                                          </p:val>
                                        </p:tav>
                                        <p:tav tm="100000">
                                          <p:val>
                                            <p:strVal val="#ppt_y"/>
                                          </p:val>
                                        </p:tav>
                                      </p:tavLst>
                                    </p:anim>
                                  </p:childTnLst>
                                </p:cTn>
                              </p:par>
                              <p:par>
                                <p:cTn id="133" presetID="42" presetClass="entr" presetSubtype="0" fill="hold" grpId="0" nodeType="withEffect">
                                  <p:stCondLst>
                                    <p:cond delay="50"/>
                                  </p:stCondLst>
                                  <p:childTnLst>
                                    <p:set>
                                      <p:cBhvr>
                                        <p:cTn id="134" dur="1" fill="hold">
                                          <p:stCondLst>
                                            <p:cond delay="0"/>
                                          </p:stCondLst>
                                        </p:cTn>
                                        <p:tgtEl>
                                          <p:spTgt spid="38"/>
                                        </p:tgtEl>
                                        <p:attrNameLst>
                                          <p:attrName>style.visibility</p:attrName>
                                        </p:attrNameLst>
                                      </p:cBhvr>
                                      <p:to>
                                        <p:strVal val="visible"/>
                                      </p:to>
                                    </p:set>
                                    <p:animEffect transition="in" filter="fade">
                                      <p:cBhvr>
                                        <p:cTn id="135" dur="500"/>
                                        <p:tgtEl>
                                          <p:spTgt spid="38"/>
                                        </p:tgtEl>
                                      </p:cBhvr>
                                    </p:animEffect>
                                    <p:anim calcmode="lin" valueType="num">
                                      <p:cBhvr>
                                        <p:cTn id="136" dur="500" fill="hold" decel="100000"/>
                                        <p:tgtEl>
                                          <p:spTgt spid="38"/>
                                        </p:tgtEl>
                                        <p:attrNameLst>
                                          <p:attrName>ppt_x</p:attrName>
                                        </p:attrNameLst>
                                      </p:cBhvr>
                                      <p:tavLst>
                                        <p:tav tm="0">
                                          <p:val>
                                            <p:strVal val="#ppt_x"/>
                                          </p:val>
                                        </p:tav>
                                        <p:tav tm="100000">
                                          <p:val>
                                            <p:strVal val="#ppt_x"/>
                                          </p:val>
                                        </p:tav>
                                      </p:tavLst>
                                    </p:anim>
                                    <p:anim calcmode="lin" valueType="num">
                                      <p:cBhvr>
                                        <p:cTn id="137" dur="500" fill="hold" decel="100000"/>
                                        <p:tgtEl>
                                          <p:spTgt spid="38"/>
                                        </p:tgtEl>
                                        <p:attrNameLst>
                                          <p:attrName>ppt_y</p:attrName>
                                        </p:attrNameLst>
                                      </p:cBhvr>
                                      <p:tavLst>
                                        <p:tav tm="0">
                                          <p:val>
                                            <p:strVal val="#ppt_y+.04"/>
                                          </p:val>
                                        </p:tav>
                                        <p:tav tm="100000">
                                          <p:val>
                                            <p:strVal val="#ppt_y"/>
                                          </p:val>
                                        </p:tav>
                                      </p:tavLst>
                                    </p:anim>
                                  </p:childTnLst>
                                </p:cTn>
                              </p:par>
                            </p:childTnLst>
                          </p:cTn>
                        </p:par>
                        <p:par>
                          <p:cTn id="138" fill="hold">
                            <p:stCondLst>
                              <p:cond delay="3350"/>
                            </p:stCondLst>
                            <p:childTnLst>
                              <p:par>
                                <p:cTn id="139" presetID="42" presetClass="entr" presetSubtype="0" fill="hold" grpId="0" nodeType="afterEffect">
                                  <p:stCondLst>
                                    <p:cond delay="0"/>
                                  </p:stCondLst>
                                  <p:childTnLst>
                                    <p:set>
                                      <p:cBhvr>
                                        <p:cTn id="140" dur="1" fill="hold">
                                          <p:stCondLst>
                                            <p:cond delay="0"/>
                                          </p:stCondLst>
                                        </p:cTn>
                                        <p:tgtEl>
                                          <p:spTgt spid="39"/>
                                        </p:tgtEl>
                                        <p:attrNameLst>
                                          <p:attrName>style.visibility</p:attrName>
                                        </p:attrNameLst>
                                      </p:cBhvr>
                                      <p:to>
                                        <p:strVal val="visible"/>
                                      </p:to>
                                    </p:set>
                                    <p:animEffect transition="in" filter="fade">
                                      <p:cBhvr>
                                        <p:cTn id="141" dur="700"/>
                                        <p:tgtEl>
                                          <p:spTgt spid="39"/>
                                        </p:tgtEl>
                                      </p:cBhvr>
                                    </p:animEffect>
                                    <p:anim calcmode="lin" valueType="num">
                                      <p:cBhvr>
                                        <p:cTn id="142" dur="700" fill="hold" decel="100000"/>
                                        <p:tgtEl>
                                          <p:spTgt spid="39"/>
                                        </p:tgtEl>
                                        <p:attrNameLst>
                                          <p:attrName>ppt_x</p:attrName>
                                        </p:attrNameLst>
                                      </p:cBhvr>
                                      <p:tavLst>
                                        <p:tav tm="0">
                                          <p:val>
                                            <p:strVal val="#ppt_x"/>
                                          </p:val>
                                        </p:tav>
                                        <p:tav tm="100000">
                                          <p:val>
                                            <p:strVal val="#ppt_x"/>
                                          </p:val>
                                        </p:tav>
                                      </p:tavLst>
                                    </p:anim>
                                    <p:anim calcmode="lin" valueType="num">
                                      <p:cBhvr>
                                        <p:cTn id="143" dur="700" fill="hold" decel="100000"/>
                                        <p:tgtEl>
                                          <p:spTgt spid="39"/>
                                        </p:tgtEl>
                                        <p:attrNameLst>
                                          <p:attrName>ppt_y</p:attrName>
                                        </p:attrNameLst>
                                      </p:cBhvr>
                                      <p:tavLst>
                                        <p:tav tm="0">
                                          <p:val>
                                            <p:strVal val="#ppt_y+.04"/>
                                          </p:val>
                                        </p:tav>
                                        <p:tav tm="100000">
                                          <p:val>
                                            <p:strVal val="#ppt_y"/>
                                          </p:val>
                                        </p:tav>
                                      </p:tavLst>
                                    </p:anim>
                                  </p:childTnLst>
                                </p:cTn>
                              </p:par>
                              <p:par>
                                <p:cTn id="144" presetID="42" presetClass="entr" presetSubtype="0" fill="hold" grpId="0" nodeType="withEffect">
                                  <p:stCondLst>
                                    <p:cond delay="0"/>
                                  </p:stCondLst>
                                  <p:childTnLst>
                                    <p:set>
                                      <p:cBhvr>
                                        <p:cTn id="145" dur="1" fill="hold">
                                          <p:stCondLst>
                                            <p:cond delay="0"/>
                                          </p:stCondLst>
                                        </p:cTn>
                                        <p:tgtEl>
                                          <p:spTgt spid="40"/>
                                        </p:tgtEl>
                                        <p:attrNameLst>
                                          <p:attrName>style.visibility</p:attrName>
                                        </p:attrNameLst>
                                      </p:cBhvr>
                                      <p:to>
                                        <p:strVal val="visible"/>
                                      </p:to>
                                    </p:set>
                                    <p:animEffect transition="in" filter="fade">
                                      <p:cBhvr>
                                        <p:cTn id="146" dur="700"/>
                                        <p:tgtEl>
                                          <p:spTgt spid="40"/>
                                        </p:tgtEl>
                                      </p:cBhvr>
                                    </p:animEffect>
                                    <p:anim calcmode="lin" valueType="num">
                                      <p:cBhvr>
                                        <p:cTn id="147" dur="700" fill="hold" decel="100000"/>
                                        <p:tgtEl>
                                          <p:spTgt spid="40"/>
                                        </p:tgtEl>
                                        <p:attrNameLst>
                                          <p:attrName>ppt_x</p:attrName>
                                        </p:attrNameLst>
                                      </p:cBhvr>
                                      <p:tavLst>
                                        <p:tav tm="0">
                                          <p:val>
                                            <p:strVal val="#ppt_x"/>
                                          </p:val>
                                        </p:tav>
                                        <p:tav tm="100000">
                                          <p:val>
                                            <p:strVal val="#ppt_x"/>
                                          </p:val>
                                        </p:tav>
                                      </p:tavLst>
                                    </p:anim>
                                    <p:anim calcmode="lin" valueType="num">
                                      <p:cBhvr>
                                        <p:cTn id="148" dur="700" fill="hold" decel="100000"/>
                                        <p:tgtEl>
                                          <p:spTgt spid="40"/>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4" grpId="0" animBg="1"/>
      <p:bldP spid="15" grpId="0" animBg="1"/>
      <p:bldP spid="16" grpId="0" animBg="1"/>
      <p:bldP spid="18" grpId="0"/>
      <p:bldP spid="19" grpId="0" animBg="1"/>
      <p:bldP spid="20" grpId="0" animBg="1"/>
      <p:bldP spid="21" grpId="0" animBg="1"/>
      <p:bldP spid="23" grpId="0"/>
      <p:bldP spid="24" grpId="0" animBg="1"/>
      <p:bldP spid="25" grpId="0" animBg="1"/>
      <p:bldP spid="26" grpId="0" animBg="1"/>
      <p:bldP spid="28" grpId="0"/>
      <p:bldP spid="29" grpId="0" animBg="1"/>
      <p:bldP spid="30" grpId="0" animBg="1"/>
      <p:bldP spid="31" grpId="0" animBg="1"/>
      <p:bldP spid="33" grpId="0"/>
      <p:bldP spid="34" grpId="0" animBg="1"/>
      <p:bldP spid="35" grpId="0" animBg="1"/>
      <p:bldP spid="36" grpId="0" animBg="1"/>
      <p:bldP spid="38" grpId="0"/>
      <p:bldP spid="39" grpId="0" animBg="1"/>
      <p:bldP spid="40"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8F3"/>
        </a:solidFill>
        <a:effectLst/>
      </p:bgPr>
    </p:bg>
    <p:spTree>
      <p:nvGrpSpPr>
        <p:cNvPr id="1" name=""/>
        <p:cNvGrpSpPr/>
        <p:nvPr/>
      </p:nvGrpSpPr>
      <p:grpSpPr/>
      <p:sp>
        <p:nvSpPr>
          <p:cNvPr id="2" name="Trait or"/>
          <p:cNvSpPr/>
          <p:nvPr/>
        </p:nvSpPr>
        <p:spPr>
          <a:xfrm>
            <a:off x="609600" y="444500"/>
            <a:ext cx="406400" cy="38100"/>
          </a:xfrm>
          <a:prstGeom prst="rect">
            <a:avLst/>
          </a:prstGeom>
          <a:solidFill>
            <a:srgbClr val="D3A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brique"/>
          <p:cNvSpPr txBox="1"/>
          <p:nvPr/>
        </p:nvSpPr>
        <p:spPr>
          <a:xfrm>
            <a:off x="609600" y="508000"/>
            <a:ext cx="10160000" cy="304800"/>
          </a:xfrm>
          <a:prstGeom prst="rect">
            <a:avLst/>
          </a:prstGeom>
          <a:noFill/>
        </p:spPr>
        <p:txBody>
          <a:bodyPr wrap="square" lIns="0" tIns="0" rIns="0" bIns="0" anchor="ctr">
            <a:noAutofit/>
          </a:bodyPr>
          <a:lstStyle/>
          <a:p>
            <a:pPr algn="l">
              <a:lnSpc>
                <a:spcPct val="100000"/>
              </a:lnSpc>
              <a:spcBef>
                <a:spcPts val="0"/>
              </a:spcBef>
              <a:spcAft>
                <a:spcPts val="0"/>
              </a:spcAft>
            </a:pPr>
            <a:r>
              <a:rPr sz="2000" b="1" i="0" lang="fr-FR" spc="150">
                <a:solidFill>
                  <a:srgbClr val="1E7B67"/>
                </a:solidFill>
                <a:latin typeface="Calibri"/>
              </a:rPr>
              <a:t>12 / LA FEUILLE DE ROUTE</a:t>
            </a:r>
          </a:p>
        </p:txBody>
      </p:sp>
      <p:sp>
        <p:nvSpPr>
          <p:cNvPr id="4" name="Titre"/>
          <p:cNvSpPr txBox="1"/>
          <p:nvPr/>
        </p:nvSpPr>
        <p:spPr>
          <a:xfrm>
            <a:off x="609600" y="774700"/>
            <a:ext cx="10972800" cy="609600"/>
          </a:xfrm>
          <a:prstGeom prst="rect">
            <a:avLst/>
          </a:prstGeom>
          <a:noFill/>
        </p:spPr>
        <p:txBody>
          <a:bodyPr wrap="square" lIns="0" tIns="0" rIns="0" bIns="0" anchor="ctr">
            <a:noAutofit/>
          </a:bodyPr>
          <a:lstStyle/>
          <a:p>
            <a:pPr algn="l">
              <a:lnSpc>
                <a:spcPct val="100000"/>
              </a:lnSpc>
              <a:spcBef>
                <a:spcPts val="0"/>
              </a:spcBef>
              <a:spcAft>
                <a:spcPts val="0"/>
              </a:spcAft>
            </a:pPr>
            <a:r>
              <a:rPr sz="4000" b="1" i="0" lang="fr-FR">
                <a:solidFill>
                  <a:srgbClr val="12264A"/>
                </a:solidFill>
                <a:latin typeface="Calibri"/>
              </a:rPr>
              <a:t>Feuille de route</a:t>
            </a:r>
          </a:p>
        </p:txBody>
      </p:sp>
      <p:sp>
        <p:nvSpPr>
          <p:cNvPr id="5" name="Accroche"/>
          <p:cNvSpPr txBox="1"/>
          <p:nvPr/>
        </p:nvSpPr>
        <p:spPr>
          <a:xfrm>
            <a:off x="609600" y="1358900"/>
            <a:ext cx="10972800" cy="355600"/>
          </a:xfrm>
          <a:prstGeom prst="rect">
            <a:avLst/>
          </a:prstGeom>
          <a:noFill/>
        </p:spPr>
        <p:txBody>
          <a:bodyPr wrap="square" lIns="0" tIns="0" rIns="0" bIns="0" anchor="t">
            <a:noAutofit/>
          </a:bodyPr>
          <a:lstStyle/>
          <a:p>
            <a:pPr algn="l">
              <a:lnSpc>
                <a:spcPct val="100000"/>
              </a:lnSpc>
              <a:spcBef>
                <a:spcPts val="0"/>
              </a:spcBef>
              <a:spcAft>
                <a:spcPts val="0"/>
              </a:spcAft>
            </a:pPr>
            <a:r>
              <a:rPr sz="2200" b="0" i="0" lang="fr-FR">
                <a:solidFill>
                  <a:srgbClr val="1B2A41"/>
                </a:solidFill>
                <a:latin typeface="Calibri"/>
              </a:rPr>
              <a:t>Quatre étapes, de la délibération communale aux premiers projets livrés.</a:t>
            </a:r>
          </a:p>
        </p:txBody>
      </p:sp>
      <p:sp>
        <p:nvSpPr>
          <p:cNvPr id="6" name="Pied de page"/>
          <p:cNvSpPr txBox="1"/>
          <p:nvPr/>
        </p:nvSpPr>
        <p:spPr>
          <a:xfrm>
            <a:off x="609600" y="6413500"/>
            <a:ext cx="4826000" cy="241300"/>
          </a:xfrm>
          <a:prstGeom prst="rect">
            <a:avLst/>
          </a:prstGeom>
          <a:noFill/>
        </p:spPr>
        <p:txBody>
          <a:bodyPr wrap="square" lIns="0" tIns="0" rIns="0" bIns="0" anchor="ctr">
            <a:noAutofit/>
          </a:bodyPr>
          <a:lstStyle/>
          <a:p>
            <a:pPr algn="l">
              <a:lnSpc>
                <a:spcPct val="100000"/>
              </a:lnSpc>
              <a:spcBef>
                <a:spcPts val="0"/>
              </a:spcBef>
              <a:spcAft>
                <a:spcPts val="0"/>
              </a:spcAft>
            </a:pPr>
            <a:r>
              <a:rPr sz="1400" b="1" i="0" lang="fr-FR" spc="50">
                <a:solidFill>
                  <a:srgbClr val="1B2A41"/>
                </a:solidFill>
                <a:latin typeface="Calibri"/>
              </a:rPr>
              <a:t>FUTURA - KOUROUSSA | Octobre 2026</a:t>
            </a:r>
          </a:p>
        </p:txBody>
      </p:sp>
      <p:sp>
        <p:nvSpPr>
          <p:cNvPr id="7" name="Pied bandeau"/>
          <p:cNvSpPr/>
          <p:nvPr/>
        </p:nvSpPr>
        <p:spPr>
          <a:xfrm>
            <a:off x="9069742" y="6350000"/>
            <a:ext cx="2512658" cy="355600"/>
          </a:xfrm>
          <a:prstGeom prst="roundRect">
            <a:avLst>
              <a:gd name="adj" fmla="val 42857"/>
            </a:avLst>
          </a:prstGeom>
          <a:solidFill>
            <a:srgbClr val="FFFFFF"/>
          </a:solidFill>
          <a:ln w="9525">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ed logo futura-kouroussa" descr="futura-kouroussa.png"/>
          <p:cNvPicPr>
            <a:picLocks noChangeAspect="1"/>
          </p:cNvPicPr>
          <p:nvPr/>
        </p:nvPicPr>
        <p:blipFill>
          <a:blip r:embed="rId2"/>
          <a:stretch>
            <a:fillRect/>
          </a:stretch>
        </p:blipFill>
        <p:spPr>
          <a:xfrm>
            <a:off x="9184042" y="6419850"/>
            <a:ext cx="391970" cy="215900"/>
          </a:xfrm>
          <a:prstGeom prst="rect">
            <a:avLst/>
          </a:prstGeom>
        </p:spPr>
      </p:pic>
      <p:pic>
        <p:nvPicPr>
          <p:cNvPr id="9" name="Pied logo republique-de-guinee-armoiries" descr="republique-de-guinee-armoiries.png"/>
          <p:cNvPicPr>
            <a:picLocks noChangeAspect="1"/>
          </p:cNvPicPr>
          <p:nvPr/>
        </p:nvPicPr>
        <p:blipFill>
          <a:blip r:embed="rId3"/>
          <a:stretch>
            <a:fillRect/>
          </a:stretch>
        </p:blipFill>
        <p:spPr>
          <a:xfrm>
            <a:off x="9664912" y="6419850"/>
            <a:ext cx="179814" cy="215900"/>
          </a:xfrm>
          <a:prstGeom prst="rect">
            <a:avLst/>
          </a:prstGeom>
        </p:spPr>
      </p:pic>
      <p:pic>
        <p:nvPicPr>
          <p:cNvPr id="10" name="Pied logo assemblee-nationale" descr="assemblee-nationale.png"/>
          <p:cNvPicPr>
            <a:picLocks noChangeAspect="1"/>
          </p:cNvPicPr>
          <p:nvPr/>
        </p:nvPicPr>
        <p:blipFill>
          <a:blip r:embed="rId4"/>
          <a:stretch>
            <a:fillRect/>
          </a:stretch>
        </p:blipFill>
        <p:spPr>
          <a:xfrm>
            <a:off x="9933626" y="6419850"/>
            <a:ext cx="217442" cy="215900"/>
          </a:xfrm>
          <a:prstGeom prst="rect">
            <a:avLst/>
          </a:prstGeom>
        </p:spPr>
      </p:pic>
      <p:pic>
        <p:nvPicPr>
          <p:cNvPr id="11" name="Pied logo simandou-2040" descr="simandou-2040.png"/>
          <p:cNvPicPr>
            <a:picLocks noChangeAspect="1"/>
          </p:cNvPicPr>
          <p:nvPr/>
        </p:nvPicPr>
        <p:blipFill>
          <a:blip r:embed="rId5"/>
          <a:stretch>
            <a:fillRect/>
          </a:stretch>
        </p:blipFill>
        <p:spPr>
          <a:xfrm>
            <a:off x="10239968" y="6419850"/>
            <a:ext cx="674774" cy="215900"/>
          </a:xfrm>
          <a:prstGeom prst="rect">
            <a:avLst/>
          </a:prstGeom>
        </p:spPr>
      </p:pic>
      <p:pic>
        <p:nvPicPr>
          <p:cNvPr id="12" name="Pied logo guinee" descr="guinee.png"/>
          <p:cNvPicPr>
            <a:picLocks noChangeAspect="1"/>
          </p:cNvPicPr>
          <p:nvPr/>
        </p:nvPicPr>
        <p:blipFill>
          <a:blip r:embed="rId6"/>
          <a:stretch>
            <a:fillRect/>
          </a:stretch>
        </p:blipFill>
        <p:spPr>
          <a:xfrm>
            <a:off x="11003643" y="6419850"/>
            <a:ext cx="464457" cy="215900"/>
          </a:xfrm>
          <a:prstGeom prst="rect">
            <a:avLst/>
          </a:prstGeom>
        </p:spPr>
      </p:pic>
      <p:sp>
        <p:nvSpPr>
          <p:cNvPr id="13" name="Numéro"/>
          <p:cNvSpPr txBox="1"/>
          <p:nvPr/>
        </p:nvSpPr>
        <p:spPr>
          <a:xfrm>
            <a:off x="7990242" y="6413500"/>
            <a:ext cx="952500" cy="241300"/>
          </a:xfrm>
          <a:prstGeom prst="rect">
            <a:avLst/>
          </a:prstGeom>
          <a:noFill/>
        </p:spPr>
        <p:txBody>
          <a:bodyPr wrap="square" lIns="0" tIns="0" rIns="0" bIns="0" anchor="ctr">
            <a:noAutofit/>
          </a:bodyPr>
          <a:lstStyle/>
          <a:p>
            <a:pPr algn="r">
              <a:lnSpc>
                <a:spcPct val="100000"/>
              </a:lnSpc>
              <a:spcBef>
                <a:spcPts val="0"/>
              </a:spcBef>
              <a:spcAft>
                <a:spcPts val="0"/>
              </a:spcAft>
            </a:pPr>
            <a:r>
              <a:rPr sz="1400" b="1" i="0" lang="fr-FR">
                <a:solidFill>
                  <a:srgbClr val="12264A"/>
                </a:solidFill>
                <a:latin typeface="Calibri"/>
              </a:rPr>
              <a:t>13 / 15</a:t>
            </a:r>
          </a:p>
        </p:txBody>
      </p:sp>
      <p:sp>
        <p:nvSpPr>
          <p:cNvPr id="14" name="s13 frise"/>
          <p:cNvSpPr/>
          <p:nvPr/>
        </p:nvSpPr>
        <p:spPr>
          <a:xfrm>
            <a:off x="1066800" y="2374900"/>
            <a:ext cx="10058400" cy="25400"/>
          </a:xfrm>
          <a:prstGeom prst="rect">
            <a:avLst/>
          </a:prstGeom>
          <a:solidFill>
            <a:srgbClr val="D3A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13 période 1"/>
          <p:cNvSpPr txBox="1"/>
          <p:nvPr/>
        </p:nvSpPr>
        <p:spPr>
          <a:xfrm>
            <a:off x="609600" y="1854200"/>
            <a:ext cx="2628900" cy="304800"/>
          </a:xfrm>
          <a:prstGeom prst="rect">
            <a:avLst/>
          </a:prstGeom>
          <a:noFill/>
        </p:spPr>
        <p:txBody>
          <a:bodyPr wrap="square" lIns="0" tIns="0" rIns="0" bIns="0" anchor="ctr">
            <a:noAutofit/>
          </a:bodyPr>
          <a:lstStyle/>
          <a:p>
            <a:pPr algn="ctr">
              <a:lnSpc>
                <a:spcPct val="100000"/>
              </a:lnSpc>
              <a:spcBef>
                <a:spcPts val="0"/>
              </a:spcBef>
              <a:spcAft>
                <a:spcPts val="0"/>
              </a:spcAft>
            </a:pPr>
            <a:r>
              <a:rPr sz="2000" b="1" i="0" lang="fr-FR" spc="150">
                <a:solidFill>
                  <a:srgbClr val="1E7B67"/>
                </a:solidFill>
                <a:latin typeface="Calibri"/>
              </a:rPr>
              <a:t>MOIS 1 À 3</a:t>
            </a:r>
          </a:p>
        </p:txBody>
      </p:sp>
      <p:sp>
        <p:nvSpPr>
          <p:cNvPr id="16" name="s13 étape 1"/>
          <p:cNvSpPr/>
          <p:nvPr/>
        </p:nvSpPr>
        <p:spPr>
          <a:xfrm>
            <a:off x="1758950" y="2222500"/>
            <a:ext cx="330200" cy="330200"/>
          </a:xfrm>
          <a:prstGeom prst="ellipse">
            <a:avLst/>
          </a:prstGeom>
          <a:solidFill>
            <a:srgbClr val="1E7B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00000"/>
              </a:lnSpc>
              <a:spcBef>
                <a:spcPts val="0"/>
              </a:spcBef>
              <a:spcAft>
                <a:spcPts val="0"/>
              </a:spcAft>
            </a:pPr>
            <a:r>
              <a:rPr sz="2200" b="1" i="0" lang="fr-FR">
                <a:solidFill>
                  <a:srgbClr val="FFFFFF"/>
                </a:solidFill>
                <a:latin typeface="Calibri"/>
              </a:rPr>
              <a:t>1</a:t>
            </a:r>
          </a:p>
        </p:txBody>
      </p:sp>
      <p:sp>
        <p:nvSpPr>
          <p:cNvPr id="17" name="s13 carte 1"/>
          <p:cNvSpPr/>
          <p:nvPr/>
        </p:nvSpPr>
        <p:spPr>
          <a:xfrm>
            <a:off x="609600" y="2717800"/>
            <a:ext cx="2628900" cy="3378200"/>
          </a:xfrm>
          <a:prstGeom prst="roundRect">
            <a:avLst>
              <a:gd name="adj" fmla="val 3864"/>
            </a:avLst>
          </a:prstGeom>
          <a:solidFill>
            <a:srgbClr val="FFFFFF"/>
          </a:solidFill>
          <a:ln w="9525">
            <a:solidFill>
              <a:srgbClr val="E3DED3"/>
            </a:solidFill>
          </a:ln>
          <a:effectLst>
            <a:outerShdw blurRad="165100" dist="38100" dir="5400000" algn="t" rotWithShape="0">
              <a:srgbClr val="12264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13 carte 1 filet"/>
          <p:cNvSpPr/>
          <p:nvPr/>
        </p:nvSpPr>
        <p:spPr>
          <a:xfrm>
            <a:off x="609600" y="2819400"/>
            <a:ext cx="50800" cy="3175000"/>
          </a:xfrm>
          <a:prstGeom prst="rect">
            <a:avLst/>
          </a:prstGeom>
          <a:solidFill>
            <a:srgbClr val="1E7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13 texte 1"/>
          <p:cNvSpPr txBox="1"/>
          <p:nvPr/>
        </p:nvSpPr>
        <p:spPr>
          <a:xfrm>
            <a:off x="838200" y="2870200"/>
            <a:ext cx="2222500" cy="3098800"/>
          </a:xfrm>
          <a:prstGeom prst="rect">
            <a:avLst/>
          </a:prstGeom>
          <a:noFill/>
        </p:spPr>
        <p:txBody>
          <a:bodyPr wrap="square" lIns="0" tIns="0" rIns="0" bIns="0" anchor="t">
            <a:noAutofit/>
          </a:bodyPr>
          <a:lstStyle/>
          <a:p>
            <a:pPr algn="l">
              <a:lnSpc>
                <a:spcPct val="100000"/>
              </a:lnSpc>
              <a:spcBef>
                <a:spcPts val="0"/>
              </a:spcBef>
              <a:spcAft>
                <a:spcPts val="1600"/>
              </a:spcAft>
            </a:pPr>
            <a:r>
              <a:rPr sz="2600" b="1" i="0" lang="fr-FR">
                <a:solidFill>
                  <a:srgbClr val="12264A"/>
                </a:solidFill>
                <a:latin typeface="Calibri"/>
              </a:rPr>
              <a:t>Faire front commun</a:t>
            </a:r>
          </a:p>
          <a:p>
            <a:pPr algn="l">
              <a:lnSpc>
                <a:spcPct val="105000"/>
              </a:lnSpc>
              <a:spcBef>
                <a:spcPts val="0"/>
              </a:spcBef>
              <a:spcAft>
                <a:spcPts val="0"/>
              </a:spcAft>
            </a:pPr>
            <a:r>
              <a:rPr sz="2200" b="0" i="0" lang="fr-FR">
                <a:solidFill>
                  <a:srgbClr val="1B2A41"/>
                </a:solidFill>
                <a:latin typeface="Calibri"/>
              </a:rPr>
              <a:t>Délibération communale, concertation, mise en place du COPIL.</a:t>
            </a:r>
          </a:p>
        </p:txBody>
      </p:sp>
      <p:sp>
        <p:nvSpPr>
          <p:cNvPr id="20" name="s13 période 2"/>
          <p:cNvSpPr txBox="1"/>
          <p:nvPr/>
        </p:nvSpPr>
        <p:spPr>
          <a:xfrm>
            <a:off x="3390900" y="1854200"/>
            <a:ext cx="2628900" cy="304800"/>
          </a:xfrm>
          <a:prstGeom prst="rect">
            <a:avLst/>
          </a:prstGeom>
          <a:noFill/>
        </p:spPr>
        <p:txBody>
          <a:bodyPr wrap="square" lIns="0" tIns="0" rIns="0" bIns="0" anchor="ctr">
            <a:noAutofit/>
          </a:bodyPr>
          <a:lstStyle/>
          <a:p>
            <a:pPr algn="ctr">
              <a:lnSpc>
                <a:spcPct val="100000"/>
              </a:lnSpc>
              <a:spcBef>
                <a:spcPts val="0"/>
              </a:spcBef>
              <a:spcAft>
                <a:spcPts val="0"/>
              </a:spcAft>
            </a:pPr>
            <a:r>
              <a:rPr sz="2000" b="1" i="0" lang="fr-FR" spc="150">
                <a:solidFill>
                  <a:srgbClr val="12264A"/>
                </a:solidFill>
                <a:latin typeface="Calibri"/>
              </a:rPr>
              <a:t>MOIS 3 À 6</a:t>
            </a:r>
          </a:p>
        </p:txBody>
      </p:sp>
      <p:sp>
        <p:nvSpPr>
          <p:cNvPr id="21" name="s13 étape 2"/>
          <p:cNvSpPr/>
          <p:nvPr/>
        </p:nvSpPr>
        <p:spPr>
          <a:xfrm>
            <a:off x="4540250" y="2222500"/>
            <a:ext cx="330200" cy="330200"/>
          </a:xfrm>
          <a:prstGeom prst="ellipse">
            <a:avLst/>
          </a:prstGeom>
          <a:solidFill>
            <a:srgbClr val="D3A04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00000"/>
              </a:lnSpc>
              <a:spcBef>
                <a:spcPts val="0"/>
              </a:spcBef>
              <a:spcAft>
                <a:spcPts val="0"/>
              </a:spcAft>
            </a:pPr>
            <a:r>
              <a:rPr sz="2200" b="1" i="0" lang="fr-FR">
                <a:solidFill>
                  <a:srgbClr val="12264A"/>
                </a:solidFill>
                <a:latin typeface="Calibri"/>
              </a:rPr>
              <a:t>2</a:t>
            </a:r>
          </a:p>
        </p:txBody>
      </p:sp>
      <p:sp>
        <p:nvSpPr>
          <p:cNvPr id="22" name="s13 carte 2"/>
          <p:cNvSpPr/>
          <p:nvPr/>
        </p:nvSpPr>
        <p:spPr>
          <a:xfrm>
            <a:off x="3390900" y="2717800"/>
            <a:ext cx="2628900" cy="3378200"/>
          </a:xfrm>
          <a:prstGeom prst="roundRect">
            <a:avLst>
              <a:gd name="adj" fmla="val 3864"/>
            </a:avLst>
          </a:prstGeom>
          <a:solidFill>
            <a:srgbClr val="FFFFFF"/>
          </a:solidFill>
          <a:ln w="9525">
            <a:solidFill>
              <a:srgbClr val="E3DED3"/>
            </a:solidFill>
          </a:ln>
          <a:effectLst>
            <a:outerShdw blurRad="165100" dist="38100" dir="5400000" algn="t" rotWithShape="0">
              <a:srgbClr val="12264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13 carte 2 filet"/>
          <p:cNvSpPr/>
          <p:nvPr/>
        </p:nvSpPr>
        <p:spPr>
          <a:xfrm>
            <a:off x="3390900" y="2819400"/>
            <a:ext cx="50800" cy="3175000"/>
          </a:xfrm>
          <a:prstGeom prst="rect">
            <a:avLst/>
          </a:prstGeom>
          <a:solidFill>
            <a:srgbClr val="D3A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s13 texte 2"/>
          <p:cNvSpPr txBox="1"/>
          <p:nvPr/>
        </p:nvSpPr>
        <p:spPr>
          <a:xfrm>
            <a:off x="3619500" y="2870200"/>
            <a:ext cx="2222500" cy="3098800"/>
          </a:xfrm>
          <a:prstGeom prst="rect">
            <a:avLst/>
          </a:prstGeom>
          <a:noFill/>
        </p:spPr>
        <p:txBody>
          <a:bodyPr wrap="square" lIns="0" tIns="0" rIns="0" bIns="0" anchor="t">
            <a:noAutofit/>
          </a:bodyPr>
          <a:lstStyle/>
          <a:p>
            <a:pPr algn="l">
              <a:lnSpc>
                <a:spcPct val="100000"/>
              </a:lnSpc>
              <a:spcBef>
                <a:spcPts val="0"/>
              </a:spcBef>
              <a:spcAft>
                <a:spcPts val="1600"/>
              </a:spcAft>
            </a:pPr>
            <a:r>
              <a:rPr sz="2600" b="1" i="0" lang="fr-FR">
                <a:solidFill>
                  <a:srgbClr val="12264A"/>
                </a:solidFill>
                <a:latin typeface="Calibri"/>
              </a:rPr>
              <a:t>Sécuriser et négocier</a:t>
            </a:r>
          </a:p>
          <a:p>
            <a:pPr algn="l">
              <a:lnSpc>
                <a:spcPct val="105000"/>
              </a:lnSpc>
              <a:spcBef>
                <a:spcPts val="0"/>
              </a:spcBef>
              <a:spcAft>
                <a:spcPts val="0"/>
              </a:spcAft>
            </a:pPr>
            <a:r>
              <a:rPr sz="2200" b="0" i="0" lang="fr-FR">
                <a:solidFill>
                  <a:srgbClr val="1B2A41"/>
                </a:solidFill>
                <a:latin typeface="Calibri"/>
              </a:rPr>
              <a:t>Dialogue avec les trois sociétés, statuts OHADA, conventions.</a:t>
            </a:r>
          </a:p>
        </p:txBody>
      </p:sp>
      <p:sp>
        <p:nvSpPr>
          <p:cNvPr id="25" name="s13 période 3"/>
          <p:cNvSpPr txBox="1"/>
          <p:nvPr/>
        </p:nvSpPr>
        <p:spPr>
          <a:xfrm>
            <a:off x="6172200" y="1854200"/>
            <a:ext cx="2628900" cy="304800"/>
          </a:xfrm>
          <a:prstGeom prst="rect">
            <a:avLst/>
          </a:prstGeom>
          <a:noFill/>
        </p:spPr>
        <p:txBody>
          <a:bodyPr wrap="square" lIns="0" tIns="0" rIns="0" bIns="0" anchor="ctr">
            <a:noAutofit/>
          </a:bodyPr>
          <a:lstStyle/>
          <a:p>
            <a:pPr algn="ctr">
              <a:lnSpc>
                <a:spcPct val="100000"/>
              </a:lnSpc>
              <a:spcBef>
                <a:spcPts val="0"/>
              </a:spcBef>
              <a:spcAft>
                <a:spcPts val="0"/>
              </a:spcAft>
            </a:pPr>
            <a:r>
              <a:rPr sz="2000" b="1" i="0" lang="fr-FR" spc="150">
                <a:solidFill>
                  <a:srgbClr val="1E7B67"/>
                </a:solidFill>
                <a:latin typeface="Calibri"/>
              </a:rPr>
              <a:t>MOIS 6 À 12</a:t>
            </a:r>
          </a:p>
        </p:txBody>
      </p:sp>
      <p:sp>
        <p:nvSpPr>
          <p:cNvPr id="26" name="s13 étape 3"/>
          <p:cNvSpPr/>
          <p:nvPr/>
        </p:nvSpPr>
        <p:spPr>
          <a:xfrm>
            <a:off x="7321550" y="2222500"/>
            <a:ext cx="330200" cy="330200"/>
          </a:xfrm>
          <a:prstGeom prst="ellipse">
            <a:avLst/>
          </a:prstGeom>
          <a:solidFill>
            <a:srgbClr val="3A7C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00000"/>
              </a:lnSpc>
              <a:spcBef>
                <a:spcPts val="0"/>
              </a:spcBef>
              <a:spcAft>
                <a:spcPts val="0"/>
              </a:spcAft>
            </a:pPr>
            <a:r>
              <a:rPr sz="2200" b="1" i="0" lang="fr-FR">
                <a:solidFill>
                  <a:srgbClr val="FFFFFF"/>
                </a:solidFill>
                <a:latin typeface="Calibri"/>
              </a:rPr>
              <a:t>3</a:t>
            </a:r>
          </a:p>
        </p:txBody>
      </p:sp>
      <p:sp>
        <p:nvSpPr>
          <p:cNvPr id="27" name="s13 carte 3"/>
          <p:cNvSpPr/>
          <p:nvPr/>
        </p:nvSpPr>
        <p:spPr>
          <a:xfrm>
            <a:off x="6172200" y="2717800"/>
            <a:ext cx="2628900" cy="3378200"/>
          </a:xfrm>
          <a:prstGeom prst="roundRect">
            <a:avLst>
              <a:gd name="adj" fmla="val 3864"/>
            </a:avLst>
          </a:prstGeom>
          <a:solidFill>
            <a:srgbClr val="FFFFFF"/>
          </a:solidFill>
          <a:ln w="9525">
            <a:solidFill>
              <a:srgbClr val="E3DED3"/>
            </a:solidFill>
          </a:ln>
          <a:effectLst>
            <a:outerShdw blurRad="165100" dist="38100" dir="5400000" algn="t" rotWithShape="0">
              <a:srgbClr val="12264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s13 carte 3 filet"/>
          <p:cNvSpPr/>
          <p:nvPr/>
        </p:nvSpPr>
        <p:spPr>
          <a:xfrm>
            <a:off x="6172200" y="2819400"/>
            <a:ext cx="50800" cy="3175000"/>
          </a:xfrm>
          <a:prstGeom prst="rect">
            <a:avLst/>
          </a:prstGeom>
          <a:solidFill>
            <a:srgbClr val="3A7C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13 texte 3"/>
          <p:cNvSpPr txBox="1"/>
          <p:nvPr/>
        </p:nvSpPr>
        <p:spPr>
          <a:xfrm>
            <a:off x="6400800" y="2870200"/>
            <a:ext cx="2222500" cy="3098800"/>
          </a:xfrm>
          <a:prstGeom prst="rect">
            <a:avLst/>
          </a:prstGeom>
          <a:noFill/>
        </p:spPr>
        <p:txBody>
          <a:bodyPr wrap="square" lIns="0" tIns="0" rIns="0" bIns="0" anchor="t">
            <a:noAutofit/>
          </a:bodyPr>
          <a:lstStyle/>
          <a:p>
            <a:pPr algn="l">
              <a:lnSpc>
                <a:spcPct val="100000"/>
              </a:lnSpc>
              <a:spcBef>
                <a:spcPts val="0"/>
              </a:spcBef>
              <a:spcAft>
                <a:spcPts val="1600"/>
              </a:spcAft>
            </a:pPr>
            <a:r>
              <a:rPr sz="2600" b="1" i="0" lang="fr-FR">
                <a:solidFill>
                  <a:srgbClr val="12264A"/>
                </a:solidFill>
                <a:latin typeface="Calibri"/>
              </a:rPr>
              <a:t>Créer et contractualiser</a:t>
            </a:r>
          </a:p>
          <a:p>
            <a:pPr algn="l">
              <a:lnSpc>
                <a:spcPct val="105000"/>
              </a:lnSpc>
              <a:spcBef>
                <a:spcPts val="0"/>
              </a:spcBef>
              <a:spcAft>
                <a:spcPts val="0"/>
              </a:spcAft>
            </a:pPr>
            <a:r>
              <a:rPr sz="2200" b="0" i="0" lang="fr-FR">
                <a:solidFill>
                  <a:srgbClr val="1B2A41"/>
                </a:solidFill>
                <a:latin typeface="Calibri"/>
              </a:rPr>
              <a:t>Assemblée constitutive, nominations, compte dédié, signature des conventions.</a:t>
            </a:r>
          </a:p>
        </p:txBody>
      </p:sp>
      <p:sp>
        <p:nvSpPr>
          <p:cNvPr id="30" name="s13 période 4"/>
          <p:cNvSpPr txBox="1"/>
          <p:nvPr/>
        </p:nvSpPr>
        <p:spPr>
          <a:xfrm>
            <a:off x="8953500" y="1854200"/>
            <a:ext cx="2628900" cy="304800"/>
          </a:xfrm>
          <a:prstGeom prst="rect">
            <a:avLst/>
          </a:prstGeom>
          <a:noFill/>
        </p:spPr>
        <p:txBody>
          <a:bodyPr wrap="square" lIns="0" tIns="0" rIns="0" bIns="0" anchor="ctr">
            <a:noAutofit/>
          </a:bodyPr>
          <a:lstStyle/>
          <a:p>
            <a:pPr algn="ctr">
              <a:lnSpc>
                <a:spcPct val="100000"/>
              </a:lnSpc>
              <a:spcBef>
                <a:spcPts val="0"/>
              </a:spcBef>
              <a:spcAft>
                <a:spcPts val="0"/>
              </a:spcAft>
            </a:pPr>
            <a:r>
              <a:rPr sz="2000" b="1" i="0" lang="fr-FR" spc="150">
                <a:solidFill>
                  <a:srgbClr val="1E7B67"/>
                </a:solidFill>
                <a:latin typeface="Calibri"/>
              </a:rPr>
              <a:t>MOIS 12 À 24</a:t>
            </a:r>
          </a:p>
        </p:txBody>
      </p:sp>
      <p:sp>
        <p:nvSpPr>
          <p:cNvPr id="31" name="s13 étape 4"/>
          <p:cNvSpPr/>
          <p:nvPr/>
        </p:nvSpPr>
        <p:spPr>
          <a:xfrm>
            <a:off x="10102850" y="2222500"/>
            <a:ext cx="330200" cy="330200"/>
          </a:xfrm>
          <a:prstGeom prst="ellipse">
            <a:avLst/>
          </a:prstGeom>
          <a:solidFill>
            <a:srgbClr val="A9553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00000"/>
              </a:lnSpc>
              <a:spcBef>
                <a:spcPts val="0"/>
              </a:spcBef>
              <a:spcAft>
                <a:spcPts val="0"/>
              </a:spcAft>
            </a:pPr>
            <a:r>
              <a:rPr sz="2200" b="1" i="0" lang="fr-FR">
                <a:solidFill>
                  <a:srgbClr val="FFFFFF"/>
                </a:solidFill>
                <a:latin typeface="Calibri"/>
              </a:rPr>
              <a:t>4</a:t>
            </a:r>
          </a:p>
        </p:txBody>
      </p:sp>
      <p:sp>
        <p:nvSpPr>
          <p:cNvPr id="32" name="s13 carte 4"/>
          <p:cNvSpPr/>
          <p:nvPr/>
        </p:nvSpPr>
        <p:spPr>
          <a:xfrm>
            <a:off x="8953500" y="2717800"/>
            <a:ext cx="2628900" cy="3378200"/>
          </a:xfrm>
          <a:prstGeom prst="roundRect">
            <a:avLst>
              <a:gd name="adj" fmla="val 3864"/>
            </a:avLst>
          </a:prstGeom>
          <a:solidFill>
            <a:srgbClr val="FFFFFF"/>
          </a:solidFill>
          <a:ln w="9525">
            <a:solidFill>
              <a:srgbClr val="E3DED3"/>
            </a:solidFill>
          </a:ln>
          <a:effectLst>
            <a:outerShdw blurRad="165100" dist="38100" dir="5400000" algn="t" rotWithShape="0">
              <a:srgbClr val="12264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13 carte 4 filet"/>
          <p:cNvSpPr/>
          <p:nvPr/>
        </p:nvSpPr>
        <p:spPr>
          <a:xfrm>
            <a:off x="8953500" y="2819400"/>
            <a:ext cx="50800" cy="3175000"/>
          </a:xfrm>
          <a:prstGeom prst="rect">
            <a:avLst/>
          </a:prstGeom>
          <a:solidFill>
            <a:srgbClr val="A955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13 texte 4"/>
          <p:cNvSpPr txBox="1"/>
          <p:nvPr/>
        </p:nvSpPr>
        <p:spPr>
          <a:xfrm>
            <a:off x="9182100" y="2870200"/>
            <a:ext cx="2222500" cy="3098800"/>
          </a:xfrm>
          <a:prstGeom prst="rect">
            <a:avLst/>
          </a:prstGeom>
          <a:noFill/>
        </p:spPr>
        <p:txBody>
          <a:bodyPr wrap="square" lIns="0" tIns="0" rIns="0" bIns="0" anchor="t">
            <a:noAutofit/>
          </a:bodyPr>
          <a:lstStyle/>
          <a:p>
            <a:pPr algn="l">
              <a:lnSpc>
                <a:spcPct val="100000"/>
              </a:lnSpc>
              <a:spcBef>
                <a:spcPts val="0"/>
              </a:spcBef>
              <a:spcAft>
                <a:spcPts val="1600"/>
              </a:spcAft>
            </a:pPr>
            <a:r>
              <a:rPr sz="2600" b="1" i="0" lang="fr-FR">
                <a:solidFill>
                  <a:srgbClr val="12264A"/>
                </a:solidFill>
                <a:latin typeface="Calibri"/>
              </a:rPr>
              <a:t>Livrer les premiers projets</a:t>
            </a:r>
          </a:p>
          <a:p>
            <a:pPr algn="l">
              <a:lnSpc>
                <a:spcPct val="105000"/>
              </a:lnSpc>
              <a:spcBef>
                <a:spcPts val="0"/>
              </a:spcBef>
              <a:spcAft>
                <a:spcPts val="0"/>
              </a:spcAft>
            </a:pPr>
            <a:r>
              <a:rPr sz="2200" b="0" i="0" lang="fr-FR">
                <a:solidFill>
                  <a:srgbClr val="1B2A41"/>
                </a:solidFill>
                <a:latin typeface="Calibri"/>
              </a:rPr>
              <a:t>Point d’eau, centre de santé, route critique, premiers résultats publiés.</a:t>
            </a:r>
          </a:p>
        </p:txBody>
      </p:sp>
    </p:spTree>
  </p:cSld>
  <p:clrMapOvr>
    <a:masterClrMapping/>
  </p:clrMapOvr>
  <mc:AlternateContent xmlns:mc="http://schemas.openxmlformats.org/markup-compatibility/2006">
    <mc:Choice xmlns:p14="http://schemas.microsoft.com/office/powerpoint/2010/main" Requires="p14">
      <p:transition spd="med" p14:dur="700" advTm="25000">
        <p:fade/>
      </p:transition>
    </mc:Choice>
    <mc:Fallback>
      <p:transition spd="med" advTm="25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childTnLst>
                          </p:cTn>
                        </p:par>
                        <p:par>
                          <p:cTn id="8" fill="hold">
                            <p:stCondLst>
                              <p:cond delay="600"/>
                            </p:stCondLst>
                            <p:childTnLst>
                              <p:par>
                                <p:cTn id="9" presetID="22" presetClass="entr" presetSubtype="8"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right)">
                                      <p:cBhvr>
                                        <p:cTn id="11" dur="800"/>
                                        <p:tgtEl>
                                          <p:spTgt spid="14"/>
                                        </p:tgtEl>
                                      </p:cBhvr>
                                    </p:animEffect>
                                  </p:childTnLst>
                                </p:cTn>
                              </p:par>
                            </p:childTnLst>
                          </p:cTn>
                        </p:par>
                        <p:par>
                          <p:cTn id="12" fill="hold">
                            <p:stCondLst>
                              <p:cond delay="1400"/>
                            </p:stCondLst>
                            <p:childTnLst>
                              <p:par>
                                <p:cTn id="13" presetID="53" presetClass="entr" presetSubtype="16" fill="hold" grpId="0" nodeType="afterEffect">
                                  <p:stCondLst>
                                    <p:cond delay="0"/>
                                  </p:stCondLst>
                                  <p:childTnLst>
                                    <p:set>
                                      <p:cBhvr>
                                        <p:cTn id="14" dur="1" fill="hold">
                                          <p:stCondLst>
                                            <p:cond delay="0"/>
                                          </p:stCondLst>
                                        </p:cTn>
                                        <p:tgtEl>
                                          <p:spTgt spid="16"/>
                                        </p:tgtEl>
                                        <p:attrNameLst>
                                          <p:attrName>style.visibility</p:attrName>
                                        </p:attrNameLst>
                                      </p:cBhvr>
                                      <p:to>
                                        <p:strVal val="visible"/>
                                      </p:to>
                                    </p:set>
                                    <p:anim calcmode="lin" valueType="num">
                                      <p:cBhvr>
                                        <p:cTn id="15" dur="500" fill="hold"/>
                                        <p:tgtEl>
                                          <p:spTgt spid="16"/>
                                        </p:tgtEl>
                                        <p:attrNameLst>
                                          <p:attrName>ppt_w</p:attrName>
                                        </p:attrNameLst>
                                      </p:cBhvr>
                                      <p:tavLst>
                                        <p:tav tm="0">
                                          <p:val>
                                            <p:strVal val="#ppt_w*0.85"/>
                                          </p:val>
                                        </p:tav>
                                        <p:tav tm="100000">
                                          <p:val>
                                            <p:strVal val="#ppt_w"/>
                                          </p:val>
                                        </p:tav>
                                      </p:tavLst>
                                    </p:anim>
                                    <p:anim calcmode="lin" valueType="num">
                                      <p:cBhvr>
                                        <p:cTn id="16" dur="500" fill="hold"/>
                                        <p:tgtEl>
                                          <p:spTgt spid="16"/>
                                        </p:tgtEl>
                                        <p:attrNameLst>
                                          <p:attrName>ppt_h</p:attrName>
                                        </p:attrNameLst>
                                      </p:cBhvr>
                                      <p:tavLst>
                                        <p:tav tm="0">
                                          <p:val>
                                            <p:strVal val="#ppt_h*0.85"/>
                                          </p:val>
                                        </p:tav>
                                        <p:tav tm="100000">
                                          <p:val>
                                            <p:strVal val="#ppt_h"/>
                                          </p:val>
                                        </p:tav>
                                      </p:tavLst>
                                    </p:anim>
                                    <p:animEffect transition="in" filter="fade">
                                      <p:cBhvr>
                                        <p:cTn id="17" dur="500"/>
                                        <p:tgtEl>
                                          <p:spTgt spid="16"/>
                                        </p:tgtEl>
                                      </p:cBhvr>
                                    </p:animEffect>
                                  </p:childTnLst>
                                </p:cTn>
                              </p:par>
                              <p:par>
                                <p:cTn id="18" presetID="53" presetClass="entr" presetSubtype="16" fill="hold" grpId="0" nodeType="withEffect">
                                  <p:stCondLst>
                                    <p:cond delay="0"/>
                                  </p:stCondLst>
                                  <p:childTnLst>
                                    <p:set>
                                      <p:cBhvr>
                                        <p:cTn id="19" dur="1" fill="hold">
                                          <p:stCondLst>
                                            <p:cond delay="0"/>
                                          </p:stCondLst>
                                        </p:cTn>
                                        <p:tgtEl>
                                          <p:spTgt spid="15"/>
                                        </p:tgtEl>
                                        <p:attrNameLst>
                                          <p:attrName>style.visibility</p:attrName>
                                        </p:attrNameLst>
                                      </p:cBhvr>
                                      <p:to>
                                        <p:strVal val="visible"/>
                                      </p:to>
                                    </p:set>
                                    <p:anim calcmode="lin" valueType="num">
                                      <p:cBhvr>
                                        <p:cTn id="20" dur="500" fill="hold"/>
                                        <p:tgtEl>
                                          <p:spTgt spid="15"/>
                                        </p:tgtEl>
                                        <p:attrNameLst>
                                          <p:attrName>ppt_w</p:attrName>
                                        </p:attrNameLst>
                                      </p:cBhvr>
                                      <p:tavLst>
                                        <p:tav tm="0">
                                          <p:val>
                                            <p:strVal val="#ppt_w*0.85"/>
                                          </p:val>
                                        </p:tav>
                                        <p:tav tm="100000">
                                          <p:val>
                                            <p:strVal val="#ppt_w"/>
                                          </p:val>
                                        </p:tav>
                                      </p:tavLst>
                                    </p:anim>
                                    <p:anim calcmode="lin" valueType="num">
                                      <p:cBhvr>
                                        <p:cTn id="21" dur="500" fill="hold"/>
                                        <p:tgtEl>
                                          <p:spTgt spid="15"/>
                                        </p:tgtEl>
                                        <p:attrNameLst>
                                          <p:attrName>ppt_h</p:attrName>
                                        </p:attrNameLst>
                                      </p:cBhvr>
                                      <p:tavLst>
                                        <p:tav tm="0">
                                          <p:val>
                                            <p:strVal val="#ppt_h*0.85"/>
                                          </p:val>
                                        </p:tav>
                                        <p:tav tm="100000">
                                          <p:val>
                                            <p:strVal val="#ppt_h"/>
                                          </p:val>
                                        </p:tav>
                                      </p:tavLst>
                                    </p:anim>
                                    <p:animEffect transition="in" filter="fade">
                                      <p:cBhvr>
                                        <p:cTn id="22" dur="500"/>
                                        <p:tgtEl>
                                          <p:spTgt spid="15"/>
                                        </p:tgtEl>
                                      </p:cBhvr>
                                    </p:animEffect>
                                  </p:childTnLst>
                                </p:cTn>
                              </p:par>
                              <p:par>
                                <p:cTn id="23" presetID="42" presetClass="entr" presetSubtype="0" fill="hold" grpId="0" nodeType="withEffect">
                                  <p:stCondLst>
                                    <p:cond delay="20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600"/>
                                        <p:tgtEl>
                                          <p:spTgt spid="17"/>
                                        </p:tgtEl>
                                      </p:cBhvr>
                                    </p:animEffect>
                                    <p:anim calcmode="lin" valueType="num">
                                      <p:cBhvr>
                                        <p:cTn id="26" dur="600" fill="hold" decel="100000"/>
                                        <p:tgtEl>
                                          <p:spTgt spid="17"/>
                                        </p:tgtEl>
                                        <p:attrNameLst>
                                          <p:attrName>ppt_x</p:attrName>
                                        </p:attrNameLst>
                                      </p:cBhvr>
                                      <p:tavLst>
                                        <p:tav tm="0">
                                          <p:val>
                                            <p:strVal val="#ppt_x"/>
                                          </p:val>
                                        </p:tav>
                                        <p:tav tm="100000">
                                          <p:val>
                                            <p:strVal val="#ppt_x"/>
                                          </p:val>
                                        </p:tav>
                                      </p:tavLst>
                                    </p:anim>
                                    <p:anim calcmode="lin" valueType="num">
                                      <p:cBhvr>
                                        <p:cTn id="27" dur="600" fill="hold" decel="100000"/>
                                        <p:tgtEl>
                                          <p:spTgt spid="17"/>
                                        </p:tgtEl>
                                        <p:attrNameLst>
                                          <p:attrName>ppt_y</p:attrName>
                                        </p:attrNameLst>
                                      </p:cBhvr>
                                      <p:tavLst>
                                        <p:tav tm="0">
                                          <p:val>
                                            <p:strVal val="#ppt_y+.04"/>
                                          </p:val>
                                        </p:tav>
                                        <p:tav tm="100000">
                                          <p:val>
                                            <p:strVal val="#ppt_y"/>
                                          </p:val>
                                        </p:tav>
                                      </p:tavLst>
                                    </p:anim>
                                  </p:childTnLst>
                                </p:cTn>
                              </p:par>
                              <p:par>
                                <p:cTn id="28" presetID="42" presetClass="entr" presetSubtype="0" fill="hold" grpId="0" nodeType="withEffect">
                                  <p:stCondLst>
                                    <p:cond delay="20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600"/>
                                        <p:tgtEl>
                                          <p:spTgt spid="18"/>
                                        </p:tgtEl>
                                      </p:cBhvr>
                                    </p:animEffect>
                                    <p:anim calcmode="lin" valueType="num">
                                      <p:cBhvr>
                                        <p:cTn id="31" dur="600" fill="hold" decel="100000"/>
                                        <p:tgtEl>
                                          <p:spTgt spid="18"/>
                                        </p:tgtEl>
                                        <p:attrNameLst>
                                          <p:attrName>ppt_x</p:attrName>
                                        </p:attrNameLst>
                                      </p:cBhvr>
                                      <p:tavLst>
                                        <p:tav tm="0">
                                          <p:val>
                                            <p:strVal val="#ppt_x"/>
                                          </p:val>
                                        </p:tav>
                                        <p:tav tm="100000">
                                          <p:val>
                                            <p:strVal val="#ppt_x"/>
                                          </p:val>
                                        </p:tav>
                                      </p:tavLst>
                                    </p:anim>
                                    <p:anim calcmode="lin" valueType="num">
                                      <p:cBhvr>
                                        <p:cTn id="32" dur="600" fill="hold" decel="100000"/>
                                        <p:tgtEl>
                                          <p:spTgt spid="18"/>
                                        </p:tgtEl>
                                        <p:attrNameLst>
                                          <p:attrName>ppt_y</p:attrName>
                                        </p:attrNameLst>
                                      </p:cBhvr>
                                      <p:tavLst>
                                        <p:tav tm="0">
                                          <p:val>
                                            <p:strVal val="#ppt_y+.04"/>
                                          </p:val>
                                        </p:tav>
                                        <p:tav tm="100000">
                                          <p:val>
                                            <p:strVal val="#ppt_y"/>
                                          </p:val>
                                        </p:tav>
                                      </p:tavLst>
                                    </p:anim>
                                  </p:childTnLst>
                                </p:cTn>
                              </p:par>
                              <p:par>
                                <p:cTn id="33" presetID="42" presetClass="entr" presetSubtype="0" fill="hold" grpId="0" nodeType="withEffect">
                                  <p:stCondLst>
                                    <p:cond delay="20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600"/>
                                        <p:tgtEl>
                                          <p:spTgt spid="19"/>
                                        </p:tgtEl>
                                      </p:cBhvr>
                                    </p:animEffect>
                                    <p:anim calcmode="lin" valueType="num">
                                      <p:cBhvr>
                                        <p:cTn id="36" dur="600" fill="hold" decel="100000"/>
                                        <p:tgtEl>
                                          <p:spTgt spid="19"/>
                                        </p:tgtEl>
                                        <p:attrNameLst>
                                          <p:attrName>ppt_x</p:attrName>
                                        </p:attrNameLst>
                                      </p:cBhvr>
                                      <p:tavLst>
                                        <p:tav tm="0">
                                          <p:val>
                                            <p:strVal val="#ppt_x"/>
                                          </p:val>
                                        </p:tav>
                                        <p:tav tm="100000">
                                          <p:val>
                                            <p:strVal val="#ppt_x"/>
                                          </p:val>
                                        </p:tav>
                                      </p:tavLst>
                                    </p:anim>
                                    <p:anim calcmode="lin" valueType="num">
                                      <p:cBhvr>
                                        <p:cTn id="37" dur="600" fill="hold" decel="100000"/>
                                        <p:tgtEl>
                                          <p:spTgt spid="19"/>
                                        </p:tgtEl>
                                        <p:attrNameLst>
                                          <p:attrName>ppt_y</p:attrName>
                                        </p:attrNameLst>
                                      </p:cBhvr>
                                      <p:tavLst>
                                        <p:tav tm="0">
                                          <p:val>
                                            <p:strVal val="#ppt_y+.04"/>
                                          </p:val>
                                        </p:tav>
                                        <p:tav tm="100000">
                                          <p:val>
                                            <p:strVal val="#ppt_y"/>
                                          </p:val>
                                        </p:tav>
                                      </p:tavLst>
                                    </p:anim>
                                  </p:childTnLst>
                                </p:cTn>
                              </p:par>
                            </p:childTnLst>
                          </p:cTn>
                        </p:par>
                        <p:par>
                          <p:cTn id="38" fill="hold">
                            <p:stCondLst>
                              <p:cond delay="2200"/>
                            </p:stCondLst>
                            <p:childTnLst>
                              <p:par>
                                <p:cTn id="39" presetID="53" presetClass="entr" presetSubtype="16" fill="hold" grpId="0" nodeType="afterEffect">
                                  <p:stCondLst>
                                    <p:cond delay="0"/>
                                  </p:stCondLst>
                                  <p:childTnLst>
                                    <p:set>
                                      <p:cBhvr>
                                        <p:cTn id="40" dur="1" fill="hold">
                                          <p:stCondLst>
                                            <p:cond delay="0"/>
                                          </p:stCondLst>
                                        </p:cTn>
                                        <p:tgtEl>
                                          <p:spTgt spid="21"/>
                                        </p:tgtEl>
                                        <p:attrNameLst>
                                          <p:attrName>style.visibility</p:attrName>
                                        </p:attrNameLst>
                                      </p:cBhvr>
                                      <p:to>
                                        <p:strVal val="visible"/>
                                      </p:to>
                                    </p:set>
                                    <p:anim calcmode="lin" valueType="num">
                                      <p:cBhvr>
                                        <p:cTn id="41" dur="500" fill="hold"/>
                                        <p:tgtEl>
                                          <p:spTgt spid="21"/>
                                        </p:tgtEl>
                                        <p:attrNameLst>
                                          <p:attrName>ppt_w</p:attrName>
                                        </p:attrNameLst>
                                      </p:cBhvr>
                                      <p:tavLst>
                                        <p:tav tm="0">
                                          <p:val>
                                            <p:strVal val="#ppt_w*0.85"/>
                                          </p:val>
                                        </p:tav>
                                        <p:tav tm="100000">
                                          <p:val>
                                            <p:strVal val="#ppt_w"/>
                                          </p:val>
                                        </p:tav>
                                      </p:tavLst>
                                    </p:anim>
                                    <p:anim calcmode="lin" valueType="num">
                                      <p:cBhvr>
                                        <p:cTn id="42" dur="500" fill="hold"/>
                                        <p:tgtEl>
                                          <p:spTgt spid="21"/>
                                        </p:tgtEl>
                                        <p:attrNameLst>
                                          <p:attrName>ppt_h</p:attrName>
                                        </p:attrNameLst>
                                      </p:cBhvr>
                                      <p:tavLst>
                                        <p:tav tm="0">
                                          <p:val>
                                            <p:strVal val="#ppt_h*0.85"/>
                                          </p:val>
                                        </p:tav>
                                        <p:tav tm="100000">
                                          <p:val>
                                            <p:strVal val="#ppt_h"/>
                                          </p:val>
                                        </p:tav>
                                      </p:tavLst>
                                    </p:anim>
                                    <p:animEffect transition="in" filter="fade">
                                      <p:cBhvr>
                                        <p:cTn id="43" dur="500"/>
                                        <p:tgtEl>
                                          <p:spTgt spid="21"/>
                                        </p:tgtEl>
                                      </p:cBhvr>
                                    </p:animEffect>
                                  </p:childTnLst>
                                </p:cTn>
                              </p:par>
                              <p:par>
                                <p:cTn id="44" presetID="53" presetClass="entr" presetSubtype="16" fill="hold" grpId="0" nodeType="withEffect">
                                  <p:stCondLst>
                                    <p:cond delay="0"/>
                                  </p:stCondLst>
                                  <p:childTnLst>
                                    <p:set>
                                      <p:cBhvr>
                                        <p:cTn id="45" dur="1" fill="hold">
                                          <p:stCondLst>
                                            <p:cond delay="0"/>
                                          </p:stCondLst>
                                        </p:cTn>
                                        <p:tgtEl>
                                          <p:spTgt spid="20"/>
                                        </p:tgtEl>
                                        <p:attrNameLst>
                                          <p:attrName>style.visibility</p:attrName>
                                        </p:attrNameLst>
                                      </p:cBhvr>
                                      <p:to>
                                        <p:strVal val="visible"/>
                                      </p:to>
                                    </p:set>
                                    <p:anim calcmode="lin" valueType="num">
                                      <p:cBhvr>
                                        <p:cTn id="46" dur="500" fill="hold"/>
                                        <p:tgtEl>
                                          <p:spTgt spid="20"/>
                                        </p:tgtEl>
                                        <p:attrNameLst>
                                          <p:attrName>ppt_w</p:attrName>
                                        </p:attrNameLst>
                                      </p:cBhvr>
                                      <p:tavLst>
                                        <p:tav tm="0">
                                          <p:val>
                                            <p:strVal val="#ppt_w*0.85"/>
                                          </p:val>
                                        </p:tav>
                                        <p:tav tm="100000">
                                          <p:val>
                                            <p:strVal val="#ppt_w"/>
                                          </p:val>
                                        </p:tav>
                                      </p:tavLst>
                                    </p:anim>
                                    <p:anim calcmode="lin" valueType="num">
                                      <p:cBhvr>
                                        <p:cTn id="47" dur="500" fill="hold"/>
                                        <p:tgtEl>
                                          <p:spTgt spid="20"/>
                                        </p:tgtEl>
                                        <p:attrNameLst>
                                          <p:attrName>ppt_h</p:attrName>
                                        </p:attrNameLst>
                                      </p:cBhvr>
                                      <p:tavLst>
                                        <p:tav tm="0">
                                          <p:val>
                                            <p:strVal val="#ppt_h*0.85"/>
                                          </p:val>
                                        </p:tav>
                                        <p:tav tm="100000">
                                          <p:val>
                                            <p:strVal val="#ppt_h"/>
                                          </p:val>
                                        </p:tav>
                                      </p:tavLst>
                                    </p:anim>
                                    <p:animEffect transition="in" filter="fade">
                                      <p:cBhvr>
                                        <p:cTn id="48" dur="500"/>
                                        <p:tgtEl>
                                          <p:spTgt spid="20"/>
                                        </p:tgtEl>
                                      </p:cBhvr>
                                    </p:animEffect>
                                  </p:childTnLst>
                                </p:cTn>
                              </p:par>
                              <p:par>
                                <p:cTn id="49" presetID="42" presetClass="entr" presetSubtype="0" fill="hold" grpId="0" nodeType="withEffect">
                                  <p:stCondLst>
                                    <p:cond delay="20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600"/>
                                        <p:tgtEl>
                                          <p:spTgt spid="22"/>
                                        </p:tgtEl>
                                      </p:cBhvr>
                                    </p:animEffect>
                                    <p:anim calcmode="lin" valueType="num">
                                      <p:cBhvr>
                                        <p:cTn id="52" dur="600" fill="hold" decel="100000"/>
                                        <p:tgtEl>
                                          <p:spTgt spid="22"/>
                                        </p:tgtEl>
                                        <p:attrNameLst>
                                          <p:attrName>ppt_x</p:attrName>
                                        </p:attrNameLst>
                                      </p:cBhvr>
                                      <p:tavLst>
                                        <p:tav tm="0">
                                          <p:val>
                                            <p:strVal val="#ppt_x"/>
                                          </p:val>
                                        </p:tav>
                                        <p:tav tm="100000">
                                          <p:val>
                                            <p:strVal val="#ppt_x"/>
                                          </p:val>
                                        </p:tav>
                                      </p:tavLst>
                                    </p:anim>
                                    <p:anim calcmode="lin" valueType="num">
                                      <p:cBhvr>
                                        <p:cTn id="53" dur="600" fill="hold" decel="100000"/>
                                        <p:tgtEl>
                                          <p:spTgt spid="22"/>
                                        </p:tgtEl>
                                        <p:attrNameLst>
                                          <p:attrName>ppt_y</p:attrName>
                                        </p:attrNameLst>
                                      </p:cBhvr>
                                      <p:tavLst>
                                        <p:tav tm="0">
                                          <p:val>
                                            <p:strVal val="#ppt_y+.04"/>
                                          </p:val>
                                        </p:tav>
                                        <p:tav tm="100000">
                                          <p:val>
                                            <p:strVal val="#ppt_y"/>
                                          </p:val>
                                        </p:tav>
                                      </p:tavLst>
                                    </p:anim>
                                  </p:childTnLst>
                                </p:cTn>
                              </p:par>
                              <p:par>
                                <p:cTn id="54" presetID="42" presetClass="entr" presetSubtype="0" fill="hold" grpId="0" nodeType="withEffect">
                                  <p:stCondLst>
                                    <p:cond delay="20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600"/>
                                        <p:tgtEl>
                                          <p:spTgt spid="23"/>
                                        </p:tgtEl>
                                      </p:cBhvr>
                                    </p:animEffect>
                                    <p:anim calcmode="lin" valueType="num">
                                      <p:cBhvr>
                                        <p:cTn id="57" dur="600" fill="hold" decel="100000"/>
                                        <p:tgtEl>
                                          <p:spTgt spid="23"/>
                                        </p:tgtEl>
                                        <p:attrNameLst>
                                          <p:attrName>ppt_x</p:attrName>
                                        </p:attrNameLst>
                                      </p:cBhvr>
                                      <p:tavLst>
                                        <p:tav tm="0">
                                          <p:val>
                                            <p:strVal val="#ppt_x"/>
                                          </p:val>
                                        </p:tav>
                                        <p:tav tm="100000">
                                          <p:val>
                                            <p:strVal val="#ppt_x"/>
                                          </p:val>
                                        </p:tav>
                                      </p:tavLst>
                                    </p:anim>
                                    <p:anim calcmode="lin" valueType="num">
                                      <p:cBhvr>
                                        <p:cTn id="58" dur="600" fill="hold" decel="100000"/>
                                        <p:tgtEl>
                                          <p:spTgt spid="23"/>
                                        </p:tgtEl>
                                        <p:attrNameLst>
                                          <p:attrName>ppt_y</p:attrName>
                                        </p:attrNameLst>
                                      </p:cBhvr>
                                      <p:tavLst>
                                        <p:tav tm="0">
                                          <p:val>
                                            <p:strVal val="#ppt_y+.04"/>
                                          </p:val>
                                        </p:tav>
                                        <p:tav tm="100000">
                                          <p:val>
                                            <p:strVal val="#ppt_y"/>
                                          </p:val>
                                        </p:tav>
                                      </p:tavLst>
                                    </p:anim>
                                  </p:childTnLst>
                                </p:cTn>
                              </p:par>
                              <p:par>
                                <p:cTn id="59" presetID="42" presetClass="entr" presetSubtype="0" fill="hold" grpId="0" nodeType="withEffect">
                                  <p:stCondLst>
                                    <p:cond delay="20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600"/>
                                        <p:tgtEl>
                                          <p:spTgt spid="24"/>
                                        </p:tgtEl>
                                      </p:cBhvr>
                                    </p:animEffect>
                                    <p:anim calcmode="lin" valueType="num">
                                      <p:cBhvr>
                                        <p:cTn id="62" dur="600" fill="hold" decel="100000"/>
                                        <p:tgtEl>
                                          <p:spTgt spid="24"/>
                                        </p:tgtEl>
                                        <p:attrNameLst>
                                          <p:attrName>ppt_x</p:attrName>
                                        </p:attrNameLst>
                                      </p:cBhvr>
                                      <p:tavLst>
                                        <p:tav tm="0">
                                          <p:val>
                                            <p:strVal val="#ppt_x"/>
                                          </p:val>
                                        </p:tav>
                                        <p:tav tm="100000">
                                          <p:val>
                                            <p:strVal val="#ppt_x"/>
                                          </p:val>
                                        </p:tav>
                                      </p:tavLst>
                                    </p:anim>
                                    <p:anim calcmode="lin" valueType="num">
                                      <p:cBhvr>
                                        <p:cTn id="63" dur="600" fill="hold" decel="100000"/>
                                        <p:tgtEl>
                                          <p:spTgt spid="24"/>
                                        </p:tgtEl>
                                        <p:attrNameLst>
                                          <p:attrName>ppt_y</p:attrName>
                                        </p:attrNameLst>
                                      </p:cBhvr>
                                      <p:tavLst>
                                        <p:tav tm="0">
                                          <p:val>
                                            <p:strVal val="#ppt_y+.04"/>
                                          </p:val>
                                        </p:tav>
                                        <p:tav tm="100000">
                                          <p:val>
                                            <p:strVal val="#ppt_y"/>
                                          </p:val>
                                        </p:tav>
                                      </p:tavLst>
                                    </p:anim>
                                  </p:childTnLst>
                                </p:cTn>
                              </p:par>
                            </p:childTnLst>
                          </p:cTn>
                        </p:par>
                        <p:par>
                          <p:cTn id="64" fill="hold">
                            <p:stCondLst>
                              <p:cond delay="3000"/>
                            </p:stCondLst>
                            <p:childTnLst>
                              <p:par>
                                <p:cTn id="65" presetID="53" presetClass="entr" presetSubtype="16" fill="hold" grpId="0" nodeType="afterEffect">
                                  <p:stCondLst>
                                    <p:cond delay="0"/>
                                  </p:stCondLst>
                                  <p:childTnLst>
                                    <p:set>
                                      <p:cBhvr>
                                        <p:cTn id="66" dur="1" fill="hold">
                                          <p:stCondLst>
                                            <p:cond delay="0"/>
                                          </p:stCondLst>
                                        </p:cTn>
                                        <p:tgtEl>
                                          <p:spTgt spid="26"/>
                                        </p:tgtEl>
                                        <p:attrNameLst>
                                          <p:attrName>style.visibility</p:attrName>
                                        </p:attrNameLst>
                                      </p:cBhvr>
                                      <p:to>
                                        <p:strVal val="visible"/>
                                      </p:to>
                                    </p:set>
                                    <p:anim calcmode="lin" valueType="num">
                                      <p:cBhvr>
                                        <p:cTn id="67" dur="500" fill="hold"/>
                                        <p:tgtEl>
                                          <p:spTgt spid="26"/>
                                        </p:tgtEl>
                                        <p:attrNameLst>
                                          <p:attrName>ppt_w</p:attrName>
                                        </p:attrNameLst>
                                      </p:cBhvr>
                                      <p:tavLst>
                                        <p:tav tm="0">
                                          <p:val>
                                            <p:strVal val="#ppt_w*0.85"/>
                                          </p:val>
                                        </p:tav>
                                        <p:tav tm="100000">
                                          <p:val>
                                            <p:strVal val="#ppt_w"/>
                                          </p:val>
                                        </p:tav>
                                      </p:tavLst>
                                    </p:anim>
                                    <p:anim calcmode="lin" valueType="num">
                                      <p:cBhvr>
                                        <p:cTn id="68" dur="500" fill="hold"/>
                                        <p:tgtEl>
                                          <p:spTgt spid="26"/>
                                        </p:tgtEl>
                                        <p:attrNameLst>
                                          <p:attrName>ppt_h</p:attrName>
                                        </p:attrNameLst>
                                      </p:cBhvr>
                                      <p:tavLst>
                                        <p:tav tm="0">
                                          <p:val>
                                            <p:strVal val="#ppt_h*0.85"/>
                                          </p:val>
                                        </p:tav>
                                        <p:tav tm="100000">
                                          <p:val>
                                            <p:strVal val="#ppt_h"/>
                                          </p:val>
                                        </p:tav>
                                      </p:tavLst>
                                    </p:anim>
                                    <p:animEffect transition="in" filter="fade">
                                      <p:cBhvr>
                                        <p:cTn id="69" dur="500"/>
                                        <p:tgtEl>
                                          <p:spTgt spid="26"/>
                                        </p:tgtEl>
                                      </p:cBhvr>
                                    </p:animEffect>
                                  </p:childTnLst>
                                </p:cTn>
                              </p:par>
                              <p:par>
                                <p:cTn id="70" presetID="53" presetClass="entr" presetSubtype="16" fill="hold" grpId="0" nodeType="withEffect">
                                  <p:stCondLst>
                                    <p:cond delay="0"/>
                                  </p:stCondLst>
                                  <p:childTnLst>
                                    <p:set>
                                      <p:cBhvr>
                                        <p:cTn id="71" dur="1" fill="hold">
                                          <p:stCondLst>
                                            <p:cond delay="0"/>
                                          </p:stCondLst>
                                        </p:cTn>
                                        <p:tgtEl>
                                          <p:spTgt spid="25"/>
                                        </p:tgtEl>
                                        <p:attrNameLst>
                                          <p:attrName>style.visibility</p:attrName>
                                        </p:attrNameLst>
                                      </p:cBhvr>
                                      <p:to>
                                        <p:strVal val="visible"/>
                                      </p:to>
                                    </p:set>
                                    <p:anim calcmode="lin" valueType="num">
                                      <p:cBhvr>
                                        <p:cTn id="72" dur="500" fill="hold"/>
                                        <p:tgtEl>
                                          <p:spTgt spid="25"/>
                                        </p:tgtEl>
                                        <p:attrNameLst>
                                          <p:attrName>ppt_w</p:attrName>
                                        </p:attrNameLst>
                                      </p:cBhvr>
                                      <p:tavLst>
                                        <p:tav tm="0">
                                          <p:val>
                                            <p:strVal val="#ppt_w*0.85"/>
                                          </p:val>
                                        </p:tav>
                                        <p:tav tm="100000">
                                          <p:val>
                                            <p:strVal val="#ppt_w"/>
                                          </p:val>
                                        </p:tav>
                                      </p:tavLst>
                                    </p:anim>
                                    <p:anim calcmode="lin" valueType="num">
                                      <p:cBhvr>
                                        <p:cTn id="73" dur="500" fill="hold"/>
                                        <p:tgtEl>
                                          <p:spTgt spid="25"/>
                                        </p:tgtEl>
                                        <p:attrNameLst>
                                          <p:attrName>ppt_h</p:attrName>
                                        </p:attrNameLst>
                                      </p:cBhvr>
                                      <p:tavLst>
                                        <p:tav tm="0">
                                          <p:val>
                                            <p:strVal val="#ppt_h*0.85"/>
                                          </p:val>
                                        </p:tav>
                                        <p:tav tm="100000">
                                          <p:val>
                                            <p:strVal val="#ppt_h"/>
                                          </p:val>
                                        </p:tav>
                                      </p:tavLst>
                                    </p:anim>
                                    <p:animEffect transition="in" filter="fade">
                                      <p:cBhvr>
                                        <p:cTn id="74" dur="500"/>
                                        <p:tgtEl>
                                          <p:spTgt spid="25"/>
                                        </p:tgtEl>
                                      </p:cBhvr>
                                    </p:animEffect>
                                  </p:childTnLst>
                                </p:cTn>
                              </p:par>
                              <p:par>
                                <p:cTn id="75" presetID="42" presetClass="entr" presetSubtype="0" fill="hold" grpId="0" nodeType="withEffect">
                                  <p:stCondLst>
                                    <p:cond delay="200"/>
                                  </p:stCondLst>
                                  <p:childTnLst>
                                    <p:set>
                                      <p:cBhvr>
                                        <p:cTn id="76" dur="1" fill="hold">
                                          <p:stCondLst>
                                            <p:cond delay="0"/>
                                          </p:stCondLst>
                                        </p:cTn>
                                        <p:tgtEl>
                                          <p:spTgt spid="27"/>
                                        </p:tgtEl>
                                        <p:attrNameLst>
                                          <p:attrName>style.visibility</p:attrName>
                                        </p:attrNameLst>
                                      </p:cBhvr>
                                      <p:to>
                                        <p:strVal val="visible"/>
                                      </p:to>
                                    </p:set>
                                    <p:animEffect transition="in" filter="fade">
                                      <p:cBhvr>
                                        <p:cTn id="77" dur="600"/>
                                        <p:tgtEl>
                                          <p:spTgt spid="27"/>
                                        </p:tgtEl>
                                      </p:cBhvr>
                                    </p:animEffect>
                                    <p:anim calcmode="lin" valueType="num">
                                      <p:cBhvr>
                                        <p:cTn id="78" dur="600" fill="hold" decel="100000"/>
                                        <p:tgtEl>
                                          <p:spTgt spid="27"/>
                                        </p:tgtEl>
                                        <p:attrNameLst>
                                          <p:attrName>ppt_x</p:attrName>
                                        </p:attrNameLst>
                                      </p:cBhvr>
                                      <p:tavLst>
                                        <p:tav tm="0">
                                          <p:val>
                                            <p:strVal val="#ppt_x"/>
                                          </p:val>
                                        </p:tav>
                                        <p:tav tm="100000">
                                          <p:val>
                                            <p:strVal val="#ppt_x"/>
                                          </p:val>
                                        </p:tav>
                                      </p:tavLst>
                                    </p:anim>
                                    <p:anim calcmode="lin" valueType="num">
                                      <p:cBhvr>
                                        <p:cTn id="79" dur="600" fill="hold" decel="100000"/>
                                        <p:tgtEl>
                                          <p:spTgt spid="27"/>
                                        </p:tgtEl>
                                        <p:attrNameLst>
                                          <p:attrName>ppt_y</p:attrName>
                                        </p:attrNameLst>
                                      </p:cBhvr>
                                      <p:tavLst>
                                        <p:tav tm="0">
                                          <p:val>
                                            <p:strVal val="#ppt_y+.04"/>
                                          </p:val>
                                        </p:tav>
                                        <p:tav tm="100000">
                                          <p:val>
                                            <p:strVal val="#ppt_y"/>
                                          </p:val>
                                        </p:tav>
                                      </p:tavLst>
                                    </p:anim>
                                  </p:childTnLst>
                                </p:cTn>
                              </p:par>
                              <p:par>
                                <p:cTn id="80" presetID="42" presetClass="entr" presetSubtype="0" fill="hold" grpId="0" nodeType="withEffect">
                                  <p:stCondLst>
                                    <p:cond delay="200"/>
                                  </p:stCondLst>
                                  <p:childTnLst>
                                    <p:set>
                                      <p:cBhvr>
                                        <p:cTn id="81" dur="1" fill="hold">
                                          <p:stCondLst>
                                            <p:cond delay="0"/>
                                          </p:stCondLst>
                                        </p:cTn>
                                        <p:tgtEl>
                                          <p:spTgt spid="28"/>
                                        </p:tgtEl>
                                        <p:attrNameLst>
                                          <p:attrName>style.visibility</p:attrName>
                                        </p:attrNameLst>
                                      </p:cBhvr>
                                      <p:to>
                                        <p:strVal val="visible"/>
                                      </p:to>
                                    </p:set>
                                    <p:animEffect transition="in" filter="fade">
                                      <p:cBhvr>
                                        <p:cTn id="82" dur="600"/>
                                        <p:tgtEl>
                                          <p:spTgt spid="28"/>
                                        </p:tgtEl>
                                      </p:cBhvr>
                                    </p:animEffect>
                                    <p:anim calcmode="lin" valueType="num">
                                      <p:cBhvr>
                                        <p:cTn id="83" dur="600" fill="hold" decel="100000"/>
                                        <p:tgtEl>
                                          <p:spTgt spid="28"/>
                                        </p:tgtEl>
                                        <p:attrNameLst>
                                          <p:attrName>ppt_x</p:attrName>
                                        </p:attrNameLst>
                                      </p:cBhvr>
                                      <p:tavLst>
                                        <p:tav tm="0">
                                          <p:val>
                                            <p:strVal val="#ppt_x"/>
                                          </p:val>
                                        </p:tav>
                                        <p:tav tm="100000">
                                          <p:val>
                                            <p:strVal val="#ppt_x"/>
                                          </p:val>
                                        </p:tav>
                                      </p:tavLst>
                                    </p:anim>
                                    <p:anim calcmode="lin" valueType="num">
                                      <p:cBhvr>
                                        <p:cTn id="84" dur="600" fill="hold" decel="100000"/>
                                        <p:tgtEl>
                                          <p:spTgt spid="28"/>
                                        </p:tgtEl>
                                        <p:attrNameLst>
                                          <p:attrName>ppt_y</p:attrName>
                                        </p:attrNameLst>
                                      </p:cBhvr>
                                      <p:tavLst>
                                        <p:tav tm="0">
                                          <p:val>
                                            <p:strVal val="#ppt_y+.04"/>
                                          </p:val>
                                        </p:tav>
                                        <p:tav tm="100000">
                                          <p:val>
                                            <p:strVal val="#ppt_y"/>
                                          </p:val>
                                        </p:tav>
                                      </p:tavLst>
                                    </p:anim>
                                  </p:childTnLst>
                                </p:cTn>
                              </p:par>
                              <p:par>
                                <p:cTn id="85" presetID="42" presetClass="entr" presetSubtype="0" fill="hold" grpId="0" nodeType="withEffect">
                                  <p:stCondLst>
                                    <p:cond delay="20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600"/>
                                        <p:tgtEl>
                                          <p:spTgt spid="29"/>
                                        </p:tgtEl>
                                      </p:cBhvr>
                                    </p:animEffect>
                                    <p:anim calcmode="lin" valueType="num">
                                      <p:cBhvr>
                                        <p:cTn id="88" dur="600" fill="hold" decel="100000"/>
                                        <p:tgtEl>
                                          <p:spTgt spid="29"/>
                                        </p:tgtEl>
                                        <p:attrNameLst>
                                          <p:attrName>ppt_x</p:attrName>
                                        </p:attrNameLst>
                                      </p:cBhvr>
                                      <p:tavLst>
                                        <p:tav tm="0">
                                          <p:val>
                                            <p:strVal val="#ppt_x"/>
                                          </p:val>
                                        </p:tav>
                                        <p:tav tm="100000">
                                          <p:val>
                                            <p:strVal val="#ppt_x"/>
                                          </p:val>
                                        </p:tav>
                                      </p:tavLst>
                                    </p:anim>
                                    <p:anim calcmode="lin" valueType="num">
                                      <p:cBhvr>
                                        <p:cTn id="89" dur="600" fill="hold" decel="100000"/>
                                        <p:tgtEl>
                                          <p:spTgt spid="29"/>
                                        </p:tgtEl>
                                        <p:attrNameLst>
                                          <p:attrName>ppt_y</p:attrName>
                                        </p:attrNameLst>
                                      </p:cBhvr>
                                      <p:tavLst>
                                        <p:tav tm="0">
                                          <p:val>
                                            <p:strVal val="#ppt_y+.04"/>
                                          </p:val>
                                        </p:tav>
                                        <p:tav tm="100000">
                                          <p:val>
                                            <p:strVal val="#ppt_y"/>
                                          </p:val>
                                        </p:tav>
                                      </p:tavLst>
                                    </p:anim>
                                  </p:childTnLst>
                                </p:cTn>
                              </p:par>
                            </p:childTnLst>
                          </p:cTn>
                        </p:par>
                        <p:par>
                          <p:cTn id="90" fill="hold">
                            <p:stCondLst>
                              <p:cond delay="3800"/>
                            </p:stCondLst>
                            <p:childTnLst>
                              <p:par>
                                <p:cTn id="91" presetID="53" presetClass="entr" presetSubtype="16" fill="hold" grpId="0" nodeType="afterEffect">
                                  <p:stCondLst>
                                    <p:cond delay="0"/>
                                  </p:stCondLst>
                                  <p:childTnLst>
                                    <p:set>
                                      <p:cBhvr>
                                        <p:cTn id="92" dur="1" fill="hold">
                                          <p:stCondLst>
                                            <p:cond delay="0"/>
                                          </p:stCondLst>
                                        </p:cTn>
                                        <p:tgtEl>
                                          <p:spTgt spid="31"/>
                                        </p:tgtEl>
                                        <p:attrNameLst>
                                          <p:attrName>style.visibility</p:attrName>
                                        </p:attrNameLst>
                                      </p:cBhvr>
                                      <p:to>
                                        <p:strVal val="visible"/>
                                      </p:to>
                                    </p:set>
                                    <p:anim calcmode="lin" valueType="num">
                                      <p:cBhvr>
                                        <p:cTn id="93" dur="500" fill="hold"/>
                                        <p:tgtEl>
                                          <p:spTgt spid="31"/>
                                        </p:tgtEl>
                                        <p:attrNameLst>
                                          <p:attrName>ppt_w</p:attrName>
                                        </p:attrNameLst>
                                      </p:cBhvr>
                                      <p:tavLst>
                                        <p:tav tm="0">
                                          <p:val>
                                            <p:strVal val="#ppt_w*0.85"/>
                                          </p:val>
                                        </p:tav>
                                        <p:tav tm="100000">
                                          <p:val>
                                            <p:strVal val="#ppt_w"/>
                                          </p:val>
                                        </p:tav>
                                      </p:tavLst>
                                    </p:anim>
                                    <p:anim calcmode="lin" valueType="num">
                                      <p:cBhvr>
                                        <p:cTn id="94" dur="500" fill="hold"/>
                                        <p:tgtEl>
                                          <p:spTgt spid="31"/>
                                        </p:tgtEl>
                                        <p:attrNameLst>
                                          <p:attrName>ppt_h</p:attrName>
                                        </p:attrNameLst>
                                      </p:cBhvr>
                                      <p:tavLst>
                                        <p:tav tm="0">
                                          <p:val>
                                            <p:strVal val="#ppt_h*0.85"/>
                                          </p:val>
                                        </p:tav>
                                        <p:tav tm="100000">
                                          <p:val>
                                            <p:strVal val="#ppt_h"/>
                                          </p:val>
                                        </p:tav>
                                      </p:tavLst>
                                    </p:anim>
                                    <p:animEffect transition="in" filter="fade">
                                      <p:cBhvr>
                                        <p:cTn id="95" dur="500"/>
                                        <p:tgtEl>
                                          <p:spTgt spid="31"/>
                                        </p:tgtEl>
                                      </p:cBhvr>
                                    </p:animEffect>
                                  </p:childTnLst>
                                </p:cTn>
                              </p:par>
                              <p:par>
                                <p:cTn id="96" presetID="53" presetClass="entr" presetSubtype="16" fill="hold" grpId="0" nodeType="withEffect">
                                  <p:stCondLst>
                                    <p:cond delay="0"/>
                                  </p:stCondLst>
                                  <p:childTnLst>
                                    <p:set>
                                      <p:cBhvr>
                                        <p:cTn id="97" dur="1" fill="hold">
                                          <p:stCondLst>
                                            <p:cond delay="0"/>
                                          </p:stCondLst>
                                        </p:cTn>
                                        <p:tgtEl>
                                          <p:spTgt spid="30"/>
                                        </p:tgtEl>
                                        <p:attrNameLst>
                                          <p:attrName>style.visibility</p:attrName>
                                        </p:attrNameLst>
                                      </p:cBhvr>
                                      <p:to>
                                        <p:strVal val="visible"/>
                                      </p:to>
                                    </p:set>
                                    <p:anim calcmode="lin" valueType="num">
                                      <p:cBhvr>
                                        <p:cTn id="98" dur="500" fill="hold"/>
                                        <p:tgtEl>
                                          <p:spTgt spid="30"/>
                                        </p:tgtEl>
                                        <p:attrNameLst>
                                          <p:attrName>ppt_w</p:attrName>
                                        </p:attrNameLst>
                                      </p:cBhvr>
                                      <p:tavLst>
                                        <p:tav tm="0">
                                          <p:val>
                                            <p:strVal val="#ppt_w*0.85"/>
                                          </p:val>
                                        </p:tav>
                                        <p:tav tm="100000">
                                          <p:val>
                                            <p:strVal val="#ppt_w"/>
                                          </p:val>
                                        </p:tav>
                                      </p:tavLst>
                                    </p:anim>
                                    <p:anim calcmode="lin" valueType="num">
                                      <p:cBhvr>
                                        <p:cTn id="99" dur="500" fill="hold"/>
                                        <p:tgtEl>
                                          <p:spTgt spid="30"/>
                                        </p:tgtEl>
                                        <p:attrNameLst>
                                          <p:attrName>ppt_h</p:attrName>
                                        </p:attrNameLst>
                                      </p:cBhvr>
                                      <p:tavLst>
                                        <p:tav tm="0">
                                          <p:val>
                                            <p:strVal val="#ppt_h*0.85"/>
                                          </p:val>
                                        </p:tav>
                                        <p:tav tm="100000">
                                          <p:val>
                                            <p:strVal val="#ppt_h"/>
                                          </p:val>
                                        </p:tav>
                                      </p:tavLst>
                                    </p:anim>
                                    <p:animEffect transition="in" filter="fade">
                                      <p:cBhvr>
                                        <p:cTn id="100" dur="500"/>
                                        <p:tgtEl>
                                          <p:spTgt spid="30"/>
                                        </p:tgtEl>
                                      </p:cBhvr>
                                    </p:animEffect>
                                  </p:childTnLst>
                                </p:cTn>
                              </p:par>
                              <p:par>
                                <p:cTn id="101" presetID="42" presetClass="entr" presetSubtype="0" fill="hold" grpId="0" nodeType="withEffect">
                                  <p:stCondLst>
                                    <p:cond delay="200"/>
                                  </p:stCondLst>
                                  <p:childTnLst>
                                    <p:set>
                                      <p:cBhvr>
                                        <p:cTn id="102" dur="1" fill="hold">
                                          <p:stCondLst>
                                            <p:cond delay="0"/>
                                          </p:stCondLst>
                                        </p:cTn>
                                        <p:tgtEl>
                                          <p:spTgt spid="32"/>
                                        </p:tgtEl>
                                        <p:attrNameLst>
                                          <p:attrName>style.visibility</p:attrName>
                                        </p:attrNameLst>
                                      </p:cBhvr>
                                      <p:to>
                                        <p:strVal val="visible"/>
                                      </p:to>
                                    </p:set>
                                    <p:animEffect transition="in" filter="fade">
                                      <p:cBhvr>
                                        <p:cTn id="103" dur="600"/>
                                        <p:tgtEl>
                                          <p:spTgt spid="32"/>
                                        </p:tgtEl>
                                      </p:cBhvr>
                                    </p:animEffect>
                                    <p:anim calcmode="lin" valueType="num">
                                      <p:cBhvr>
                                        <p:cTn id="104" dur="600" fill="hold" decel="100000"/>
                                        <p:tgtEl>
                                          <p:spTgt spid="32"/>
                                        </p:tgtEl>
                                        <p:attrNameLst>
                                          <p:attrName>ppt_x</p:attrName>
                                        </p:attrNameLst>
                                      </p:cBhvr>
                                      <p:tavLst>
                                        <p:tav tm="0">
                                          <p:val>
                                            <p:strVal val="#ppt_x"/>
                                          </p:val>
                                        </p:tav>
                                        <p:tav tm="100000">
                                          <p:val>
                                            <p:strVal val="#ppt_x"/>
                                          </p:val>
                                        </p:tav>
                                      </p:tavLst>
                                    </p:anim>
                                    <p:anim calcmode="lin" valueType="num">
                                      <p:cBhvr>
                                        <p:cTn id="105" dur="600" fill="hold" decel="100000"/>
                                        <p:tgtEl>
                                          <p:spTgt spid="32"/>
                                        </p:tgtEl>
                                        <p:attrNameLst>
                                          <p:attrName>ppt_y</p:attrName>
                                        </p:attrNameLst>
                                      </p:cBhvr>
                                      <p:tavLst>
                                        <p:tav tm="0">
                                          <p:val>
                                            <p:strVal val="#ppt_y+.04"/>
                                          </p:val>
                                        </p:tav>
                                        <p:tav tm="100000">
                                          <p:val>
                                            <p:strVal val="#ppt_y"/>
                                          </p:val>
                                        </p:tav>
                                      </p:tavLst>
                                    </p:anim>
                                  </p:childTnLst>
                                </p:cTn>
                              </p:par>
                              <p:par>
                                <p:cTn id="106" presetID="42" presetClass="entr" presetSubtype="0" fill="hold" grpId="0" nodeType="withEffect">
                                  <p:stCondLst>
                                    <p:cond delay="200"/>
                                  </p:stCondLst>
                                  <p:childTnLst>
                                    <p:set>
                                      <p:cBhvr>
                                        <p:cTn id="107" dur="1" fill="hold">
                                          <p:stCondLst>
                                            <p:cond delay="0"/>
                                          </p:stCondLst>
                                        </p:cTn>
                                        <p:tgtEl>
                                          <p:spTgt spid="33"/>
                                        </p:tgtEl>
                                        <p:attrNameLst>
                                          <p:attrName>style.visibility</p:attrName>
                                        </p:attrNameLst>
                                      </p:cBhvr>
                                      <p:to>
                                        <p:strVal val="visible"/>
                                      </p:to>
                                    </p:set>
                                    <p:animEffect transition="in" filter="fade">
                                      <p:cBhvr>
                                        <p:cTn id="108" dur="600"/>
                                        <p:tgtEl>
                                          <p:spTgt spid="33"/>
                                        </p:tgtEl>
                                      </p:cBhvr>
                                    </p:animEffect>
                                    <p:anim calcmode="lin" valueType="num">
                                      <p:cBhvr>
                                        <p:cTn id="109" dur="600" fill="hold" decel="100000"/>
                                        <p:tgtEl>
                                          <p:spTgt spid="33"/>
                                        </p:tgtEl>
                                        <p:attrNameLst>
                                          <p:attrName>ppt_x</p:attrName>
                                        </p:attrNameLst>
                                      </p:cBhvr>
                                      <p:tavLst>
                                        <p:tav tm="0">
                                          <p:val>
                                            <p:strVal val="#ppt_x"/>
                                          </p:val>
                                        </p:tav>
                                        <p:tav tm="100000">
                                          <p:val>
                                            <p:strVal val="#ppt_x"/>
                                          </p:val>
                                        </p:tav>
                                      </p:tavLst>
                                    </p:anim>
                                    <p:anim calcmode="lin" valueType="num">
                                      <p:cBhvr>
                                        <p:cTn id="110" dur="600" fill="hold" decel="100000"/>
                                        <p:tgtEl>
                                          <p:spTgt spid="33"/>
                                        </p:tgtEl>
                                        <p:attrNameLst>
                                          <p:attrName>ppt_y</p:attrName>
                                        </p:attrNameLst>
                                      </p:cBhvr>
                                      <p:tavLst>
                                        <p:tav tm="0">
                                          <p:val>
                                            <p:strVal val="#ppt_y+.04"/>
                                          </p:val>
                                        </p:tav>
                                        <p:tav tm="100000">
                                          <p:val>
                                            <p:strVal val="#ppt_y"/>
                                          </p:val>
                                        </p:tav>
                                      </p:tavLst>
                                    </p:anim>
                                  </p:childTnLst>
                                </p:cTn>
                              </p:par>
                              <p:par>
                                <p:cTn id="111" presetID="42" presetClass="entr" presetSubtype="0" fill="hold" grpId="0" nodeType="withEffect">
                                  <p:stCondLst>
                                    <p:cond delay="200"/>
                                  </p:stCondLst>
                                  <p:childTnLst>
                                    <p:set>
                                      <p:cBhvr>
                                        <p:cTn id="112" dur="1" fill="hold">
                                          <p:stCondLst>
                                            <p:cond delay="0"/>
                                          </p:stCondLst>
                                        </p:cTn>
                                        <p:tgtEl>
                                          <p:spTgt spid="34"/>
                                        </p:tgtEl>
                                        <p:attrNameLst>
                                          <p:attrName>style.visibility</p:attrName>
                                        </p:attrNameLst>
                                      </p:cBhvr>
                                      <p:to>
                                        <p:strVal val="visible"/>
                                      </p:to>
                                    </p:set>
                                    <p:animEffect transition="in" filter="fade">
                                      <p:cBhvr>
                                        <p:cTn id="113" dur="600"/>
                                        <p:tgtEl>
                                          <p:spTgt spid="34"/>
                                        </p:tgtEl>
                                      </p:cBhvr>
                                    </p:animEffect>
                                    <p:anim calcmode="lin" valueType="num">
                                      <p:cBhvr>
                                        <p:cTn id="114" dur="600" fill="hold" decel="100000"/>
                                        <p:tgtEl>
                                          <p:spTgt spid="34"/>
                                        </p:tgtEl>
                                        <p:attrNameLst>
                                          <p:attrName>ppt_x</p:attrName>
                                        </p:attrNameLst>
                                      </p:cBhvr>
                                      <p:tavLst>
                                        <p:tav tm="0">
                                          <p:val>
                                            <p:strVal val="#ppt_x"/>
                                          </p:val>
                                        </p:tav>
                                        <p:tav tm="100000">
                                          <p:val>
                                            <p:strVal val="#ppt_x"/>
                                          </p:val>
                                        </p:tav>
                                      </p:tavLst>
                                    </p:anim>
                                    <p:anim calcmode="lin" valueType="num">
                                      <p:cBhvr>
                                        <p:cTn id="115" dur="600" fill="hold" decel="100000"/>
                                        <p:tgtEl>
                                          <p:spTgt spid="34"/>
                                        </p:tgtEl>
                                        <p:attrNameLst>
                                          <p:attrName>ppt_y</p:attrName>
                                        </p:attrNameLst>
                                      </p:cBhvr>
                                      <p:tavLst>
                                        <p:tav tm="0">
                                          <p:val>
                                            <p:strVal val="#ppt_y+.04"/>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4" grpId="0" animBg="1"/>
      <p:bldP spid="16" grpId="0" animBg="1"/>
      <p:bldP spid="15" grpId="0"/>
      <p:bldP spid="17" grpId="0" animBg="1"/>
      <p:bldP spid="18" grpId="0" animBg="1"/>
      <p:bldP spid="19" grpId="0"/>
      <p:bldP spid="21" grpId="0" animBg="1"/>
      <p:bldP spid="20" grpId="0"/>
      <p:bldP spid="22" grpId="0" animBg="1"/>
      <p:bldP spid="23" grpId="0" animBg="1"/>
      <p:bldP spid="24" grpId="0"/>
      <p:bldP spid="26" grpId="0" animBg="1"/>
      <p:bldP spid="25" grpId="0"/>
      <p:bldP spid="27" grpId="0" animBg="1"/>
      <p:bldP spid="28" grpId="0" animBg="1"/>
      <p:bldP spid="29" grpId="0"/>
      <p:bldP spid="31" grpId="0" animBg="1"/>
      <p:bldP spid="30" grpId="0"/>
      <p:bldP spid="32" grpId="0" animBg="1"/>
      <p:bldP spid="33" grpId="0" animBg="1"/>
      <p:bldP spid="34" grpId="0"/>
    </p:bld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8F3"/>
        </a:solidFill>
        <a:effectLst/>
      </p:bgPr>
    </p:bg>
    <p:spTree>
      <p:nvGrpSpPr>
        <p:cNvPr id="1" name=""/>
        <p:cNvGrpSpPr/>
        <p:nvPr/>
      </p:nvGrpSpPr>
      <p:grpSpPr/>
      <p:sp>
        <p:nvSpPr>
          <p:cNvPr id="2" name="Trait or"/>
          <p:cNvSpPr/>
          <p:nvPr/>
        </p:nvSpPr>
        <p:spPr>
          <a:xfrm>
            <a:off x="609600" y="444500"/>
            <a:ext cx="406400" cy="38100"/>
          </a:xfrm>
          <a:prstGeom prst="rect">
            <a:avLst/>
          </a:prstGeom>
          <a:solidFill>
            <a:srgbClr val="D3A0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ubrique"/>
          <p:cNvSpPr txBox="1"/>
          <p:nvPr/>
        </p:nvSpPr>
        <p:spPr>
          <a:xfrm>
            <a:off x="609600" y="508000"/>
            <a:ext cx="10160000" cy="304800"/>
          </a:xfrm>
          <a:prstGeom prst="rect">
            <a:avLst/>
          </a:prstGeom>
          <a:noFill/>
        </p:spPr>
        <p:txBody>
          <a:bodyPr wrap="square" lIns="0" tIns="0" rIns="0" bIns="0" anchor="ctr">
            <a:noAutofit/>
          </a:bodyPr>
          <a:lstStyle/>
          <a:p>
            <a:pPr algn="l">
              <a:lnSpc>
                <a:spcPct val="100000"/>
              </a:lnSpc>
              <a:spcBef>
                <a:spcPts val="0"/>
              </a:spcBef>
              <a:spcAft>
                <a:spcPts val="0"/>
              </a:spcAft>
            </a:pPr>
            <a:r>
              <a:rPr sz="2000" b="1" i="0" lang="fr-FR" spc="150">
                <a:solidFill>
                  <a:srgbClr val="1E7B67"/>
                </a:solidFill>
                <a:latin typeface="Calibri"/>
              </a:rPr>
              <a:t>13 / NOTRE PROPOSITION</a:t>
            </a:r>
          </a:p>
        </p:txBody>
      </p:sp>
      <p:sp>
        <p:nvSpPr>
          <p:cNvPr id="4" name="Titre"/>
          <p:cNvSpPr txBox="1"/>
          <p:nvPr/>
        </p:nvSpPr>
        <p:spPr>
          <a:xfrm>
            <a:off x="609600" y="774700"/>
            <a:ext cx="10972800" cy="609600"/>
          </a:xfrm>
          <a:prstGeom prst="rect">
            <a:avLst/>
          </a:prstGeom>
          <a:noFill/>
        </p:spPr>
        <p:txBody>
          <a:bodyPr wrap="square" lIns="0" tIns="0" rIns="0" bIns="0" anchor="ctr">
            <a:noAutofit/>
          </a:bodyPr>
          <a:lstStyle/>
          <a:p>
            <a:pPr algn="l">
              <a:lnSpc>
                <a:spcPct val="100000"/>
              </a:lnSpc>
              <a:spcBef>
                <a:spcPts val="0"/>
              </a:spcBef>
              <a:spcAft>
                <a:spcPts val="0"/>
              </a:spcAft>
            </a:pPr>
            <a:r>
              <a:rPr sz="4000" b="1" i="0" lang="fr-FR">
                <a:solidFill>
                  <a:srgbClr val="12264A"/>
                </a:solidFill>
                <a:latin typeface="Calibri"/>
              </a:rPr>
              <a:t>Ce que nous proposons au Maire et au Préfet</a:t>
            </a:r>
          </a:p>
        </p:txBody>
      </p:sp>
      <p:sp>
        <p:nvSpPr>
          <p:cNvPr id="5" name="Accroche"/>
          <p:cNvSpPr txBox="1"/>
          <p:nvPr/>
        </p:nvSpPr>
        <p:spPr>
          <a:xfrm>
            <a:off x="609600" y="1358900"/>
            <a:ext cx="10972800" cy="355600"/>
          </a:xfrm>
          <a:prstGeom prst="rect">
            <a:avLst/>
          </a:prstGeom>
          <a:noFill/>
        </p:spPr>
        <p:txBody>
          <a:bodyPr wrap="square" lIns="0" tIns="0" rIns="0" bIns="0" anchor="t">
            <a:noAutofit/>
          </a:bodyPr>
          <a:lstStyle/>
          <a:p>
            <a:pPr algn="l">
              <a:lnSpc>
                <a:spcPct val="100000"/>
              </a:lnSpc>
              <a:spcBef>
                <a:spcPts val="0"/>
              </a:spcBef>
              <a:spcAft>
                <a:spcPts val="0"/>
              </a:spcAft>
            </a:pPr>
            <a:r>
              <a:rPr sz="2200" b="0" i="0" lang="fr-FR">
                <a:solidFill>
                  <a:srgbClr val="1B2A41"/>
                </a:solidFill>
                <a:latin typeface="Calibri"/>
              </a:rPr>
              <a:t>Le cadre légal existe, le projet l’applique : une décision locale suffit pour démarrer.</a:t>
            </a:r>
          </a:p>
        </p:txBody>
      </p:sp>
      <p:sp>
        <p:nvSpPr>
          <p:cNvPr id="6" name="Pied de page"/>
          <p:cNvSpPr txBox="1"/>
          <p:nvPr/>
        </p:nvSpPr>
        <p:spPr>
          <a:xfrm>
            <a:off x="609600" y="6413500"/>
            <a:ext cx="4826000" cy="241300"/>
          </a:xfrm>
          <a:prstGeom prst="rect">
            <a:avLst/>
          </a:prstGeom>
          <a:noFill/>
        </p:spPr>
        <p:txBody>
          <a:bodyPr wrap="square" lIns="0" tIns="0" rIns="0" bIns="0" anchor="ctr">
            <a:noAutofit/>
          </a:bodyPr>
          <a:lstStyle/>
          <a:p>
            <a:pPr algn="l">
              <a:lnSpc>
                <a:spcPct val="100000"/>
              </a:lnSpc>
              <a:spcBef>
                <a:spcPts val="0"/>
              </a:spcBef>
              <a:spcAft>
                <a:spcPts val="0"/>
              </a:spcAft>
            </a:pPr>
            <a:r>
              <a:rPr sz="1400" b="1" i="0" lang="fr-FR" spc="50">
                <a:solidFill>
                  <a:srgbClr val="1B2A41"/>
                </a:solidFill>
                <a:latin typeface="Calibri"/>
              </a:rPr>
              <a:t>FUTURA - KOUROUSSA | Octobre 2026</a:t>
            </a:r>
          </a:p>
        </p:txBody>
      </p:sp>
      <p:sp>
        <p:nvSpPr>
          <p:cNvPr id="7" name="Pied bandeau"/>
          <p:cNvSpPr/>
          <p:nvPr/>
        </p:nvSpPr>
        <p:spPr>
          <a:xfrm>
            <a:off x="9069742" y="6350000"/>
            <a:ext cx="2512658" cy="355600"/>
          </a:xfrm>
          <a:prstGeom prst="roundRect">
            <a:avLst>
              <a:gd name="adj" fmla="val 42857"/>
            </a:avLst>
          </a:prstGeom>
          <a:solidFill>
            <a:srgbClr val="FFFFFF"/>
          </a:solidFill>
          <a:ln w="9525">
            <a:solidFill>
              <a:srgbClr val="E3DED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ed logo futura-kouroussa" descr="futura-kouroussa.png"/>
          <p:cNvPicPr>
            <a:picLocks noChangeAspect="1"/>
          </p:cNvPicPr>
          <p:nvPr/>
        </p:nvPicPr>
        <p:blipFill>
          <a:blip r:embed="rId2"/>
          <a:stretch>
            <a:fillRect/>
          </a:stretch>
        </p:blipFill>
        <p:spPr>
          <a:xfrm>
            <a:off x="9184042" y="6419850"/>
            <a:ext cx="391970" cy="215900"/>
          </a:xfrm>
          <a:prstGeom prst="rect">
            <a:avLst/>
          </a:prstGeom>
        </p:spPr>
      </p:pic>
      <p:pic>
        <p:nvPicPr>
          <p:cNvPr id="9" name="Pied logo republique-de-guinee-armoiries" descr="republique-de-guinee-armoiries.png"/>
          <p:cNvPicPr>
            <a:picLocks noChangeAspect="1"/>
          </p:cNvPicPr>
          <p:nvPr/>
        </p:nvPicPr>
        <p:blipFill>
          <a:blip r:embed="rId3"/>
          <a:stretch>
            <a:fillRect/>
          </a:stretch>
        </p:blipFill>
        <p:spPr>
          <a:xfrm>
            <a:off x="9664912" y="6419850"/>
            <a:ext cx="179814" cy="215900"/>
          </a:xfrm>
          <a:prstGeom prst="rect">
            <a:avLst/>
          </a:prstGeom>
        </p:spPr>
      </p:pic>
      <p:pic>
        <p:nvPicPr>
          <p:cNvPr id="10" name="Pied logo assemblee-nationale" descr="assemblee-nationale.png"/>
          <p:cNvPicPr>
            <a:picLocks noChangeAspect="1"/>
          </p:cNvPicPr>
          <p:nvPr/>
        </p:nvPicPr>
        <p:blipFill>
          <a:blip r:embed="rId4"/>
          <a:stretch>
            <a:fillRect/>
          </a:stretch>
        </p:blipFill>
        <p:spPr>
          <a:xfrm>
            <a:off x="9933626" y="6419850"/>
            <a:ext cx="217442" cy="215900"/>
          </a:xfrm>
          <a:prstGeom prst="rect">
            <a:avLst/>
          </a:prstGeom>
        </p:spPr>
      </p:pic>
      <p:pic>
        <p:nvPicPr>
          <p:cNvPr id="11" name="Pied logo simandou-2040" descr="simandou-2040.png"/>
          <p:cNvPicPr>
            <a:picLocks noChangeAspect="1"/>
          </p:cNvPicPr>
          <p:nvPr/>
        </p:nvPicPr>
        <p:blipFill>
          <a:blip r:embed="rId5"/>
          <a:stretch>
            <a:fillRect/>
          </a:stretch>
        </p:blipFill>
        <p:spPr>
          <a:xfrm>
            <a:off x="10239968" y="6419850"/>
            <a:ext cx="674774" cy="215900"/>
          </a:xfrm>
          <a:prstGeom prst="rect">
            <a:avLst/>
          </a:prstGeom>
        </p:spPr>
      </p:pic>
      <p:pic>
        <p:nvPicPr>
          <p:cNvPr id="12" name="Pied logo guinee" descr="guinee.png"/>
          <p:cNvPicPr>
            <a:picLocks noChangeAspect="1"/>
          </p:cNvPicPr>
          <p:nvPr/>
        </p:nvPicPr>
        <p:blipFill>
          <a:blip r:embed="rId6"/>
          <a:stretch>
            <a:fillRect/>
          </a:stretch>
        </p:blipFill>
        <p:spPr>
          <a:xfrm>
            <a:off x="11003643" y="6419850"/>
            <a:ext cx="464457" cy="215900"/>
          </a:xfrm>
          <a:prstGeom prst="rect">
            <a:avLst/>
          </a:prstGeom>
        </p:spPr>
      </p:pic>
      <p:sp>
        <p:nvSpPr>
          <p:cNvPr id="13" name="Numéro"/>
          <p:cNvSpPr txBox="1"/>
          <p:nvPr/>
        </p:nvSpPr>
        <p:spPr>
          <a:xfrm>
            <a:off x="7990242" y="6413500"/>
            <a:ext cx="952500" cy="241300"/>
          </a:xfrm>
          <a:prstGeom prst="rect">
            <a:avLst/>
          </a:prstGeom>
          <a:noFill/>
        </p:spPr>
        <p:txBody>
          <a:bodyPr wrap="square" lIns="0" tIns="0" rIns="0" bIns="0" anchor="ctr">
            <a:noAutofit/>
          </a:bodyPr>
          <a:lstStyle/>
          <a:p>
            <a:pPr algn="r">
              <a:lnSpc>
                <a:spcPct val="100000"/>
              </a:lnSpc>
              <a:spcBef>
                <a:spcPts val="0"/>
              </a:spcBef>
              <a:spcAft>
                <a:spcPts val="0"/>
              </a:spcAft>
            </a:pPr>
            <a:r>
              <a:rPr sz="1400" b="1" i="0" lang="fr-FR">
                <a:solidFill>
                  <a:srgbClr val="12264A"/>
                </a:solidFill>
                <a:latin typeface="Calibri"/>
              </a:rPr>
              <a:t>14 / 15</a:t>
            </a:r>
          </a:p>
        </p:txBody>
      </p:sp>
      <p:sp>
        <p:nvSpPr>
          <p:cNvPr id="14" name="s14 colonne 1"/>
          <p:cNvSpPr/>
          <p:nvPr/>
        </p:nvSpPr>
        <p:spPr>
          <a:xfrm>
            <a:off x="609600" y="1828800"/>
            <a:ext cx="5334000" cy="4267200"/>
          </a:xfrm>
          <a:prstGeom prst="roundRect">
            <a:avLst>
              <a:gd name="adj" fmla="val 2380"/>
            </a:avLst>
          </a:prstGeom>
          <a:solidFill>
            <a:srgbClr val="FFFFFF"/>
          </a:solidFill>
          <a:ln w="9525">
            <a:solidFill>
              <a:srgbClr val="E3DED3"/>
            </a:solidFill>
          </a:ln>
          <a:effectLst>
            <a:outerShdw blurRad="165100" dist="38100" dir="5400000" algn="t" rotWithShape="0">
              <a:srgbClr val="12264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14 colonne 1 filet"/>
          <p:cNvSpPr/>
          <p:nvPr/>
        </p:nvSpPr>
        <p:spPr>
          <a:xfrm>
            <a:off x="609600" y="1930400"/>
            <a:ext cx="50800" cy="4064000"/>
          </a:xfrm>
          <a:prstGeom prst="rect">
            <a:avLst/>
          </a:prstGeom>
          <a:solidFill>
            <a:srgbClr val="1E7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14 icône 1"/>
          <p:cNvSpPr/>
          <p:nvPr/>
        </p:nvSpPr>
        <p:spPr>
          <a:xfrm>
            <a:off x="876300" y="2019300"/>
            <a:ext cx="533400" cy="533400"/>
          </a:xfrm>
          <a:prstGeom prst="ellipse">
            <a:avLst/>
          </a:prstGeom>
          <a:solidFill>
            <a:srgbClr val="1E7B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s14 icône 1 picto" descr="mairie.png"/>
          <p:cNvPicPr>
            <a:picLocks noChangeAspect="1"/>
          </p:cNvPicPr>
          <p:nvPr/>
        </p:nvPicPr>
        <p:blipFill>
          <a:blip r:embed="rId7"/>
          <a:stretch>
            <a:fillRect/>
          </a:stretch>
        </p:blipFill>
        <p:spPr>
          <a:xfrm>
            <a:off x="1004316" y="2147316"/>
            <a:ext cx="277368" cy="277368"/>
          </a:xfrm>
          <a:prstGeom prst="rect">
            <a:avLst/>
          </a:prstGeom>
        </p:spPr>
      </p:pic>
      <p:sp>
        <p:nvSpPr>
          <p:cNvPr id="18" name="s14 en-tête 1"/>
          <p:cNvSpPr txBox="1"/>
          <p:nvPr/>
        </p:nvSpPr>
        <p:spPr>
          <a:xfrm>
            <a:off x="1549400" y="1943100"/>
            <a:ext cx="4191000" cy="698500"/>
          </a:xfrm>
          <a:prstGeom prst="rect">
            <a:avLst/>
          </a:prstGeom>
          <a:noFill/>
        </p:spPr>
        <p:txBody>
          <a:bodyPr wrap="square" lIns="0" tIns="0" rIns="0" bIns="0" anchor="ctr">
            <a:noAutofit/>
          </a:bodyPr>
          <a:lstStyle/>
          <a:p>
            <a:pPr algn="l">
              <a:lnSpc>
                <a:spcPct val="100000"/>
              </a:lnSpc>
              <a:spcBef>
                <a:spcPts val="0"/>
              </a:spcBef>
              <a:spcAft>
                <a:spcPts val="200"/>
              </a:spcAft>
            </a:pPr>
            <a:r>
              <a:rPr sz="2800" b="1" i="0" lang="fr-FR">
                <a:solidFill>
                  <a:srgbClr val="12264A"/>
                </a:solidFill>
                <a:latin typeface="Calibri"/>
              </a:rPr>
              <a:t>Mairie de Kouroussa</a:t>
            </a:r>
          </a:p>
          <a:p>
            <a:pPr algn="l">
              <a:lnSpc>
                <a:spcPct val="100000"/>
              </a:lnSpc>
              <a:spcBef>
                <a:spcPts val="0"/>
              </a:spcBef>
              <a:spcAft>
                <a:spcPts val="0"/>
              </a:spcAft>
            </a:pPr>
            <a:r>
              <a:rPr sz="2200" b="1" i="0" lang="fr-FR">
                <a:solidFill>
                  <a:srgbClr val="1E7B67"/>
                </a:solidFill>
                <a:latin typeface="Calibri"/>
              </a:rPr>
              <a:t>Nous proposons de :</a:t>
            </a:r>
          </a:p>
        </p:txBody>
      </p:sp>
      <p:sp>
        <p:nvSpPr>
          <p:cNvPr id="19" name="s14 point 1.1"/>
          <p:cNvSpPr/>
          <p:nvPr/>
        </p:nvSpPr>
        <p:spPr>
          <a:xfrm>
            <a:off x="895350" y="2813050"/>
            <a:ext cx="266700" cy="266700"/>
          </a:xfrm>
          <a:prstGeom prst="ellipse">
            <a:avLst/>
          </a:prstGeom>
          <a:solidFill>
            <a:srgbClr val="1E7B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00000"/>
              </a:lnSpc>
              <a:spcBef>
                <a:spcPts val="0"/>
              </a:spcBef>
              <a:spcAft>
                <a:spcPts val="0"/>
              </a:spcAft>
            </a:pPr>
            <a:r>
              <a:rPr sz="2000" b="1" i="0" lang="fr-FR">
                <a:solidFill>
                  <a:srgbClr val="FFFFFF"/>
                </a:solidFill>
                <a:latin typeface="Calibri"/>
              </a:rPr>
              <a:t>1</a:t>
            </a:r>
          </a:p>
        </p:txBody>
      </p:sp>
      <p:sp>
        <p:nvSpPr>
          <p:cNvPr id="20" name="s14 texte 1.1"/>
          <p:cNvSpPr txBox="1"/>
          <p:nvPr/>
        </p:nvSpPr>
        <p:spPr>
          <a:xfrm>
            <a:off x="1295400" y="2794000"/>
            <a:ext cx="4445000" cy="1270000"/>
          </a:xfrm>
          <a:prstGeom prst="rect">
            <a:avLst/>
          </a:prstGeom>
          <a:noFill/>
        </p:spPr>
        <p:txBody>
          <a:bodyPr wrap="square" lIns="0" tIns="0" rIns="0" bIns="0" anchor="t">
            <a:noAutofit/>
          </a:bodyPr>
          <a:lstStyle/>
          <a:p>
            <a:pPr algn="l">
              <a:lnSpc>
                <a:spcPct val="100000"/>
              </a:lnSpc>
              <a:spcBef>
                <a:spcPts val="0"/>
              </a:spcBef>
              <a:spcAft>
                <a:spcPts val="0"/>
              </a:spcAft>
            </a:pPr>
            <a:r>
              <a:rPr sz="2000" b="0" i="0" lang="fr-FR">
                <a:solidFill>
                  <a:srgbClr val="1B2A41"/>
                </a:solidFill>
                <a:latin typeface="Calibri"/>
              </a:rPr>
              <a:t>Voter en session plénière du Conseil Communal la délibération demandant la création de FUTURA-Kouroussa et mandatant le Maire pour négocier.</a:t>
            </a:r>
          </a:p>
        </p:txBody>
      </p:sp>
      <p:sp>
        <p:nvSpPr>
          <p:cNvPr id="21" name="s14 point 1.2"/>
          <p:cNvSpPr/>
          <p:nvPr/>
        </p:nvSpPr>
        <p:spPr>
          <a:xfrm>
            <a:off x="895350" y="4210050"/>
            <a:ext cx="266700" cy="266700"/>
          </a:xfrm>
          <a:prstGeom prst="ellipse">
            <a:avLst/>
          </a:prstGeom>
          <a:solidFill>
            <a:srgbClr val="1E7B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00000"/>
              </a:lnSpc>
              <a:spcBef>
                <a:spcPts val="0"/>
              </a:spcBef>
              <a:spcAft>
                <a:spcPts val="0"/>
              </a:spcAft>
            </a:pPr>
            <a:r>
              <a:rPr sz="2000" b="1" i="0" lang="fr-FR">
                <a:solidFill>
                  <a:srgbClr val="FFFFFF"/>
                </a:solidFill>
                <a:latin typeface="Calibri"/>
              </a:rPr>
              <a:t>2</a:t>
            </a:r>
          </a:p>
        </p:txBody>
      </p:sp>
      <p:sp>
        <p:nvSpPr>
          <p:cNvPr id="22" name="s14 texte 1.2"/>
          <p:cNvSpPr txBox="1"/>
          <p:nvPr/>
        </p:nvSpPr>
        <p:spPr>
          <a:xfrm>
            <a:off x="1295400" y="4191000"/>
            <a:ext cx="4445000" cy="965200"/>
          </a:xfrm>
          <a:prstGeom prst="rect">
            <a:avLst/>
          </a:prstGeom>
          <a:noFill/>
        </p:spPr>
        <p:txBody>
          <a:bodyPr wrap="square" lIns="0" tIns="0" rIns="0" bIns="0" anchor="t">
            <a:noAutofit/>
          </a:bodyPr>
          <a:lstStyle/>
          <a:p>
            <a:pPr algn="l">
              <a:lnSpc>
                <a:spcPct val="100000"/>
              </a:lnSpc>
              <a:spcBef>
                <a:spcPts val="0"/>
              </a:spcBef>
              <a:spcAft>
                <a:spcPts val="0"/>
              </a:spcAft>
            </a:pPr>
            <a:r>
              <a:rPr sz="2000" b="0" i="0" lang="fr-FR">
                <a:solidFill>
                  <a:srgbClr val="1B2A41"/>
                </a:solidFill>
                <a:latin typeface="Calibri"/>
              </a:rPr>
              <a:t>Constituer le dossier de réclamation auprès de KGM pour les montants de CDL dus depuis novembre 2024.</a:t>
            </a:r>
          </a:p>
        </p:txBody>
      </p:sp>
      <p:sp>
        <p:nvSpPr>
          <p:cNvPr id="23" name="s14 point 1.3"/>
          <p:cNvSpPr/>
          <p:nvPr/>
        </p:nvSpPr>
        <p:spPr>
          <a:xfrm>
            <a:off x="895350" y="5302250"/>
            <a:ext cx="266700" cy="266700"/>
          </a:xfrm>
          <a:prstGeom prst="ellipse">
            <a:avLst/>
          </a:prstGeom>
          <a:solidFill>
            <a:srgbClr val="1E7B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00000"/>
              </a:lnSpc>
              <a:spcBef>
                <a:spcPts val="0"/>
              </a:spcBef>
              <a:spcAft>
                <a:spcPts val="0"/>
              </a:spcAft>
            </a:pPr>
            <a:r>
              <a:rPr sz="2000" b="1" i="0" lang="fr-FR">
                <a:solidFill>
                  <a:srgbClr val="FFFFFF"/>
                </a:solidFill>
                <a:latin typeface="Calibri"/>
              </a:rPr>
              <a:t>3</a:t>
            </a:r>
          </a:p>
        </p:txBody>
      </p:sp>
      <p:sp>
        <p:nvSpPr>
          <p:cNvPr id="24" name="s14 texte 1.3"/>
          <p:cNvSpPr txBox="1"/>
          <p:nvPr/>
        </p:nvSpPr>
        <p:spPr>
          <a:xfrm>
            <a:off x="1295400" y="5283200"/>
            <a:ext cx="4445000" cy="660400"/>
          </a:xfrm>
          <a:prstGeom prst="rect">
            <a:avLst/>
          </a:prstGeom>
          <a:noFill/>
        </p:spPr>
        <p:txBody>
          <a:bodyPr wrap="square" lIns="0" tIns="0" rIns="0" bIns="0" anchor="t">
            <a:noAutofit/>
          </a:bodyPr>
          <a:lstStyle/>
          <a:p>
            <a:pPr algn="l">
              <a:lnSpc>
                <a:spcPct val="100000"/>
              </a:lnSpc>
              <a:spcBef>
                <a:spcPts val="0"/>
              </a:spcBef>
              <a:spcAft>
                <a:spcPts val="0"/>
              </a:spcAft>
            </a:pPr>
            <a:r>
              <a:rPr sz="2000" b="0" i="0" lang="fr-FR">
                <a:solidFill>
                  <a:srgbClr val="1B2A41"/>
                </a:solidFill>
                <a:latin typeface="Calibri"/>
              </a:rPr>
              <a:t>Désigner les représentants de la commune dans les futurs organes.</a:t>
            </a:r>
          </a:p>
        </p:txBody>
      </p:sp>
      <p:sp>
        <p:nvSpPr>
          <p:cNvPr id="25" name="s14 colonne 2"/>
          <p:cNvSpPr/>
          <p:nvPr/>
        </p:nvSpPr>
        <p:spPr>
          <a:xfrm>
            <a:off x="6248400" y="1828800"/>
            <a:ext cx="5334000" cy="4267200"/>
          </a:xfrm>
          <a:prstGeom prst="roundRect">
            <a:avLst>
              <a:gd name="adj" fmla="val 2380"/>
            </a:avLst>
          </a:prstGeom>
          <a:solidFill>
            <a:srgbClr val="FFFFFF"/>
          </a:solidFill>
          <a:ln w="9525">
            <a:solidFill>
              <a:srgbClr val="E3DED3"/>
            </a:solidFill>
          </a:ln>
          <a:effectLst>
            <a:outerShdw blurRad="165100" dist="38100" dir="5400000" algn="t" rotWithShape="0">
              <a:srgbClr val="12264A">
                <a:alpha val="9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14 colonne 2 filet"/>
          <p:cNvSpPr/>
          <p:nvPr/>
        </p:nvSpPr>
        <p:spPr>
          <a:xfrm>
            <a:off x="6248400" y="1930400"/>
            <a:ext cx="50800" cy="4064000"/>
          </a:xfrm>
          <a:prstGeom prst="rect">
            <a:avLst/>
          </a:prstGeom>
          <a:solidFill>
            <a:srgbClr val="3A7C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s14 icône 2"/>
          <p:cNvSpPr/>
          <p:nvPr/>
        </p:nvSpPr>
        <p:spPr>
          <a:xfrm>
            <a:off x="6515100" y="2019300"/>
            <a:ext cx="533400" cy="533400"/>
          </a:xfrm>
          <a:prstGeom prst="ellipse">
            <a:avLst/>
          </a:prstGeom>
          <a:solidFill>
            <a:srgbClr val="3A7C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s14 icône 2 picto" descr="prefecture.png"/>
          <p:cNvPicPr>
            <a:picLocks noChangeAspect="1"/>
          </p:cNvPicPr>
          <p:nvPr/>
        </p:nvPicPr>
        <p:blipFill>
          <a:blip r:embed="rId8"/>
          <a:stretch>
            <a:fillRect/>
          </a:stretch>
        </p:blipFill>
        <p:spPr>
          <a:xfrm>
            <a:off x="6643116" y="2147316"/>
            <a:ext cx="277368" cy="277368"/>
          </a:xfrm>
          <a:prstGeom prst="rect">
            <a:avLst/>
          </a:prstGeom>
        </p:spPr>
      </p:pic>
      <p:sp>
        <p:nvSpPr>
          <p:cNvPr id="29" name="s14 en-tête 2"/>
          <p:cNvSpPr txBox="1"/>
          <p:nvPr/>
        </p:nvSpPr>
        <p:spPr>
          <a:xfrm>
            <a:off x="7188200" y="1943100"/>
            <a:ext cx="4191000" cy="698500"/>
          </a:xfrm>
          <a:prstGeom prst="rect">
            <a:avLst/>
          </a:prstGeom>
          <a:noFill/>
        </p:spPr>
        <p:txBody>
          <a:bodyPr wrap="square" lIns="0" tIns="0" rIns="0" bIns="0" anchor="ctr">
            <a:noAutofit/>
          </a:bodyPr>
          <a:lstStyle/>
          <a:p>
            <a:pPr algn="l">
              <a:lnSpc>
                <a:spcPct val="100000"/>
              </a:lnSpc>
              <a:spcBef>
                <a:spcPts val="0"/>
              </a:spcBef>
              <a:spcAft>
                <a:spcPts val="200"/>
              </a:spcAft>
            </a:pPr>
            <a:r>
              <a:rPr sz="2800" b="1" i="0" lang="fr-FR">
                <a:solidFill>
                  <a:srgbClr val="12264A"/>
                </a:solidFill>
                <a:latin typeface="Calibri"/>
              </a:rPr>
              <a:t>Préfecture de Kouroussa</a:t>
            </a:r>
          </a:p>
          <a:p>
            <a:pPr algn="l">
              <a:lnSpc>
                <a:spcPct val="100000"/>
              </a:lnSpc>
              <a:spcBef>
                <a:spcPts val="0"/>
              </a:spcBef>
              <a:spcAft>
                <a:spcPts val="0"/>
              </a:spcAft>
            </a:pPr>
            <a:r>
              <a:rPr sz="2200" b="1" i="0" lang="fr-FR">
                <a:solidFill>
                  <a:srgbClr val="3A7CA5"/>
                </a:solidFill>
                <a:latin typeface="Calibri"/>
              </a:rPr>
              <a:t>Nous proposons :</a:t>
            </a:r>
          </a:p>
        </p:txBody>
      </p:sp>
      <p:sp>
        <p:nvSpPr>
          <p:cNvPr id="30" name="s14 point 2.1"/>
          <p:cNvSpPr/>
          <p:nvPr/>
        </p:nvSpPr>
        <p:spPr>
          <a:xfrm>
            <a:off x="6534150" y="2813050"/>
            <a:ext cx="266700" cy="266700"/>
          </a:xfrm>
          <a:prstGeom prst="ellipse">
            <a:avLst/>
          </a:prstGeom>
          <a:solidFill>
            <a:srgbClr val="3A7C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00000"/>
              </a:lnSpc>
              <a:spcBef>
                <a:spcPts val="0"/>
              </a:spcBef>
              <a:spcAft>
                <a:spcPts val="0"/>
              </a:spcAft>
            </a:pPr>
            <a:r>
              <a:rPr sz="2000" b="1" i="0" lang="fr-FR">
                <a:solidFill>
                  <a:srgbClr val="FFFFFF"/>
                </a:solidFill>
                <a:latin typeface="Calibri"/>
              </a:rPr>
              <a:t>1</a:t>
            </a:r>
          </a:p>
        </p:txBody>
      </p:sp>
      <p:sp>
        <p:nvSpPr>
          <p:cNvPr id="31" name="s14 texte 2.1"/>
          <p:cNvSpPr txBox="1"/>
          <p:nvPr/>
        </p:nvSpPr>
        <p:spPr>
          <a:xfrm>
            <a:off x="6934200" y="2794000"/>
            <a:ext cx="4445000" cy="355600"/>
          </a:xfrm>
          <a:prstGeom prst="rect">
            <a:avLst/>
          </a:prstGeom>
          <a:noFill/>
        </p:spPr>
        <p:txBody>
          <a:bodyPr wrap="square" lIns="0" tIns="0" rIns="0" bIns="0" anchor="t">
            <a:noAutofit/>
          </a:bodyPr>
          <a:lstStyle/>
          <a:p>
            <a:pPr algn="l">
              <a:lnSpc>
                <a:spcPct val="100000"/>
              </a:lnSpc>
              <a:spcBef>
                <a:spcPts val="0"/>
              </a:spcBef>
              <a:spcAft>
                <a:spcPts val="0"/>
              </a:spcAft>
            </a:pPr>
            <a:r>
              <a:rPr sz="2000" b="0" i="0" lang="fr-FR">
                <a:solidFill>
                  <a:srgbClr val="1B2A41"/>
                </a:solidFill>
                <a:latin typeface="Calibri"/>
              </a:rPr>
              <a:t>Un appui à la démarche.</a:t>
            </a:r>
          </a:p>
        </p:txBody>
      </p:sp>
      <p:sp>
        <p:nvSpPr>
          <p:cNvPr id="32" name="s14 point 2.2"/>
          <p:cNvSpPr/>
          <p:nvPr/>
        </p:nvSpPr>
        <p:spPr>
          <a:xfrm>
            <a:off x="6534150" y="3295650"/>
            <a:ext cx="266700" cy="266700"/>
          </a:xfrm>
          <a:prstGeom prst="ellipse">
            <a:avLst/>
          </a:prstGeom>
          <a:solidFill>
            <a:srgbClr val="3A7C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00000"/>
              </a:lnSpc>
              <a:spcBef>
                <a:spcPts val="0"/>
              </a:spcBef>
              <a:spcAft>
                <a:spcPts val="0"/>
              </a:spcAft>
            </a:pPr>
            <a:r>
              <a:rPr sz="2000" b="1" i="0" lang="fr-FR">
                <a:solidFill>
                  <a:srgbClr val="FFFFFF"/>
                </a:solidFill>
                <a:latin typeface="Calibri"/>
              </a:rPr>
              <a:t>2</a:t>
            </a:r>
          </a:p>
        </p:txBody>
      </p:sp>
      <p:sp>
        <p:nvSpPr>
          <p:cNvPr id="33" name="s14 texte 2.2"/>
          <p:cNvSpPr txBox="1"/>
          <p:nvPr/>
        </p:nvSpPr>
        <p:spPr>
          <a:xfrm>
            <a:off x="6934200" y="3276600"/>
            <a:ext cx="4445000" cy="965200"/>
          </a:xfrm>
          <a:prstGeom prst="rect">
            <a:avLst/>
          </a:prstGeom>
          <a:noFill/>
        </p:spPr>
        <p:txBody>
          <a:bodyPr wrap="square" lIns="0" tIns="0" rIns="0" bIns="0" anchor="t">
            <a:noAutofit/>
          </a:bodyPr>
          <a:lstStyle/>
          <a:p>
            <a:pPr algn="l">
              <a:lnSpc>
                <a:spcPct val="100000"/>
              </a:lnSpc>
              <a:spcBef>
                <a:spcPts val="0"/>
              </a:spcBef>
              <a:spcAft>
                <a:spcPts val="0"/>
              </a:spcAft>
            </a:pPr>
            <a:r>
              <a:rPr sz="2000" b="0" i="0" lang="fr-FR">
                <a:solidFill>
                  <a:srgbClr val="1B2A41"/>
                </a:solidFill>
                <a:latin typeface="Calibri"/>
              </a:rPr>
              <a:t>La présence du Préfet, ou de son représentant, au Comité de Pilotage Stratégique.</a:t>
            </a:r>
          </a:p>
        </p:txBody>
      </p:sp>
      <p:sp>
        <p:nvSpPr>
          <p:cNvPr id="34" name="s14 point 2.3"/>
          <p:cNvSpPr/>
          <p:nvPr/>
        </p:nvSpPr>
        <p:spPr>
          <a:xfrm>
            <a:off x="6534150" y="4387850"/>
            <a:ext cx="266700" cy="266700"/>
          </a:xfrm>
          <a:prstGeom prst="ellipse">
            <a:avLst/>
          </a:prstGeom>
          <a:solidFill>
            <a:srgbClr val="3A7CA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tIns="0" rIns="0" bIns="0">
            <a:noAutofit/>
          </a:bodyPr>
          <a:lstStyle/>
          <a:p>
            <a:pPr algn="ctr">
              <a:lnSpc>
                <a:spcPct val="100000"/>
              </a:lnSpc>
              <a:spcBef>
                <a:spcPts val="0"/>
              </a:spcBef>
              <a:spcAft>
                <a:spcPts val="0"/>
              </a:spcAft>
            </a:pPr>
            <a:r>
              <a:rPr sz="2000" b="1" i="0" lang="fr-FR">
                <a:solidFill>
                  <a:srgbClr val="FFFFFF"/>
                </a:solidFill>
                <a:latin typeface="Calibri"/>
              </a:rPr>
              <a:t>3</a:t>
            </a:r>
          </a:p>
        </p:txBody>
      </p:sp>
      <p:sp>
        <p:nvSpPr>
          <p:cNvPr id="35" name="s14 texte 2.3"/>
          <p:cNvSpPr txBox="1"/>
          <p:nvPr/>
        </p:nvSpPr>
        <p:spPr>
          <a:xfrm>
            <a:off x="6934200" y="4368800"/>
            <a:ext cx="4445000" cy="660400"/>
          </a:xfrm>
          <a:prstGeom prst="rect">
            <a:avLst/>
          </a:prstGeom>
          <a:noFill/>
        </p:spPr>
        <p:txBody>
          <a:bodyPr wrap="square" lIns="0" tIns="0" rIns="0" bIns="0" anchor="t">
            <a:noAutofit/>
          </a:bodyPr>
          <a:lstStyle/>
          <a:p>
            <a:pPr algn="l">
              <a:lnSpc>
                <a:spcPct val="100000"/>
              </a:lnSpc>
              <a:spcBef>
                <a:spcPts val="0"/>
              </a:spcBef>
              <a:spcAft>
                <a:spcPts val="0"/>
              </a:spcAft>
            </a:pPr>
            <a:r>
              <a:rPr sz="2000" b="0" i="0" lang="fr-FR">
                <a:solidFill>
                  <a:srgbClr val="1B2A41"/>
                </a:solidFill>
                <a:latin typeface="Calibri"/>
              </a:rPr>
              <a:t>Sa présence à la signature solennelle des Conventions de Développement Local.</a:t>
            </a:r>
          </a:p>
        </p:txBody>
      </p:sp>
    </p:spTree>
  </p:cSld>
  <p:clrMapOvr>
    <a:masterClrMapping/>
  </p:clrMapOvr>
  <mc:AlternateContent xmlns:mc="http://schemas.openxmlformats.org/markup-compatibility/2006">
    <mc:Choice xmlns:p14="http://schemas.microsoft.com/office/powerpoint/2010/main" Requires="p14">
      <p:transition spd="med" p14:dur="700" advTm="30000">
        <p:fade/>
      </p:transition>
    </mc:Choice>
    <mc:Fallback>
      <p:transition spd="med" advTm="30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600"/>
                                        <p:tgtEl>
                                          <p:spTgt spid="5"/>
                                        </p:tgtEl>
                                      </p:cBhvr>
                                    </p:animEffect>
                                  </p:childTnLst>
                                </p:cTn>
                              </p:par>
                            </p:childTnLst>
                          </p:cTn>
                        </p:par>
                        <p:par>
                          <p:cTn id="8" fill="hold">
                            <p:stCondLst>
                              <p:cond delay="600"/>
                            </p:stCondLst>
                            <p:childTnLst>
                              <p:par>
                                <p:cTn id="9" presetID="42" presetClass="entr" presetSubtype="0"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fade">
                                      <p:cBhvr>
                                        <p:cTn id="11" dur="700"/>
                                        <p:tgtEl>
                                          <p:spTgt spid="14"/>
                                        </p:tgtEl>
                                      </p:cBhvr>
                                    </p:animEffect>
                                    <p:anim calcmode="lin" valueType="num">
                                      <p:cBhvr>
                                        <p:cTn id="12" dur="700" fill="hold" decel="100000"/>
                                        <p:tgtEl>
                                          <p:spTgt spid="14"/>
                                        </p:tgtEl>
                                        <p:attrNameLst>
                                          <p:attrName>ppt_x</p:attrName>
                                        </p:attrNameLst>
                                      </p:cBhvr>
                                      <p:tavLst>
                                        <p:tav tm="0">
                                          <p:val>
                                            <p:strVal val="#ppt_x"/>
                                          </p:val>
                                        </p:tav>
                                        <p:tav tm="100000">
                                          <p:val>
                                            <p:strVal val="#ppt_x"/>
                                          </p:val>
                                        </p:tav>
                                      </p:tavLst>
                                    </p:anim>
                                    <p:anim calcmode="lin" valueType="num">
                                      <p:cBhvr>
                                        <p:cTn id="13" dur="700" fill="hold" decel="100000"/>
                                        <p:tgtEl>
                                          <p:spTgt spid="14"/>
                                        </p:tgtEl>
                                        <p:attrNameLst>
                                          <p:attrName>ppt_y</p:attrName>
                                        </p:attrNameLst>
                                      </p:cBhvr>
                                      <p:tavLst>
                                        <p:tav tm="0">
                                          <p:val>
                                            <p:strVal val="#ppt_y+.04"/>
                                          </p:val>
                                        </p:tav>
                                        <p:tav tm="100000">
                                          <p:val>
                                            <p:strVal val="#ppt_y"/>
                                          </p:val>
                                        </p:tav>
                                      </p:tavLst>
                                    </p:anim>
                                  </p:childTnLst>
                                </p:cTn>
                              </p:par>
                              <p:par>
                                <p:cTn id="14" presetID="42"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700"/>
                                        <p:tgtEl>
                                          <p:spTgt spid="15"/>
                                        </p:tgtEl>
                                      </p:cBhvr>
                                    </p:animEffect>
                                    <p:anim calcmode="lin" valueType="num">
                                      <p:cBhvr>
                                        <p:cTn id="17" dur="700" fill="hold" decel="100000"/>
                                        <p:tgtEl>
                                          <p:spTgt spid="15"/>
                                        </p:tgtEl>
                                        <p:attrNameLst>
                                          <p:attrName>ppt_x</p:attrName>
                                        </p:attrNameLst>
                                      </p:cBhvr>
                                      <p:tavLst>
                                        <p:tav tm="0">
                                          <p:val>
                                            <p:strVal val="#ppt_x"/>
                                          </p:val>
                                        </p:tav>
                                        <p:tav tm="100000">
                                          <p:val>
                                            <p:strVal val="#ppt_x"/>
                                          </p:val>
                                        </p:tav>
                                      </p:tavLst>
                                    </p:anim>
                                    <p:anim calcmode="lin" valueType="num">
                                      <p:cBhvr>
                                        <p:cTn id="18" dur="700" fill="hold" decel="100000"/>
                                        <p:tgtEl>
                                          <p:spTgt spid="15"/>
                                        </p:tgtEl>
                                        <p:attrNameLst>
                                          <p:attrName>ppt_y</p:attrName>
                                        </p:attrNameLst>
                                      </p:cBhvr>
                                      <p:tavLst>
                                        <p:tav tm="0">
                                          <p:val>
                                            <p:strVal val="#ppt_y+.04"/>
                                          </p:val>
                                        </p:tav>
                                        <p:tav tm="100000">
                                          <p:val>
                                            <p:strVal val="#ppt_y"/>
                                          </p:val>
                                        </p:tav>
                                      </p:tavLst>
                                    </p:anim>
                                  </p:childTnLst>
                                </p:cTn>
                              </p:par>
                              <p:par>
                                <p:cTn id="19" presetID="42"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700"/>
                                        <p:tgtEl>
                                          <p:spTgt spid="16"/>
                                        </p:tgtEl>
                                      </p:cBhvr>
                                    </p:animEffect>
                                    <p:anim calcmode="lin" valueType="num">
                                      <p:cBhvr>
                                        <p:cTn id="22" dur="700" fill="hold" decel="100000"/>
                                        <p:tgtEl>
                                          <p:spTgt spid="16"/>
                                        </p:tgtEl>
                                        <p:attrNameLst>
                                          <p:attrName>ppt_x</p:attrName>
                                        </p:attrNameLst>
                                      </p:cBhvr>
                                      <p:tavLst>
                                        <p:tav tm="0">
                                          <p:val>
                                            <p:strVal val="#ppt_x"/>
                                          </p:val>
                                        </p:tav>
                                        <p:tav tm="100000">
                                          <p:val>
                                            <p:strVal val="#ppt_x"/>
                                          </p:val>
                                        </p:tav>
                                      </p:tavLst>
                                    </p:anim>
                                    <p:anim calcmode="lin" valueType="num">
                                      <p:cBhvr>
                                        <p:cTn id="23" dur="700" fill="hold" decel="100000"/>
                                        <p:tgtEl>
                                          <p:spTgt spid="16"/>
                                        </p:tgtEl>
                                        <p:attrNameLst>
                                          <p:attrName>ppt_y</p:attrName>
                                        </p:attrNameLst>
                                      </p:cBhvr>
                                      <p:tavLst>
                                        <p:tav tm="0">
                                          <p:val>
                                            <p:strVal val="#ppt_y+.04"/>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700"/>
                                        <p:tgtEl>
                                          <p:spTgt spid="17"/>
                                        </p:tgtEl>
                                      </p:cBhvr>
                                    </p:animEffect>
                                    <p:anim calcmode="lin" valueType="num">
                                      <p:cBhvr>
                                        <p:cTn id="27" dur="700" fill="hold" decel="100000"/>
                                        <p:tgtEl>
                                          <p:spTgt spid="17"/>
                                        </p:tgtEl>
                                        <p:attrNameLst>
                                          <p:attrName>ppt_x</p:attrName>
                                        </p:attrNameLst>
                                      </p:cBhvr>
                                      <p:tavLst>
                                        <p:tav tm="0">
                                          <p:val>
                                            <p:strVal val="#ppt_x"/>
                                          </p:val>
                                        </p:tav>
                                        <p:tav tm="100000">
                                          <p:val>
                                            <p:strVal val="#ppt_x"/>
                                          </p:val>
                                        </p:tav>
                                      </p:tavLst>
                                    </p:anim>
                                    <p:anim calcmode="lin" valueType="num">
                                      <p:cBhvr>
                                        <p:cTn id="28" dur="700" fill="hold" decel="100000"/>
                                        <p:tgtEl>
                                          <p:spTgt spid="17"/>
                                        </p:tgtEl>
                                        <p:attrNameLst>
                                          <p:attrName>ppt_y</p:attrName>
                                        </p:attrNameLst>
                                      </p:cBhvr>
                                      <p:tavLst>
                                        <p:tav tm="0">
                                          <p:val>
                                            <p:strVal val="#ppt_y+.04"/>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700"/>
                                        <p:tgtEl>
                                          <p:spTgt spid="18"/>
                                        </p:tgtEl>
                                      </p:cBhvr>
                                    </p:animEffect>
                                    <p:anim calcmode="lin" valueType="num">
                                      <p:cBhvr>
                                        <p:cTn id="32" dur="700" fill="hold" decel="100000"/>
                                        <p:tgtEl>
                                          <p:spTgt spid="18"/>
                                        </p:tgtEl>
                                        <p:attrNameLst>
                                          <p:attrName>ppt_x</p:attrName>
                                        </p:attrNameLst>
                                      </p:cBhvr>
                                      <p:tavLst>
                                        <p:tav tm="0">
                                          <p:val>
                                            <p:strVal val="#ppt_x"/>
                                          </p:val>
                                        </p:tav>
                                        <p:tav tm="100000">
                                          <p:val>
                                            <p:strVal val="#ppt_x"/>
                                          </p:val>
                                        </p:tav>
                                      </p:tavLst>
                                    </p:anim>
                                    <p:anim calcmode="lin" valueType="num">
                                      <p:cBhvr>
                                        <p:cTn id="33" dur="700" fill="hold" decel="100000"/>
                                        <p:tgtEl>
                                          <p:spTgt spid="18"/>
                                        </p:tgtEl>
                                        <p:attrNameLst>
                                          <p:attrName>ppt_y</p:attrName>
                                        </p:attrNameLst>
                                      </p:cBhvr>
                                      <p:tavLst>
                                        <p:tav tm="0">
                                          <p:val>
                                            <p:strVal val="#ppt_y+.04"/>
                                          </p:val>
                                        </p:tav>
                                        <p:tav tm="100000">
                                          <p:val>
                                            <p:strVal val="#ppt_y"/>
                                          </p:val>
                                        </p:tav>
                                      </p:tavLst>
                                    </p:anim>
                                  </p:childTnLst>
                                </p:cTn>
                              </p:par>
                            </p:childTnLst>
                          </p:cTn>
                        </p:par>
                        <p:par>
                          <p:cTn id="34" fill="hold">
                            <p:stCondLst>
                              <p:cond delay="1300"/>
                            </p:stCondLst>
                            <p:childTnLst>
                              <p:par>
                                <p:cTn id="35" presetID="10" presetClass="entr" presetSubtype="0" fill="hold" grpId="0" nodeType="afterEffect">
                                  <p:stCondLst>
                                    <p:cond delay="5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500"/>
                                        <p:tgtEl>
                                          <p:spTgt spid="19"/>
                                        </p:tgtEl>
                                      </p:cBhvr>
                                    </p:animEffect>
                                  </p:childTnLst>
                                </p:cTn>
                              </p:par>
                              <p:par>
                                <p:cTn id="38" presetID="10" presetClass="entr" presetSubtype="0" fill="hold" grpId="0" nodeType="withEffect">
                                  <p:stCondLst>
                                    <p:cond delay="5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500"/>
                                        <p:tgtEl>
                                          <p:spTgt spid="20"/>
                                        </p:tgtEl>
                                      </p:cBhvr>
                                    </p:animEffect>
                                  </p:childTnLst>
                                </p:cTn>
                              </p:par>
                            </p:childTnLst>
                          </p:cTn>
                        </p:par>
                        <p:par>
                          <p:cTn id="41" fill="hold">
                            <p:stCondLst>
                              <p:cond delay="1850"/>
                            </p:stCondLst>
                            <p:childTnLst>
                              <p:par>
                                <p:cTn id="42" presetID="10" presetClass="entr" presetSubtype="0" fill="hold" grpId="0" nodeType="afterEffect">
                                  <p:stCondLst>
                                    <p:cond delay="50"/>
                                  </p:stCondLst>
                                  <p:childTnLst>
                                    <p:set>
                                      <p:cBhvr>
                                        <p:cTn id="43" dur="1" fill="hold">
                                          <p:stCondLst>
                                            <p:cond delay="0"/>
                                          </p:stCondLst>
                                        </p:cTn>
                                        <p:tgtEl>
                                          <p:spTgt spid="21"/>
                                        </p:tgtEl>
                                        <p:attrNameLst>
                                          <p:attrName>style.visibility</p:attrName>
                                        </p:attrNameLst>
                                      </p:cBhvr>
                                      <p:to>
                                        <p:strVal val="visible"/>
                                      </p:to>
                                    </p:set>
                                    <p:animEffect transition="in" filter="fade">
                                      <p:cBhvr>
                                        <p:cTn id="44" dur="500"/>
                                        <p:tgtEl>
                                          <p:spTgt spid="21"/>
                                        </p:tgtEl>
                                      </p:cBhvr>
                                    </p:animEffect>
                                  </p:childTnLst>
                                </p:cTn>
                              </p:par>
                              <p:par>
                                <p:cTn id="45" presetID="10" presetClass="entr" presetSubtype="0" fill="hold" grpId="0" nodeType="withEffect">
                                  <p:stCondLst>
                                    <p:cond delay="50"/>
                                  </p:stCondLst>
                                  <p:childTnLst>
                                    <p:set>
                                      <p:cBhvr>
                                        <p:cTn id="46" dur="1" fill="hold">
                                          <p:stCondLst>
                                            <p:cond delay="0"/>
                                          </p:stCondLst>
                                        </p:cTn>
                                        <p:tgtEl>
                                          <p:spTgt spid="22"/>
                                        </p:tgtEl>
                                        <p:attrNameLst>
                                          <p:attrName>style.visibility</p:attrName>
                                        </p:attrNameLst>
                                      </p:cBhvr>
                                      <p:to>
                                        <p:strVal val="visible"/>
                                      </p:to>
                                    </p:set>
                                    <p:animEffect transition="in" filter="fade">
                                      <p:cBhvr>
                                        <p:cTn id="47" dur="500"/>
                                        <p:tgtEl>
                                          <p:spTgt spid="22"/>
                                        </p:tgtEl>
                                      </p:cBhvr>
                                    </p:animEffect>
                                  </p:childTnLst>
                                </p:cTn>
                              </p:par>
                            </p:childTnLst>
                          </p:cTn>
                        </p:par>
                        <p:par>
                          <p:cTn id="48" fill="hold">
                            <p:stCondLst>
                              <p:cond delay="2400"/>
                            </p:stCondLst>
                            <p:childTnLst>
                              <p:par>
                                <p:cTn id="49" presetID="10" presetClass="entr" presetSubtype="0" fill="hold" grpId="0" nodeType="afterEffect">
                                  <p:stCondLst>
                                    <p:cond delay="50"/>
                                  </p:stCondLst>
                                  <p:childTnLst>
                                    <p:set>
                                      <p:cBhvr>
                                        <p:cTn id="50" dur="1" fill="hold">
                                          <p:stCondLst>
                                            <p:cond delay="0"/>
                                          </p:stCondLst>
                                        </p:cTn>
                                        <p:tgtEl>
                                          <p:spTgt spid="23"/>
                                        </p:tgtEl>
                                        <p:attrNameLst>
                                          <p:attrName>style.visibility</p:attrName>
                                        </p:attrNameLst>
                                      </p:cBhvr>
                                      <p:to>
                                        <p:strVal val="visible"/>
                                      </p:to>
                                    </p:set>
                                    <p:animEffect transition="in" filter="fade">
                                      <p:cBhvr>
                                        <p:cTn id="51" dur="500"/>
                                        <p:tgtEl>
                                          <p:spTgt spid="23"/>
                                        </p:tgtEl>
                                      </p:cBhvr>
                                    </p:animEffect>
                                  </p:childTnLst>
                                </p:cTn>
                              </p:par>
                              <p:par>
                                <p:cTn id="52" presetID="10" presetClass="entr" presetSubtype="0" fill="hold" grpId="0" nodeType="withEffect">
                                  <p:stCondLst>
                                    <p:cond delay="50"/>
                                  </p:stCondLst>
                                  <p:childTnLst>
                                    <p:set>
                                      <p:cBhvr>
                                        <p:cTn id="53" dur="1" fill="hold">
                                          <p:stCondLst>
                                            <p:cond delay="0"/>
                                          </p:stCondLst>
                                        </p:cTn>
                                        <p:tgtEl>
                                          <p:spTgt spid="24"/>
                                        </p:tgtEl>
                                        <p:attrNameLst>
                                          <p:attrName>style.visibility</p:attrName>
                                        </p:attrNameLst>
                                      </p:cBhvr>
                                      <p:to>
                                        <p:strVal val="visible"/>
                                      </p:to>
                                    </p:set>
                                    <p:animEffect transition="in" filter="fade">
                                      <p:cBhvr>
                                        <p:cTn id="54" dur="500"/>
                                        <p:tgtEl>
                                          <p:spTgt spid="24"/>
                                        </p:tgtEl>
                                      </p:cBhvr>
                                    </p:animEffect>
                                  </p:childTnLst>
                                </p:cTn>
                              </p:par>
                            </p:childTnLst>
                          </p:cTn>
                        </p:par>
                        <p:par>
                          <p:cTn id="55" fill="hold">
                            <p:stCondLst>
                              <p:cond delay="2950"/>
                            </p:stCondLst>
                            <p:childTnLst>
                              <p:par>
                                <p:cTn id="56" presetID="42" presetClass="entr" presetSubtype="0" fill="hold" grpId="0" nodeType="after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700"/>
                                        <p:tgtEl>
                                          <p:spTgt spid="25"/>
                                        </p:tgtEl>
                                      </p:cBhvr>
                                    </p:animEffect>
                                    <p:anim calcmode="lin" valueType="num">
                                      <p:cBhvr>
                                        <p:cTn id="59" dur="700" fill="hold" decel="100000"/>
                                        <p:tgtEl>
                                          <p:spTgt spid="25"/>
                                        </p:tgtEl>
                                        <p:attrNameLst>
                                          <p:attrName>ppt_x</p:attrName>
                                        </p:attrNameLst>
                                      </p:cBhvr>
                                      <p:tavLst>
                                        <p:tav tm="0">
                                          <p:val>
                                            <p:strVal val="#ppt_x"/>
                                          </p:val>
                                        </p:tav>
                                        <p:tav tm="100000">
                                          <p:val>
                                            <p:strVal val="#ppt_x"/>
                                          </p:val>
                                        </p:tav>
                                      </p:tavLst>
                                    </p:anim>
                                    <p:anim calcmode="lin" valueType="num">
                                      <p:cBhvr>
                                        <p:cTn id="60" dur="700" fill="hold" decel="100000"/>
                                        <p:tgtEl>
                                          <p:spTgt spid="25"/>
                                        </p:tgtEl>
                                        <p:attrNameLst>
                                          <p:attrName>ppt_y</p:attrName>
                                        </p:attrNameLst>
                                      </p:cBhvr>
                                      <p:tavLst>
                                        <p:tav tm="0">
                                          <p:val>
                                            <p:strVal val="#ppt_y+.04"/>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26"/>
                                        </p:tgtEl>
                                        <p:attrNameLst>
                                          <p:attrName>style.visibility</p:attrName>
                                        </p:attrNameLst>
                                      </p:cBhvr>
                                      <p:to>
                                        <p:strVal val="visible"/>
                                      </p:to>
                                    </p:set>
                                    <p:animEffect transition="in" filter="fade">
                                      <p:cBhvr>
                                        <p:cTn id="63" dur="700"/>
                                        <p:tgtEl>
                                          <p:spTgt spid="26"/>
                                        </p:tgtEl>
                                      </p:cBhvr>
                                    </p:animEffect>
                                    <p:anim calcmode="lin" valueType="num">
                                      <p:cBhvr>
                                        <p:cTn id="64" dur="700" fill="hold" decel="100000"/>
                                        <p:tgtEl>
                                          <p:spTgt spid="26"/>
                                        </p:tgtEl>
                                        <p:attrNameLst>
                                          <p:attrName>ppt_x</p:attrName>
                                        </p:attrNameLst>
                                      </p:cBhvr>
                                      <p:tavLst>
                                        <p:tav tm="0">
                                          <p:val>
                                            <p:strVal val="#ppt_x"/>
                                          </p:val>
                                        </p:tav>
                                        <p:tav tm="100000">
                                          <p:val>
                                            <p:strVal val="#ppt_x"/>
                                          </p:val>
                                        </p:tav>
                                      </p:tavLst>
                                    </p:anim>
                                    <p:anim calcmode="lin" valueType="num">
                                      <p:cBhvr>
                                        <p:cTn id="65" dur="700" fill="hold" decel="100000"/>
                                        <p:tgtEl>
                                          <p:spTgt spid="26"/>
                                        </p:tgtEl>
                                        <p:attrNameLst>
                                          <p:attrName>ppt_y</p:attrName>
                                        </p:attrNameLst>
                                      </p:cBhvr>
                                      <p:tavLst>
                                        <p:tav tm="0">
                                          <p:val>
                                            <p:strVal val="#ppt_y+.04"/>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27"/>
                                        </p:tgtEl>
                                        <p:attrNameLst>
                                          <p:attrName>style.visibility</p:attrName>
                                        </p:attrNameLst>
                                      </p:cBhvr>
                                      <p:to>
                                        <p:strVal val="visible"/>
                                      </p:to>
                                    </p:set>
                                    <p:animEffect transition="in" filter="fade">
                                      <p:cBhvr>
                                        <p:cTn id="68" dur="700"/>
                                        <p:tgtEl>
                                          <p:spTgt spid="27"/>
                                        </p:tgtEl>
                                      </p:cBhvr>
                                    </p:animEffect>
                                    <p:anim calcmode="lin" valueType="num">
                                      <p:cBhvr>
                                        <p:cTn id="69" dur="700" fill="hold" decel="100000"/>
                                        <p:tgtEl>
                                          <p:spTgt spid="27"/>
                                        </p:tgtEl>
                                        <p:attrNameLst>
                                          <p:attrName>ppt_x</p:attrName>
                                        </p:attrNameLst>
                                      </p:cBhvr>
                                      <p:tavLst>
                                        <p:tav tm="0">
                                          <p:val>
                                            <p:strVal val="#ppt_x"/>
                                          </p:val>
                                        </p:tav>
                                        <p:tav tm="100000">
                                          <p:val>
                                            <p:strVal val="#ppt_x"/>
                                          </p:val>
                                        </p:tav>
                                      </p:tavLst>
                                    </p:anim>
                                    <p:anim calcmode="lin" valueType="num">
                                      <p:cBhvr>
                                        <p:cTn id="70" dur="700" fill="hold" decel="100000"/>
                                        <p:tgtEl>
                                          <p:spTgt spid="27"/>
                                        </p:tgtEl>
                                        <p:attrNameLst>
                                          <p:attrName>ppt_y</p:attrName>
                                        </p:attrNameLst>
                                      </p:cBhvr>
                                      <p:tavLst>
                                        <p:tav tm="0">
                                          <p:val>
                                            <p:strVal val="#ppt_y+.04"/>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28"/>
                                        </p:tgtEl>
                                        <p:attrNameLst>
                                          <p:attrName>style.visibility</p:attrName>
                                        </p:attrNameLst>
                                      </p:cBhvr>
                                      <p:to>
                                        <p:strVal val="visible"/>
                                      </p:to>
                                    </p:set>
                                    <p:animEffect transition="in" filter="fade">
                                      <p:cBhvr>
                                        <p:cTn id="73" dur="700"/>
                                        <p:tgtEl>
                                          <p:spTgt spid="28"/>
                                        </p:tgtEl>
                                      </p:cBhvr>
                                    </p:animEffect>
                                    <p:anim calcmode="lin" valueType="num">
                                      <p:cBhvr>
                                        <p:cTn id="74" dur="700" fill="hold" decel="100000"/>
                                        <p:tgtEl>
                                          <p:spTgt spid="28"/>
                                        </p:tgtEl>
                                        <p:attrNameLst>
                                          <p:attrName>ppt_x</p:attrName>
                                        </p:attrNameLst>
                                      </p:cBhvr>
                                      <p:tavLst>
                                        <p:tav tm="0">
                                          <p:val>
                                            <p:strVal val="#ppt_x"/>
                                          </p:val>
                                        </p:tav>
                                        <p:tav tm="100000">
                                          <p:val>
                                            <p:strVal val="#ppt_x"/>
                                          </p:val>
                                        </p:tav>
                                      </p:tavLst>
                                    </p:anim>
                                    <p:anim calcmode="lin" valueType="num">
                                      <p:cBhvr>
                                        <p:cTn id="75" dur="700" fill="hold" decel="100000"/>
                                        <p:tgtEl>
                                          <p:spTgt spid="28"/>
                                        </p:tgtEl>
                                        <p:attrNameLst>
                                          <p:attrName>ppt_y</p:attrName>
                                        </p:attrNameLst>
                                      </p:cBhvr>
                                      <p:tavLst>
                                        <p:tav tm="0">
                                          <p:val>
                                            <p:strVal val="#ppt_y+.04"/>
                                          </p:val>
                                        </p:tav>
                                        <p:tav tm="100000">
                                          <p:val>
                                            <p:strVal val="#ppt_y"/>
                                          </p:val>
                                        </p:tav>
                                      </p:tavLst>
                                    </p:anim>
                                  </p:childTnLst>
                                </p:cTn>
                              </p:par>
                              <p:par>
                                <p:cTn id="76" presetID="42" presetClass="entr" presetSubtype="0" fill="hold" grpId="0" nodeType="with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fade">
                                      <p:cBhvr>
                                        <p:cTn id="78" dur="700"/>
                                        <p:tgtEl>
                                          <p:spTgt spid="29"/>
                                        </p:tgtEl>
                                      </p:cBhvr>
                                    </p:animEffect>
                                    <p:anim calcmode="lin" valueType="num">
                                      <p:cBhvr>
                                        <p:cTn id="79" dur="700" fill="hold" decel="100000"/>
                                        <p:tgtEl>
                                          <p:spTgt spid="29"/>
                                        </p:tgtEl>
                                        <p:attrNameLst>
                                          <p:attrName>ppt_x</p:attrName>
                                        </p:attrNameLst>
                                      </p:cBhvr>
                                      <p:tavLst>
                                        <p:tav tm="0">
                                          <p:val>
                                            <p:strVal val="#ppt_x"/>
                                          </p:val>
                                        </p:tav>
                                        <p:tav tm="100000">
                                          <p:val>
                                            <p:strVal val="#ppt_x"/>
                                          </p:val>
                                        </p:tav>
                                      </p:tavLst>
                                    </p:anim>
                                    <p:anim calcmode="lin" valueType="num">
                                      <p:cBhvr>
                                        <p:cTn id="80" dur="700" fill="hold" decel="100000"/>
                                        <p:tgtEl>
                                          <p:spTgt spid="29"/>
                                        </p:tgtEl>
                                        <p:attrNameLst>
                                          <p:attrName>ppt_y</p:attrName>
                                        </p:attrNameLst>
                                      </p:cBhvr>
                                      <p:tavLst>
                                        <p:tav tm="0">
                                          <p:val>
                                            <p:strVal val="#ppt_y+.04"/>
                                          </p:val>
                                        </p:tav>
                                        <p:tav tm="100000">
                                          <p:val>
                                            <p:strVal val="#ppt_y"/>
                                          </p:val>
                                        </p:tav>
                                      </p:tavLst>
                                    </p:anim>
                                  </p:childTnLst>
                                </p:cTn>
                              </p:par>
                            </p:childTnLst>
                          </p:cTn>
                        </p:par>
                        <p:par>
                          <p:cTn id="81" fill="hold">
                            <p:stCondLst>
                              <p:cond delay="3650"/>
                            </p:stCondLst>
                            <p:childTnLst>
                              <p:par>
                                <p:cTn id="82" presetID="10" presetClass="entr" presetSubtype="0" fill="hold" grpId="0" nodeType="afterEffect">
                                  <p:stCondLst>
                                    <p:cond delay="50"/>
                                  </p:stCondLst>
                                  <p:childTnLst>
                                    <p:set>
                                      <p:cBhvr>
                                        <p:cTn id="83" dur="1" fill="hold">
                                          <p:stCondLst>
                                            <p:cond delay="0"/>
                                          </p:stCondLst>
                                        </p:cTn>
                                        <p:tgtEl>
                                          <p:spTgt spid="30"/>
                                        </p:tgtEl>
                                        <p:attrNameLst>
                                          <p:attrName>style.visibility</p:attrName>
                                        </p:attrNameLst>
                                      </p:cBhvr>
                                      <p:to>
                                        <p:strVal val="visible"/>
                                      </p:to>
                                    </p:set>
                                    <p:animEffect transition="in" filter="fade">
                                      <p:cBhvr>
                                        <p:cTn id="84" dur="500"/>
                                        <p:tgtEl>
                                          <p:spTgt spid="30"/>
                                        </p:tgtEl>
                                      </p:cBhvr>
                                    </p:animEffect>
                                  </p:childTnLst>
                                </p:cTn>
                              </p:par>
                              <p:par>
                                <p:cTn id="85" presetID="10" presetClass="entr" presetSubtype="0" fill="hold" grpId="0" nodeType="withEffect">
                                  <p:stCondLst>
                                    <p:cond delay="50"/>
                                  </p:stCondLst>
                                  <p:childTnLst>
                                    <p:set>
                                      <p:cBhvr>
                                        <p:cTn id="86" dur="1" fill="hold">
                                          <p:stCondLst>
                                            <p:cond delay="0"/>
                                          </p:stCondLst>
                                        </p:cTn>
                                        <p:tgtEl>
                                          <p:spTgt spid="31"/>
                                        </p:tgtEl>
                                        <p:attrNameLst>
                                          <p:attrName>style.visibility</p:attrName>
                                        </p:attrNameLst>
                                      </p:cBhvr>
                                      <p:to>
                                        <p:strVal val="visible"/>
                                      </p:to>
                                    </p:set>
                                    <p:animEffect transition="in" filter="fade">
                                      <p:cBhvr>
                                        <p:cTn id="87" dur="500"/>
                                        <p:tgtEl>
                                          <p:spTgt spid="31"/>
                                        </p:tgtEl>
                                      </p:cBhvr>
                                    </p:animEffect>
                                  </p:childTnLst>
                                </p:cTn>
                              </p:par>
                            </p:childTnLst>
                          </p:cTn>
                        </p:par>
                        <p:par>
                          <p:cTn id="88" fill="hold">
                            <p:stCondLst>
                              <p:cond delay="4200"/>
                            </p:stCondLst>
                            <p:childTnLst>
                              <p:par>
                                <p:cTn id="89" presetID="10" presetClass="entr" presetSubtype="0" fill="hold" grpId="0" nodeType="afterEffect">
                                  <p:stCondLst>
                                    <p:cond delay="50"/>
                                  </p:stCondLst>
                                  <p:childTnLst>
                                    <p:set>
                                      <p:cBhvr>
                                        <p:cTn id="90" dur="1" fill="hold">
                                          <p:stCondLst>
                                            <p:cond delay="0"/>
                                          </p:stCondLst>
                                        </p:cTn>
                                        <p:tgtEl>
                                          <p:spTgt spid="32"/>
                                        </p:tgtEl>
                                        <p:attrNameLst>
                                          <p:attrName>style.visibility</p:attrName>
                                        </p:attrNameLst>
                                      </p:cBhvr>
                                      <p:to>
                                        <p:strVal val="visible"/>
                                      </p:to>
                                    </p:set>
                                    <p:animEffect transition="in" filter="fade">
                                      <p:cBhvr>
                                        <p:cTn id="91" dur="500"/>
                                        <p:tgtEl>
                                          <p:spTgt spid="32"/>
                                        </p:tgtEl>
                                      </p:cBhvr>
                                    </p:animEffect>
                                  </p:childTnLst>
                                </p:cTn>
                              </p:par>
                              <p:par>
                                <p:cTn id="92" presetID="10" presetClass="entr" presetSubtype="0" fill="hold" grpId="0" nodeType="withEffect">
                                  <p:stCondLst>
                                    <p:cond delay="50"/>
                                  </p:stCondLst>
                                  <p:childTnLst>
                                    <p:set>
                                      <p:cBhvr>
                                        <p:cTn id="93" dur="1" fill="hold">
                                          <p:stCondLst>
                                            <p:cond delay="0"/>
                                          </p:stCondLst>
                                        </p:cTn>
                                        <p:tgtEl>
                                          <p:spTgt spid="33"/>
                                        </p:tgtEl>
                                        <p:attrNameLst>
                                          <p:attrName>style.visibility</p:attrName>
                                        </p:attrNameLst>
                                      </p:cBhvr>
                                      <p:to>
                                        <p:strVal val="visible"/>
                                      </p:to>
                                    </p:set>
                                    <p:animEffect transition="in" filter="fade">
                                      <p:cBhvr>
                                        <p:cTn id="94" dur="500"/>
                                        <p:tgtEl>
                                          <p:spTgt spid="33"/>
                                        </p:tgtEl>
                                      </p:cBhvr>
                                    </p:animEffect>
                                  </p:childTnLst>
                                </p:cTn>
                              </p:par>
                            </p:childTnLst>
                          </p:cTn>
                        </p:par>
                        <p:par>
                          <p:cTn id="95" fill="hold">
                            <p:stCondLst>
                              <p:cond delay="4750"/>
                            </p:stCondLst>
                            <p:childTnLst>
                              <p:par>
                                <p:cTn id="96" presetID="10" presetClass="entr" presetSubtype="0" fill="hold" grpId="0" nodeType="afterEffect">
                                  <p:stCondLst>
                                    <p:cond delay="50"/>
                                  </p:stCondLst>
                                  <p:childTnLst>
                                    <p:set>
                                      <p:cBhvr>
                                        <p:cTn id="97" dur="1" fill="hold">
                                          <p:stCondLst>
                                            <p:cond delay="0"/>
                                          </p:stCondLst>
                                        </p:cTn>
                                        <p:tgtEl>
                                          <p:spTgt spid="34"/>
                                        </p:tgtEl>
                                        <p:attrNameLst>
                                          <p:attrName>style.visibility</p:attrName>
                                        </p:attrNameLst>
                                      </p:cBhvr>
                                      <p:to>
                                        <p:strVal val="visible"/>
                                      </p:to>
                                    </p:set>
                                    <p:animEffect transition="in" filter="fade">
                                      <p:cBhvr>
                                        <p:cTn id="98" dur="500"/>
                                        <p:tgtEl>
                                          <p:spTgt spid="34"/>
                                        </p:tgtEl>
                                      </p:cBhvr>
                                    </p:animEffect>
                                  </p:childTnLst>
                                </p:cTn>
                              </p:par>
                              <p:par>
                                <p:cTn id="99" presetID="10" presetClass="entr" presetSubtype="0" fill="hold" grpId="0" nodeType="withEffect">
                                  <p:stCondLst>
                                    <p:cond delay="50"/>
                                  </p:stCondLst>
                                  <p:childTnLst>
                                    <p:set>
                                      <p:cBhvr>
                                        <p:cTn id="100" dur="1" fill="hold">
                                          <p:stCondLst>
                                            <p:cond delay="0"/>
                                          </p:stCondLst>
                                        </p:cTn>
                                        <p:tgtEl>
                                          <p:spTgt spid="35"/>
                                        </p:tgtEl>
                                        <p:attrNameLst>
                                          <p:attrName>style.visibility</p:attrName>
                                        </p:attrNameLst>
                                      </p:cBhvr>
                                      <p:to>
                                        <p:strVal val="visible"/>
                                      </p:to>
                                    </p:set>
                                    <p:animEffect transition="in" filter="fade">
                                      <p:cBhvr>
                                        <p:cTn id="101"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4" grpId="0" animBg="1"/>
      <p:bldP spid="15" grpId="0" animBg="1"/>
      <p:bldP spid="16" grpId="0" animBg="1"/>
      <p:bldP spid="18" grpId="0"/>
      <p:bldP spid="19" grpId="0" animBg="1"/>
      <p:bldP spid="20" grpId="0"/>
      <p:bldP spid="21" grpId="0" animBg="1"/>
      <p:bldP spid="22" grpId="0"/>
      <p:bldP spid="23" grpId="0" animBg="1"/>
      <p:bldP spid="24" grpId="0"/>
      <p:bldP spid="25" grpId="0" animBg="1"/>
      <p:bldP spid="26" grpId="0" animBg="1"/>
      <p:bldP spid="27" grpId="0" animBg="1"/>
      <p:bldP spid="29" grpId="0"/>
      <p:bldP spid="30" grpId="0" animBg="1"/>
      <p:bldP spid="31" grpId="0"/>
      <p:bldP spid="32" grpId="0" animBg="1"/>
      <p:bldP spid="33" grpId="0"/>
      <p:bldP spid="34" grpId="0" animBg="1"/>
      <p:bldP spid="35" grpId="0"/>
    </p:bld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2264A"/>
        </a:solidFill>
        <a:effectLst/>
      </p:bgPr>
    </p:bg>
    <p:spTree>
      <p:nvGrpSpPr>
        <p:cNvPr id="1" name=""/>
        <p:cNvGrpSpPr/>
        <p:nvPr/>
      </p:nvGrpSpPr>
      <p:grpSpPr/>
      <p:sp>
        <p:nvSpPr>
          <p:cNvPr id="2" name="Conclusion cercle 1"/>
          <p:cNvSpPr/>
          <p:nvPr/>
        </p:nvSpPr>
        <p:spPr>
          <a:xfrm>
            <a:off x="8318500" y="317500"/>
            <a:ext cx="3175000" cy="3175000"/>
          </a:xfrm>
          <a:prstGeom prst="ellipse">
            <a:avLst/>
          </a:prstGeom>
          <a:noFill/>
          <a:ln w="15875">
            <a:solidFill>
              <a:srgbClr val="D3A04D">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Conclusion cercle 2"/>
          <p:cNvSpPr/>
          <p:nvPr/>
        </p:nvSpPr>
        <p:spPr>
          <a:xfrm>
            <a:off x="7366000" y="-635000"/>
            <a:ext cx="5080000" cy="5080000"/>
          </a:xfrm>
          <a:prstGeom prst="ellipse">
            <a:avLst/>
          </a:prstGeom>
          <a:noFill/>
          <a:ln w="15875">
            <a:solidFill>
              <a:srgbClr val="D3A04D">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onclusion cercle 3"/>
          <p:cNvSpPr/>
          <p:nvPr/>
        </p:nvSpPr>
        <p:spPr>
          <a:xfrm>
            <a:off x="6286500" y="-1714500"/>
            <a:ext cx="7239000" cy="7239000"/>
          </a:xfrm>
          <a:prstGeom prst="ellipse">
            <a:avLst/>
          </a:prstGeom>
          <a:noFill/>
          <a:ln w="15875">
            <a:solidFill>
              <a:srgbClr val="D3A04D">
                <a:alpha val="55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onclusion phrase"/>
          <p:cNvSpPr txBox="1"/>
          <p:nvPr/>
        </p:nvSpPr>
        <p:spPr>
          <a:xfrm>
            <a:off x="1016000" y="584200"/>
            <a:ext cx="10160000" cy="2870200"/>
          </a:xfrm>
          <a:prstGeom prst="rect">
            <a:avLst/>
          </a:prstGeom>
          <a:noFill/>
        </p:spPr>
        <p:txBody>
          <a:bodyPr wrap="square" lIns="0" tIns="0" rIns="0" bIns="0" anchor="ctr">
            <a:noAutofit/>
          </a:bodyPr>
          <a:lstStyle/>
          <a:p>
            <a:pPr algn="ctr">
              <a:lnSpc>
                <a:spcPct val="100000"/>
              </a:lnSpc>
              <a:spcBef>
                <a:spcPts val="0"/>
              </a:spcBef>
              <a:spcAft>
                <a:spcPts val="600"/>
              </a:spcAft>
            </a:pPr>
            <a:r>
              <a:rPr sz="4200" b="1" i="0" lang="fr-FR">
                <a:solidFill>
                  <a:srgbClr val="FFFFFF"/>
                </a:solidFill>
                <a:latin typeface="Calibri"/>
              </a:rPr>
              <a:t>Le Code Minier est clair.</a:t>
            </a:r>
          </a:p>
          <a:p>
            <a:pPr algn="ctr">
              <a:lnSpc>
                <a:spcPct val="100000"/>
              </a:lnSpc>
              <a:spcBef>
                <a:spcPts val="0"/>
              </a:spcBef>
              <a:spcAft>
                <a:spcPts val="600"/>
              </a:spcAft>
            </a:pPr>
            <a:r>
              <a:rPr sz="4200" b="1" i="0" lang="fr-FR">
                <a:solidFill>
                  <a:srgbClr val="FFFFFF"/>
                </a:solidFill>
                <a:latin typeface="Calibri"/>
              </a:rPr>
              <a:t>Les mines sont en activité.</a:t>
            </a:r>
          </a:p>
          <a:p>
            <a:pPr algn="ctr">
              <a:lnSpc>
                <a:spcPct val="100000"/>
              </a:lnSpc>
              <a:spcBef>
                <a:spcPts val="0"/>
              </a:spcBef>
              <a:spcAft>
                <a:spcPts val="600"/>
              </a:spcAft>
            </a:pPr>
            <a:r>
              <a:rPr sz="4200" b="1" i="0" lang="fr-FR">
                <a:solidFill>
                  <a:srgbClr val="FFFFFF"/>
                </a:solidFill>
                <a:latin typeface="Calibri"/>
              </a:rPr>
              <a:t>Les besoins sont documentés.</a:t>
            </a:r>
          </a:p>
          <a:p>
            <a:pPr algn="ctr">
              <a:lnSpc>
                <a:spcPct val="100000"/>
              </a:lnSpc>
              <a:spcBef>
                <a:spcPts val="0"/>
              </a:spcBef>
              <a:spcAft>
                <a:spcPts val="0"/>
              </a:spcAft>
            </a:pPr>
            <a:r>
              <a:rPr sz="4200" b="1" i="0" lang="fr-FR">
                <a:solidFill>
                  <a:srgbClr val="FFFFFF"/>
                </a:solidFill>
                <a:latin typeface="Calibri"/>
              </a:rPr>
              <a:t>Il ne manque qu’une décision.</a:t>
            </a:r>
          </a:p>
        </p:txBody>
      </p:sp>
      <p:sp>
        <p:nvSpPr>
          <p:cNvPr id="6" name="Conclusion prêt"/>
          <p:cNvSpPr txBox="1"/>
          <p:nvPr/>
        </p:nvSpPr>
        <p:spPr>
          <a:xfrm>
            <a:off x="1016000" y="3505200"/>
            <a:ext cx="10160000" cy="863600"/>
          </a:xfrm>
          <a:prstGeom prst="rect">
            <a:avLst/>
          </a:prstGeom>
          <a:noFill/>
        </p:spPr>
        <p:txBody>
          <a:bodyPr wrap="square" lIns="0" tIns="0" rIns="0" bIns="0" anchor="ctr">
            <a:noAutofit/>
          </a:bodyPr>
          <a:lstStyle/>
          <a:p>
            <a:pPr algn="ctr">
              <a:lnSpc>
                <a:spcPct val="100000"/>
              </a:lnSpc>
              <a:spcBef>
                <a:spcPts val="0"/>
              </a:spcBef>
              <a:spcAft>
                <a:spcPts val="0"/>
              </a:spcAft>
            </a:pPr>
            <a:r>
              <a:rPr sz="5600" b="1" i="0" lang="fr-FR">
                <a:solidFill>
                  <a:srgbClr val="D3A04D"/>
                </a:solidFill>
                <a:latin typeface="Calibri"/>
              </a:rPr>
              <a:t>FUTURA-Kouroussa est prêt.</a:t>
            </a:r>
          </a:p>
        </p:txBody>
      </p:sp>
      <p:sp>
        <p:nvSpPr>
          <p:cNvPr id="7" name="Conclusion bandeau"/>
          <p:cNvSpPr/>
          <p:nvPr/>
        </p:nvSpPr>
        <p:spPr>
          <a:xfrm>
            <a:off x="1675978" y="4483100"/>
            <a:ext cx="8840044" cy="1117600"/>
          </a:xfrm>
          <a:prstGeom prst="roundRect">
            <a:avLst>
              <a:gd name="adj" fmla="val 13636"/>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Conclusion logo futura-kouroussa" descr="futura-kouroussa.png"/>
          <p:cNvPicPr>
            <a:picLocks noChangeAspect="1"/>
          </p:cNvPicPr>
          <p:nvPr/>
        </p:nvPicPr>
        <p:blipFill>
          <a:blip r:embed="rId2"/>
          <a:stretch>
            <a:fillRect/>
          </a:stretch>
        </p:blipFill>
        <p:spPr>
          <a:xfrm>
            <a:off x="1993478" y="4673600"/>
            <a:ext cx="1337310" cy="736600"/>
          </a:xfrm>
          <a:prstGeom prst="rect">
            <a:avLst/>
          </a:prstGeom>
        </p:spPr>
      </p:pic>
      <p:pic>
        <p:nvPicPr>
          <p:cNvPr id="9" name="Conclusion logo republique-de-guinee-armoiries" descr="republique-de-guinee-armoiries.png"/>
          <p:cNvPicPr>
            <a:picLocks noChangeAspect="1"/>
          </p:cNvPicPr>
          <p:nvPr/>
        </p:nvPicPr>
        <p:blipFill>
          <a:blip r:embed="rId3"/>
          <a:stretch>
            <a:fillRect/>
          </a:stretch>
        </p:blipFill>
        <p:spPr>
          <a:xfrm>
            <a:off x="3737188" y="4673600"/>
            <a:ext cx="613483" cy="736600"/>
          </a:xfrm>
          <a:prstGeom prst="rect">
            <a:avLst/>
          </a:prstGeom>
        </p:spPr>
      </p:pic>
      <p:pic>
        <p:nvPicPr>
          <p:cNvPr id="10" name="Conclusion logo assemblee-nationale" descr="assemblee-nationale.png"/>
          <p:cNvPicPr>
            <a:picLocks noChangeAspect="1"/>
          </p:cNvPicPr>
          <p:nvPr/>
        </p:nvPicPr>
        <p:blipFill>
          <a:blip r:embed="rId4"/>
          <a:stretch>
            <a:fillRect/>
          </a:stretch>
        </p:blipFill>
        <p:spPr>
          <a:xfrm>
            <a:off x="4757071" y="4673600"/>
            <a:ext cx="741861" cy="736600"/>
          </a:xfrm>
          <a:prstGeom prst="rect">
            <a:avLst/>
          </a:prstGeom>
        </p:spPr>
      </p:pic>
      <p:pic>
        <p:nvPicPr>
          <p:cNvPr id="11" name="Conclusion logo simandou-2040" descr="simandou-2040.png"/>
          <p:cNvPicPr>
            <a:picLocks noChangeAspect="1"/>
          </p:cNvPicPr>
          <p:nvPr/>
        </p:nvPicPr>
        <p:blipFill>
          <a:blip r:embed="rId5"/>
          <a:stretch>
            <a:fillRect/>
          </a:stretch>
        </p:blipFill>
        <p:spPr>
          <a:xfrm>
            <a:off x="5905332" y="4673600"/>
            <a:ext cx="2302171" cy="736600"/>
          </a:xfrm>
          <a:prstGeom prst="rect">
            <a:avLst/>
          </a:prstGeom>
        </p:spPr>
      </p:pic>
      <p:pic>
        <p:nvPicPr>
          <p:cNvPr id="12" name="Conclusion logo guinee" descr="guinee.png"/>
          <p:cNvPicPr>
            <a:picLocks noChangeAspect="1"/>
          </p:cNvPicPr>
          <p:nvPr/>
        </p:nvPicPr>
        <p:blipFill>
          <a:blip r:embed="rId6"/>
          <a:stretch>
            <a:fillRect/>
          </a:stretch>
        </p:blipFill>
        <p:spPr>
          <a:xfrm>
            <a:off x="8613903" y="4673600"/>
            <a:ext cx="1584618" cy="736600"/>
          </a:xfrm>
          <a:prstGeom prst="rect">
            <a:avLst/>
          </a:prstGeom>
        </p:spPr>
      </p:pic>
      <p:sp>
        <p:nvSpPr>
          <p:cNvPr id="13" name="Porté par"/>
          <p:cNvSpPr txBox="1"/>
          <p:nvPr/>
        </p:nvSpPr>
        <p:spPr>
          <a:xfrm>
            <a:off x="1016000" y="5727700"/>
            <a:ext cx="10160000" cy="381000"/>
          </a:xfrm>
          <a:prstGeom prst="rect">
            <a:avLst/>
          </a:prstGeom>
          <a:noFill/>
        </p:spPr>
        <p:txBody>
          <a:bodyPr wrap="square" lIns="0" tIns="0" rIns="0" bIns="0" anchor="ctr">
            <a:noAutofit/>
          </a:bodyPr>
          <a:lstStyle/>
          <a:p>
            <a:pPr algn="ctr">
              <a:lnSpc>
                <a:spcPct val="100000"/>
              </a:lnSpc>
              <a:spcBef>
                <a:spcPts val="0"/>
              </a:spcBef>
              <a:spcAft>
                <a:spcPts val="0"/>
              </a:spcAft>
            </a:pPr>
            <a:r>
              <a:rPr sz="2400" b="0" i="0" lang="fr-FR">
                <a:solidFill>
                  <a:srgbClr val="FAF8F3"/>
                </a:solidFill>
                <a:latin typeface="Calibri"/>
              </a:rPr>
              <a:t>Porté par les Députés de Kouroussa, en partenariat avec Visham SARL et l’APEDK</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iterate type="wd">
                                    <p:tmAbs val="280"/>
                                  </p:iterate>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540"/>
                            </p:stCondLst>
                            <p:childTnLst>
                              <p:par>
                                <p:cTn id="9" presetID="53" presetClass="entr" presetSubtype="16" fill="hold" grpId="0" nodeType="afterEffect">
                                  <p:stCondLst>
                                    <p:cond delay="300"/>
                                  </p:stCondLst>
                                  <p:childTnLst>
                                    <p:set>
                                      <p:cBhvr>
                                        <p:cTn id="10" dur="1" fill="hold">
                                          <p:stCondLst>
                                            <p:cond delay="0"/>
                                          </p:stCondLst>
                                        </p:cTn>
                                        <p:tgtEl>
                                          <p:spTgt spid="6"/>
                                        </p:tgtEl>
                                        <p:attrNameLst>
                                          <p:attrName>style.visibility</p:attrName>
                                        </p:attrNameLst>
                                      </p:cBhvr>
                                      <p:to>
                                        <p:strVal val="visible"/>
                                      </p:to>
                                    </p:set>
                                    <p:anim calcmode="lin" valueType="num">
                                      <p:cBhvr>
                                        <p:cTn id="11" dur="800" fill="hold"/>
                                        <p:tgtEl>
                                          <p:spTgt spid="6"/>
                                        </p:tgtEl>
                                        <p:attrNameLst>
                                          <p:attrName>ppt_w</p:attrName>
                                        </p:attrNameLst>
                                      </p:cBhvr>
                                      <p:tavLst>
                                        <p:tav tm="0">
                                          <p:val>
                                            <p:strVal val="#ppt_w*0.85"/>
                                          </p:val>
                                        </p:tav>
                                        <p:tav tm="100000">
                                          <p:val>
                                            <p:strVal val="#ppt_w"/>
                                          </p:val>
                                        </p:tav>
                                      </p:tavLst>
                                    </p:anim>
                                    <p:anim calcmode="lin" valueType="num">
                                      <p:cBhvr>
                                        <p:cTn id="12" dur="800" fill="hold"/>
                                        <p:tgtEl>
                                          <p:spTgt spid="6"/>
                                        </p:tgtEl>
                                        <p:attrNameLst>
                                          <p:attrName>ppt_h</p:attrName>
                                        </p:attrNameLst>
                                      </p:cBhvr>
                                      <p:tavLst>
                                        <p:tav tm="0">
                                          <p:val>
                                            <p:strVal val="#ppt_h*0.85"/>
                                          </p:val>
                                        </p:tav>
                                        <p:tav tm="100000">
                                          <p:val>
                                            <p:strVal val="#ppt_h"/>
                                          </p:val>
                                        </p:tav>
                                      </p:tavLst>
                                    </p:anim>
                                    <p:animEffect transition="in" filter="fade">
                                      <p:cBhvr>
                                        <p:cTn id="13" dur="800"/>
                                        <p:tgtEl>
                                          <p:spTgt spid="6"/>
                                        </p:tgtEl>
                                      </p:cBhvr>
                                    </p:animEffect>
                                  </p:childTnLst>
                                </p:cTn>
                              </p:par>
                            </p:childTnLst>
                          </p:cTn>
                        </p:par>
                        <p:par>
                          <p:cTn id="14" fill="hold">
                            <p:stCondLst>
                              <p:cond delay="6640"/>
                            </p:stCondLst>
                            <p:childTnLst>
                              <p:par>
                                <p:cTn id="15" presetID="10" presetClass="entr" presetSubtype="0"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700"/>
                                        <p:tgtEl>
                                          <p:spTgt spid="7"/>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700"/>
                                        <p:tgtEl>
                                          <p:spTgt spid="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70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7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700"/>
                                        <p:tgtEl>
                                          <p:spTgt spid="11"/>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fade">
                                      <p:cBhvr>
                                        <p:cTn id="32" dur="700"/>
                                        <p:tgtEl>
                                          <p:spTgt spid="12"/>
                                        </p:tgtEl>
                                      </p:cBhvr>
                                    </p:animEffect>
                                  </p:childTnLst>
                                </p:cTn>
                              </p:par>
                            </p:childTnLst>
                          </p:cTn>
                        </p:par>
                        <p:par>
                          <p:cTn id="33" fill="hold">
                            <p:stCondLst>
                              <p:cond delay="7340"/>
                            </p:stCondLst>
                            <p:childTnLst>
                              <p:par>
                                <p:cTn id="34" presetID="10" presetClass="entr" presetSubtype="0" fill="hold" grpId="0" nodeType="after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6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P spid="13" grpId="0"/>
    </p:bldLst>
  </p:timing>
</p:sld>
</file>

<file path=ppt/theme/theme1.xml><?xml version="1.0" encoding="utf-8"?>
<a:theme xmlns:a="http://schemas.openxmlformats.org/drawingml/2006/main" name="Office Theme">
  <a:themeElements>
    <a:clrScheme name="FUTURA-Kouroussa">
      <a:dk1>
        <a:srgbClr val="1B2A41"/>
      </a:dk1>
      <a:lt1>
        <a:srgbClr val="FFFFFF"/>
      </a:lt1>
      <a:dk2>
        <a:srgbClr val="12264A"/>
      </a:dk2>
      <a:lt2>
        <a:srgbClr val="FAF8F3"/>
      </a:lt2>
      <a:accent1>
        <a:srgbClr val="1E7B67"/>
      </a:accent1>
      <a:accent2>
        <a:srgbClr val="D3A04D"/>
      </a:accent2>
      <a:accent3>
        <a:srgbClr val="A9553E"/>
      </a:accent3>
      <a:accent4>
        <a:srgbClr val="3A7CA5"/>
      </a:accent4>
      <a:accent5>
        <a:srgbClr val="86A05A"/>
      </a:accent5>
      <a:accent6>
        <a:srgbClr val="7A5C9E"/>
      </a:accent6>
      <a:hlink>
        <a:srgbClr val="3A7CA5"/>
      </a:hlink>
      <a:folHlink>
        <a:srgbClr val="7A5C9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FUTURA-Kouroussa">
      <a:dk1>
        <a:srgbClr val="1B2A41"/>
      </a:dk1>
      <a:lt1>
        <a:srgbClr val="FFFFFF"/>
      </a:lt1>
      <a:dk2>
        <a:srgbClr val="12264A"/>
      </a:dk2>
      <a:lt2>
        <a:srgbClr val="FAF8F3"/>
      </a:lt2>
      <a:accent1>
        <a:srgbClr val="1E7B67"/>
      </a:accent1>
      <a:accent2>
        <a:srgbClr val="D3A04D"/>
      </a:accent2>
      <a:accent3>
        <a:srgbClr val="A9553E"/>
      </a:accent3>
      <a:accent4>
        <a:srgbClr val="3A7CA5"/>
      </a:accent4>
      <a:accent5>
        <a:srgbClr val="86A05A"/>
      </a:accent5>
      <a:accent6>
        <a:srgbClr val="7A5C9E"/>
      </a:accent6>
      <a:hlink>
        <a:srgbClr val="3A7CA5"/>
      </a:hlink>
      <a:folHlink>
        <a:srgbClr val="7A5C9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FUTURA-Kouroussa, synthèse stratégique</dc:title>
  <dc:subject>Présentation au Maire et au Préfet de Kouroussa, octobre 2026</dc:subject>
  <dc:creator>FUTURA-Kouroussa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fr-FR</dc:language>
</cp:coreProperties>
</file>